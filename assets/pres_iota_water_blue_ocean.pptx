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y Grotesk V3 Key Bold" charset="1" panose="00000800000000000000"/>
      <p:regular r:id="rId22"/>
    </p:embeddedFont>
    <p:embeddedFont>
      <p:font typeface="Cy Grotesk V3 Key" charset="1" panose="00000500000000000000"/>
      <p:regular r:id="rId23"/>
    </p:embeddedFont>
    <p:embeddedFont>
      <p:font typeface="Nunito Bold" charset="1" panose="00000000000000000000"/>
      <p:regular r:id="rId24"/>
    </p:embeddedFont>
    <p:embeddedFont>
      <p:font typeface="Nunito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g" Type="http://schemas.openxmlformats.org/officeDocument/2006/relationships/image"/><Relationship Id="rId3" Target="../media/image8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9.png" Type="http://schemas.openxmlformats.org/officeDocument/2006/relationships/image"/><Relationship Id="rId6" Target="../embeddings/oleObject2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0.png" Type="http://schemas.openxmlformats.org/officeDocument/2006/relationships/image"/><Relationship Id="rId6" Target="../embeddings/oleObject3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jp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191B3">
                <a:alpha val="100000"/>
              </a:srgbClr>
            </a:gs>
            <a:gs pos="100000">
              <a:srgbClr val="2F637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10837" y="4301180"/>
            <a:ext cx="8387105" cy="838710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10837" y="7520189"/>
            <a:ext cx="6305871" cy="1949087"/>
          </a:xfrm>
          <a:custGeom>
            <a:avLst/>
            <a:gdLst/>
            <a:ahLst/>
            <a:cxnLst/>
            <a:rect r="r" b="b" t="t" l="l"/>
            <a:pathLst>
              <a:path h="1949087" w="6305871">
                <a:moveTo>
                  <a:pt x="0" y="0"/>
                </a:moveTo>
                <a:lnTo>
                  <a:pt x="6305871" y="0"/>
                </a:lnTo>
                <a:lnTo>
                  <a:pt x="6305871" y="1949087"/>
                </a:lnTo>
                <a:lnTo>
                  <a:pt x="0" y="1949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81542" y="1764434"/>
            <a:ext cx="5769755" cy="6758131"/>
          </a:xfrm>
          <a:custGeom>
            <a:avLst/>
            <a:gdLst/>
            <a:ahLst/>
            <a:cxnLst/>
            <a:rect r="r" b="b" t="t" l="l"/>
            <a:pathLst>
              <a:path h="6758131" w="5769755">
                <a:moveTo>
                  <a:pt x="0" y="0"/>
                </a:moveTo>
                <a:lnTo>
                  <a:pt x="5769755" y="0"/>
                </a:lnTo>
                <a:lnTo>
                  <a:pt x="5769755" y="6758132"/>
                </a:lnTo>
                <a:lnTo>
                  <a:pt x="0" y="67581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932195"/>
            <a:ext cx="10603227" cy="2039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8"/>
              </a:lnSpc>
            </a:pPr>
            <a:r>
              <a:rPr lang="en-US" sz="9021" b="true">
                <a:solidFill>
                  <a:srgbClr val="FFF5F5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BLUE OCEAN STRATEGY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186404"/>
            <a:ext cx="5440905" cy="39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2307">
                <a:solidFill>
                  <a:srgbClr val="FFF5F5"/>
                </a:solidFill>
                <a:latin typeface="Cy Grotesk V3 Key"/>
                <a:ea typeface="Cy Grotesk V3 Key"/>
                <a:cs typeface="Cy Grotesk V3 Key"/>
                <a:sym typeface="Cy Grotesk V3 Key"/>
              </a:rPr>
              <a:t>Submit to - Dr. Umesh Kothari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809420"/>
            <a:ext cx="3005252" cy="33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007" b="true">
                <a:solidFill>
                  <a:srgbClr val="FFF5F5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GMUSKAN GUPTA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765593"/>
            <a:ext cx="8115300" cy="1067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8"/>
              </a:lnSpc>
            </a:pPr>
            <a:r>
              <a:rPr lang="en-US" sz="9021" b="true">
                <a:solidFill>
                  <a:srgbClr val="C8EBFF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IOTA WATER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91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35464" y="2480369"/>
            <a:ext cx="1264320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5"/>
              </a:lnSpc>
            </a:pPr>
            <a:r>
              <a:rPr lang="en-US" sz="7500" b="true">
                <a:solidFill>
                  <a:srgbClr val="5191B3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53231" y="3999305"/>
            <a:ext cx="11781539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5191B3"/>
                </a:solidFill>
                <a:latin typeface="Nunito Bold"/>
                <a:ea typeface="Nunito Bold"/>
                <a:cs typeface="Nunito Bold"/>
                <a:sym typeface="Nunito Bold"/>
              </a:rPr>
              <a:t>Strategic Shift</a:t>
            </a:r>
            <a:r>
              <a:rPr lang="en-US" sz="2499">
                <a:solidFill>
                  <a:srgbClr val="5191B3"/>
                </a:solidFill>
                <a:latin typeface="Nunito"/>
                <a:ea typeface="Nunito"/>
                <a:cs typeface="Nunito"/>
                <a:sym typeface="Nunito"/>
              </a:rPr>
              <a:t>: Moves the UAE water </a:t>
            </a:r>
            <a:r>
              <a:rPr lang="en-US" sz="2499">
                <a:solidFill>
                  <a:srgbClr val="5191B3"/>
                </a:solidFill>
                <a:latin typeface="Nunito"/>
                <a:ea typeface="Nunito"/>
                <a:cs typeface="Nunito"/>
                <a:sym typeface="Nunito"/>
              </a:rPr>
              <a:t>sector entry-level filtration to a new "Functionalized Water Infrastructure" category.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5191B3"/>
                </a:solidFill>
                <a:latin typeface="Nunito Bold"/>
                <a:ea typeface="Nunito Bold"/>
                <a:cs typeface="Nunito Bold"/>
                <a:sym typeface="Nunito Bold"/>
              </a:rPr>
              <a:t>Technological Edge</a:t>
            </a:r>
            <a:r>
              <a:rPr lang="en-US" sz="2499">
                <a:solidFill>
                  <a:srgbClr val="5191B3"/>
                </a:solidFill>
                <a:latin typeface="Nunito"/>
                <a:ea typeface="Nunito"/>
                <a:cs typeface="Nunito"/>
                <a:sym typeface="Nunito"/>
              </a:rPr>
              <a:t>: Utilizes the NICO Nanobubble platform to maximize dissolved oxygen and enable cost-efficient, on-site oxygen generation without heavy chemical reliance.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5191B3"/>
                </a:solidFill>
                <a:latin typeface="Nunito Bold"/>
                <a:ea typeface="Nunito Bold"/>
                <a:cs typeface="Nunito Bold"/>
                <a:sym typeface="Nunito Bold"/>
              </a:rPr>
              <a:t>B2B Market Focus</a:t>
            </a:r>
            <a:r>
              <a:rPr lang="en-US" sz="2499">
                <a:solidFill>
                  <a:srgbClr val="5191B3"/>
                </a:solidFill>
                <a:latin typeface="Nunito"/>
                <a:ea typeface="Nunito"/>
                <a:cs typeface="Nunito"/>
                <a:sym typeface="Nunito"/>
              </a:rPr>
              <a:t>: Targets decentralized industries like healthcare and education, providing high-quality, specialized water that integrates directly into existing facility infrastructure.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478664" y="6291538"/>
            <a:ext cx="3279580" cy="4348615"/>
          </a:xfrm>
          <a:custGeom>
            <a:avLst/>
            <a:gdLst/>
            <a:ahLst/>
            <a:cxnLst/>
            <a:rect r="r" b="b" t="t" l="l"/>
            <a:pathLst>
              <a:path h="4348615" w="3279580">
                <a:moveTo>
                  <a:pt x="0" y="0"/>
                </a:moveTo>
                <a:lnTo>
                  <a:pt x="3279580" y="0"/>
                </a:lnTo>
                <a:lnTo>
                  <a:pt x="3279580" y="4348614"/>
                </a:lnTo>
                <a:lnTo>
                  <a:pt x="0" y="434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0"/>
            <a:ext cx="3179938" cy="2675045"/>
          </a:xfrm>
          <a:custGeom>
            <a:avLst/>
            <a:gdLst/>
            <a:ahLst/>
            <a:cxnLst/>
            <a:rect r="r" b="b" t="t" l="l"/>
            <a:pathLst>
              <a:path h="2675045" w="3179938">
                <a:moveTo>
                  <a:pt x="0" y="0"/>
                </a:moveTo>
                <a:lnTo>
                  <a:pt x="3179938" y="0"/>
                </a:lnTo>
                <a:lnTo>
                  <a:pt x="3179938" y="2675045"/>
                </a:lnTo>
                <a:lnTo>
                  <a:pt x="0" y="2675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91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1591" y="422520"/>
            <a:ext cx="17204817" cy="9441959"/>
            <a:chOff x="0" y="0"/>
            <a:chExt cx="4531310" cy="24867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1310" cy="2486771"/>
            </a:xfrm>
            <a:custGeom>
              <a:avLst/>
              <a:gdLst/>
              <a:ahLst/>
              <a:cxnLst/>
              <a:rect r="r" b="b" t="t" l="l"/>
              <a:pathLst>
                <a:path h="2486771" w="4531310">
                  <a:moveTo>
                    <a:pt x="22949" y="0"/>
                  </a:moveTo>
                  <a:lnTo>
                    <a:pt x="4508360" y="0"/>
                  </a:lnTo>
                  <a:cubicBezTo>
                    <a:pt x="4514447" y="0"/>
                    <a:pt x="4520284" y="2418"/>
                    <a:pt x="4524588" y="6722"/>
                  </a:cubicBezTo>
                  <a:cubicBezTo>
                    <a:pt x="4528892" y="11026"/>
                    <a:pt x="4531310" y="16863"/>
                    <a:pt x="4531310" y="22949"/>
                  </a:cubicBezTo>
                  <a:lnTo>
                    <a:pt x="4531310" y="2463822"/>
                  </a:lnTo>
                  <a:cubicBezTo>
                    <a:pt x="4531310" y="2476497"/>
                    <a:pt x="4521035" y="2486771"/>
                    <a:pt x="4508360" y="2486771"/>
                  </a:cubicBezTo>
                  <a:lnTo>
                    <a:pt x="22949" y="2486771"/>
                  </a:lnTo>
                  <a:cubicBezTo>
                    <a:pt x="10275" y="2486771"/>
                    <a:pt x="0" y="2476497"/>
                    <a:pt x="0" y="2463822"/>
                  </a:cubicBezTo>
                  <a:lnTo>
                    <a:pt x="0" y="22949"/>
                  </a:lnTo>
                  <a:cubicBezTo>
                    <a:pt x="0" y="10275"/>
                    <a:pt x="10275" y="0"/>
                    <a:pt x="229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1310" cy="2524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03023" y="1720115"/>
            <a:ext cx="11193573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5"/>
              </a:lnSpc>
            </a:pPr>
            <a:r>
              <a:rPr lang="en-US" sz="7500" b="true">
                <a:solidFill>
                  <a:srgbClr val="5191B3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Problem Addressed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80018" y="3563307"/>
            <a:ext cx="9239584" cy="46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5191B3"/>
                </a:solidFill>
                <a:latin typeface="Nunito Bold"/>
                <a:ea typeface="Nunito Bold"/>
                <a:cs typeface="Nunito Bold"/>
                <a:sym typeface="Nunito Bold"/>
              </a:rPr>
              <a:t>Infrastructure Gaps</a:t>
            </a:r>
            <a:r>
              <a:rPr lang="en-US" sz="2900">
                <a:solidFill>
                  <a:srgbClr val="5191B3"/>
                </a:solidFill>
                <a:latin typeface="Nunito"/>
                <a:ea typeface="Nunito"/>
                <a:cs typeface="Nunito"/>
                <a:sym typeface="Nunito"/>
              </a:rPr>
              <a:t>: Addressing the need for high-quality water</a:t>
            </a:r>
            <a:r>
              <a:rPr lang="en-US" sz="2900">
                <a:solidFill>
                  <a:srgbClr val="5191B3"/>
                </a:solidFill>
                <a:latin typeface="Nunito"/>
                <a:ea typeface="Nunito"/>
                <a:cs typeface="Nunito"/>
                <a:sym typeface="Nunito"/>
              </a:rPr>
              <a:t> in decentralized locations.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5191B3"/>
                </a:solidFill>
                <a:latin typeface="Nunito Bold"/>
                <a:ea typeface="Nunito Bold"/>
                <a:cs typeface="Nunito Bold"/>
                <a:sym typeface="Nunito Bold"/>
              </a:rPr>
              <a:t>System Reliance</a:t>
            </a:r>
            <a:r>
              <a:rPr lang="en-US" sz="2900">
                <a:solidFill>
                  <a:srgbClr val="5191B3"/>
                </a:solidFill>
                <a:latin typeface="Nunito"/>
                <a:ea typeface="Nunito"/>
                <a:cs typeface="Nunito"/>
                <a:sym typeface="Nunito"/>
              </a:rPr>
              <a:t>: Leveraging the widespread adoption of Reverse Osmosis (RO) systems in UAE institutions.</a:t>
            </a:r>
          </a:p>
          <a:p>
            <a:pPr algn="just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5191B3"/>
                </a:solidFill>
                <a:latin typeface="Nunito Bold"/>
                <a:ea typeface="Nunito Bold"/>
                <a:cs typeface="Nunito Bold"/>
                <a:sym typeface="Nunito Bold"/>
              </a:rPr>
              <a:t>Market Shift</a:t>
            </a:r>
            <a:r>
              <a:rPr lang="en-US" sz="2900">
                <a:solidFill>
                  <a:srgbClr val="5191B3"/>
                </a:solidFill>
                <a:latin typeface="Nunito"/>
                <a:ea typeface="Nunito"/>
                <a:cs typeface="Nunito"/>
                <a:sym typeface="Nunito"/>
              </a:rPr>
              <a:t>: Moving beyond basic filtration to meet the demands of health-conscious consumer segments.</a:t>
            </a:r>
          </a:p>
          <a:p>
            <a:pPr algn="just">
              <a:lnSpc>
                <a:spcPts val="406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86777" y="2806222"/>
            <a:ext cx="5769755" cy="6758131"/>
          </a:xfrm>
          <a:custGeom>
            <a:avLst/>
            <a:gdLst/>
            <a:ahLst/>
            <a:cxnLst/>
            <a:rect r="r" b="b" t="t" l="l"/>
            <a:pathLst>
              <a:path h="6758131" w="5769755">
                <a:moveTo>
                  <a:pt x="0" y="0"/>
                </a:moveTo>
                <a:lnTo>
                  <a:pt x="5769755" y="0"/>
                </a:lnTo>
                <a:lnTo>
                  <a:pt x="5769755" y="6758132"/>
                </a:lnTo>
                <a:lnTo>
                  <a:pt x="0" y="67581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91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1591" y="422520"/>
            <a:ext cx="17204817" cy="9441959"/>
            <a:chOff x="0" y="0"/>
            <a:chExt cx="4531310" cy="24867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1310" cy="2486771"/>
            </a:xfrm>
            <a:custGeom>
              <a:avLst/>
              <a:gdLst/>
              <a:ahLst/>
              <a:cxnLst/>
              <a:rect r="r" b="b" t="t" l="l"/>
              <a:pathLst>
                <a:path h="2486771" w="4531310">
                  <a:moveTo>
                    <a:pt x="22949" y="0"/>
                  </a:moveTo>
                  <a:lnTo>
                    <a:pt x="4508360" y="0"/>
                  </a:lnTo>
                  <a:cubicBezTo>
                    <a:pt x="4514447" y="0"/>
                    <a:pt x="4520284" y="2418"/>
                    <a:pt x="4524588" y="6722"/>
                  </a:cubicBezTo>
                  <a:cubicBezTo>
                    <a:pt x="4528892" y="11026"/>
                    <a:pt x="4531310" y="16863"/>
                    <a:pt x="4531310" y="22949"/>
                  </a:cubicBezTo>
                  <a:lnTo>
                    <a:pt x="4531310" y="2463822"/>
                  </a:lnTo>
                  <a:cubicBezTo>
                    <a:pt x="4531310" y="2476497"/>
                    <a:pt x="4521035" y="2486771"/>
                    <a:pt x="4508360" y="2486771"/>
                  </a:cubicBezTo>
                  <a:lnTo>
                    <a:pt x="22949" y="2486771"/>
                  </a:lnTo>
                  <a:cubicBezTo>
                    <a:pt x="10275" y="2486771"/>
                    <a:pt x="0" y="2476497"/>
                    <a:pt x="0" y="2463822"/>
                  </a:cubicBezTo>
                  <a:lnTo>
                    <a:pt x="0" y="22949"/>
                  </a:lnTo>
                  <a:cubicBezTo>
                    <a:pt x="0" y="10275"/>
                    <a:pt x="10275" y="0"/>
                    <a:pt x="229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1310" cy="2524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8471" y="4701157"/>
            <a:ext cx="482644" cy="4826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91B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66342" y="2617517"/>
            <a:ext cx="12156218" cy="1666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6"/>
              </a:lnSpc>
            </a:pPr>
            <a:r>
              <a:rPr lang="en-US" sz="6376" b="true">
                <a:solidFill>
                  <a:srgbClr val="5191B3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Market Analysis</a:t>
            </a:r>
          </a:p>
          <a:p>
            <a:pPr algn="l">
              <a:lnSpc>
                <a:spcPts val="6376"/>
              </a:lnSpc>
            </a:pPr>
            <a:r>
              <a:rPr lang="en-US" sz="6376" b="true">
                <a:solidFill>
                  <a:srgbClr val="5191B3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17420" y="4805932"/>
            <a:ext cx="5245907" cy="35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3"/>
              </a:lnSpc>
            </a:pPr>
            <a:r>
              <a:rPr lang="en-US" sz="3028" b="true">
                <a:solidFill>
                  <a:srgbClr val="5191B3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PESTLE ANALYSIS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293468" y="1285042"/>
            <a:ext cx="5780612" cy="7973258"/>
          </a:xfrm>
          <a:custGeom>
            <a:avLst/>
            <a:gdLst/>
            <a:ahLst/>
            <a:cxnLst/>
            <a:rect r="r" b="b" t="t" l="l"/>
            <a:pathLst>
              <a:path h="7973258" w="5780612">
                <a:moveTo>
                  <a:pt x="0" y="0"/>
                </a:moveTo>
                <a:lnTo>
                  <a:pt x="5780612" y="0"/>
                </a:lnTo>
                <a:lnTo>
                  <a:pt x="5780612" y="7973258"/>
                </a:lnTo>
                <a:lnTo>
                  <a:pt x="0" y="7973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98471" y="5600539"/>
            <a:ext cx="482644" cy="48264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91B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417420" y="5705314"/>
            <a:ext cx="4461934" cy="35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3"/>
              </a:lnSpc>
            </a:pPr>
            <a:r>
              <a:rPr lang="en-US" sz="3028" b="true">
                <a:solidFill>
                  <a:srgbClr val="5191B3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SWOT ANALYSIS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91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1591" y="422520"/>
            <a:ext cx="17204817" cy="9441959"/>
            <a:chOff x="0" y="0"/>
            <a:chExt cx="4531310" cy="24867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1310" cy="2486771"/>
            </a:xfrm>
            <a:custGeom>
              <a:avLst/>
              <a:gdLst/>
              <a:ahLst/>
              <a:cxnLst/>
              <a:rect r="r" b="b" t="t" l="l"/>
              <a:pathLst>
                <a:path h="2486771" w="4531310">
                  <a:moveTo>
                    <a:pt x="22949" y="0"/>
                  </a:moveTo>
                  <a:lnTo>
                    <a:pt x="4508360" y="0"/>
                  </a:lnTo>
                  <a:cubicBezTo>
                    <a:pt x="4514447" y="0"/>
                    <a:pt x="4520284" y="2418"/>
                    <a:pt x="4524588" y="6722"/>
                  </a:cubicBezTo>
                  <a:cubicBezTo>
                    <a:pt x="4528892" y="11026"/>
                    <a:pt x="4531310" y="16863"/>
                    <a:pt x="4531310" y="22949"/>
                  </a:cubicBezTo>
                  <a:lnTo>
                    <a:pt x="4531310" y="2463822"/>
                  </a:lnTo>
                  <a:cubicBezTo>
                    <a:pt x="4531310" y="2476497"/>
                    <a:pt x="4521035" y="2486771"/>
                    <a:pt x="4508360" y="2486771"/>
                  </a:cubicBezTo>
                  <a:lnTo>
                    <a:pt x="22949" y="2486771"/>
                  </a:lnTo>
                  <a:cubicBezTo>
                    <a:pt x="10275" y="2486771"/>
                    <a:pt x="0" y="2476497"/>
                    <a:pt x="0" y="2463822"/>
                  </a:cubicBezTo>
                  <a:lnTo>
                    <a:pt x="0" y="22949"/>
                  </a:lnTo>
                  <a:cubicBezTo>
                    <a:pt x="0" y="10275"/>
                    <a:pt x="10275" y="0"/>
                    <a:pt x="229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1310" cy="2524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766041" y="7449209"/>
            <a:ext cx="2712394" cy="2681879"/>
          </a:xfrm>
          <a:custGeom>
            <a:avLst/>
            <a:gdLst/>
            <a:ahLst/>
            <a:cxnLst/>
            <a:rect r="r" b="b" t="t" l="l"/>
            <a:pathLst>
              <a:path h="2681879" w="2712394">
                <a:moveTo>
                  <a:pt x="0" y="0"/>
                </a:moveTo>
                <a:lnTo>
                  <a:pt x="2712394" y="0"/>
                </a:lnTo>
                <a:lnTo>
                  <a:pt x="2712394" y="2681880"/>
                </a:lnTo>
                <a:lnTo>
                  <a:pt x="0" y="2681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1352439" y="1940416"/>
          <a:ext cx="5657850" cy="1257300"/>
        </p:xfrm>
        <a:graphic>
          <a:graphicData uri="http://schemas.openxmlformats.org/presentationml/2006/ole">
            <p:oleObj imgW="6781800" imgH="23876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3339483" y="883578"/>
            <a:ext cx="10923469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5"/>
              </a:lnSpc>
            </a:pPr>
            <a:r>
              <a:rPr lang="en-US" sz="7500" b="true">
                <a:solidFill>
                  <a:srgbClr val="5191B3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PESTLE Analysis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91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1591" y="422520"/>
            <a:ext cx="17204817" cy="9441959"/>
            <a:chOff x="0" y="0"/>
            <a:chExt cx="4531310" cy="24867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1310" cy="2486771"/>
            </a:xfrm>
            <a:custGeom>
              <a:avLst/>
              <a:gdLst/>
              <a:ahLst/>
              <a:cxnLst/>
              <a:rect r="r" b="b" t="t" l="l"/>
              <a:pathLst>
                <a:path h="2486771" w="4531310">
                  <a:moveTo>
                    <a:pt x="22949" y="0"/>
                  </a:moveTo>
                  <a:lnTo>
                    <a:pt x="4508360" y="0"/>
                  </a:lnTo>
                  <a:cubicBezTo>
                    <a:pt x="4514447" y="0"/>
                    <a:pt x="4520284" y="2418"/>
                    <a:pt x="4524588" y="6722"/>
                  </a:cubicBezTo>
                  <a:cubicBezTo>
                    <a:pt x="4528892" y="11026"/>
                    <a:pt x="4531310" y="16863"/>
                    <a:pt x="4531310" y="22949"/>
                  </a:cubicBezTo>
                  <a:lnTo>
                    <a:pt x="4531310" y="2463822"/>
                  </a:lnTo>
                  <a:cubicBezTo>
                    <a:pt x="4531310" y="2476497"/>
                    <a:pt x="4521035" y="2486771"/>
                    <a:pt x="4508360" y="2486771"/>
                  </a:cubicBezTo>
                  <a:lnTo>
                    <a:pt x="22949" y="2486771"/>
                  </a:lnTo>
                  <a:cubicBezTo>
                    <a:pt x="10275" y="2486771"/>
                    <a:pt x="0" y="2476497"/>
                    <a:pt x="0" y="2463822"/>
                  </a:cubicBezTo>
                  <a:lnTo>
                    <a:pt x="0" y="22949"/>
                  </a:lnTo>
                  <a:cubicBezTo>
                    <a:pt x="0" y="10275"/>
                    <a:pt x="10275" y="0"/>
                    <a:pt x="229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1310" cy="2524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46842" y="7334998"/>
            <a:ext cx="2424915" cy="3215357"/>
          </a:xfrm>
          <a:custGeom>
            <a:avLst/>
            <a:gdLst/>
            <a:ahLst/>
            <a:cxnLst/>
            <a:rect r="r" b="b" t="t" l="l"/>
            <a:pathLst>
              <a:path h="3215357" w="2424915">
                <a:moveTo>
                  <a:pt x="0" y="0"/>
                </a:moveTo>
                <a:lnTo>
                  <a:pt x="2424916" y="0"/>
                </a:lnTo>
                <a:lnTo>
                  <a:pt x="2424916" y="3215357"/>
                </a:lnTo>
                <a:lnTo>
                  <a:pt x="0" y="3215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84646" y="0"/>
            <a:ext cx="1652474" cy="1390104"/>
          </a:xfrm>
          <a:custGeom>
            <a:avLst/>
            <a:gdLst/>
            <a:ahLst/>
            <a:cxnLst/>
            <a:rect r="r" b="b" t="t" l="l"/>
            <a:pathLst>
              <a:path h="1390104" w="1652474">
                <a:moveTo>
                  <a:pt x="0" y="0"/>
                </a:moveTo>
                <a:lnTo>
                  <a:pt x="1652474" y="0"/>
                </a:lnTo>
                <a:lnTo>
                  <a:pt x="1652474" y="1390104"/>
                </a:lnTo>
                <a:lnTo>
                  <a:pt x="0" y="1390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1759184" y="2527121"/>
          <a:ext cx="16230600" cy="5663930"/>
        </p:xfrm>
        <a:graphic>
          <a:graphicData uri="http://schemas.openxmlformats.org/presentationml/2006/ole">
            <p:oleObj imgW="19469100" imgH="89027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3527587" y="1425461"/>
            <a:ext cx="11232825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5"/>
              </a:lnSpc>
            </a:pPr>
            <a:r>
              <a:rPr lang="en-US" sz="7500" b="true">
                <a:solidFill>
                  <a:srgbClr val="5191B3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SWOT Analysis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91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1591" y="422520"/>
            <a:ext cx="17204817" cy="9441959"/>
            <a:chOff x="0" y="0"/>
            <a:chExt cx="4531310" cy="24867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1310" cy="2486771"/>
            </a:xfrm>
            <a:custGeom>
              <a:avLst/>
              <a:gdLst/>
              <a:ahLst/>
              <a:cxnLst/>
              <a:rect r="r" b="b" t="t" l="l"/>
              <a:pathLst>
                <a:path h="2486771" w="4531310">
                  <a:moveTo>
                    <a:pt x="22949" y="0"/>
                  </a:moveTo>
                  <a:lnTo>
                    <a:pt x="4508360" y="0"/>
                  </a:lnTo>
                  <a:cubicBezTo>
                    <a:pt x="4514447" y="0"/>
                    <a:pt x="4520284" y="2418"/>
                    <a:pt x="4524588" y="6722"/>
                  </a:cubicBezTo>
                  <a:cubicBezTo>
                    <a:pt x="4528892" y="11026"/>
                    <a:pt x="4531310" y="16863"/>
                    <a:pt x="4531310" y="22949"/>
                  </a:cubicBezTo>
                  <a:lnTo>
                    <a:pt x="4531310" y="2463822"/>
                  </a:lnTo>
                  <a:cubicBezTo>
                    <a:pt x="4531310" y="2476497"/>
                    <a:pt x="4521035" y="2486771"/>
                    <a:pt x="4508360" y="2486771"/>
                  </a:cubicBezTo>
                  <a:lnTo>
                    <a:pt x="22949" y="2486771"/>
                  </a:lnTo>
                  <a:cubicBezTo>
                    <a:pt x="10275" y="2486771"/>
                    <a:pt x="0" y="2476497"/>
                    <a:pt x="0" y="2463822"/>
                  </a:cubicBezTo>
                  <a:lnTo>
                    <a:pt x="0" y="22949"/>
                  </a:lnTo>
                  <a:cubicBezTo>
                    <a:pt x="0" y="10275"/>
                    <a:pt x="10275" y="0"/>
                    <a:pt x="229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1310" cy="2524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46842" y="7071643"/>
            <a:ext cx="2424915" cy="3215357"/>
          </a:xfrm>
          <a:custGeom>
            <a:avLst/>
            <a:gdLst/>
            <a:ahLst/>
            <a:cxnLst/>
            <a:rect r="r" b="b" t="t" l="l"/>
            <a:pathLst>
              <a:path h="3215357" w="2424915">
                <a:moveTo>
                  <a:pt x="0" y="0"/>
                </a:moveTo>
                <a:lnTo>
                  <a:pt x="2424916" y="0"/>
                </a:lnTo>
                <a:lnTo>
                  <a:pt x="2424916" y="3215357"/>
                </a:lnTo>
                <a:lnTo>
                  <a:pt x="0" y="3215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2463" y="190435"/>
            <a:ext cx="1652474" cy="1390104"/>
          </a:xfrm>
          <a:custGeom>
            <a:avLst/>
            <a:gdLst/>
            <a:ahLst/>
            <a:cxnLst/>
            <a:rect r="r" b="b" t="t" l="l"/>
            <a:pathLst>
              <a:path h="1390104" w="1652474">
                <a:moveTo>
                  <a:pt x="0" y="0"/>
                </a:moveTo>
                <a:lnTo>
                  <a:pt x="1652474" y="0"/>
                </a:lnTo>
                <a:lnTo>
                  <a:pt x="1652474" y="1390104"/>
                </a:lnTo>
                <a:lnTo>
                  <a:pt x="0" y="1390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74266" y="1445719"/>
            <a:ext cx="11232825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5"/>
              </a:lnSpc>
            </a:pPr>
            <a:r>
              <a:rPr lang="en-US" sz="7500" b="true">
                <a:solidFill>
                  <a:srgbClr val="5191B3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SWOT Analysis</a:t>
            </a:r>
          </a:p>
        </p:txBody>
      </p:sp>
      <p:graphicFrame>
        <p:nvGraphicFramePr>
          <p:cNvPr name="Object 8" id="8"/>
          <p:cNvGraphicFramePr/>
          <p:nvPr/>
        </p:nvGraphicFramePr>
        <p:xfrm>
          <a:off x="2025129" y="2573738"/>
          <a:ext cx="11315700" cy="2514600"/>
        </p:xfrm>
        <a:graphic>
          <a:graphicData uri="http://schemas.openxmlformats.org/presentationml/2006/ole">
            <p:oleObj imgW="13576300" imgH="4775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91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1591" y="422520"/>
            <a:ext cx="17204817" cy="9441959"/>
            <a:chOff x="0" y="0"/>
            <a:chExt cx="4531310" cy="24867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1310" cy="2486771"/>
            </a:xfrm>
            <a:custGeom>
              <a:avLst/>
              <a:gdLst/>
              <a:ahLst/>
              <a:cxnLst/>
              <a:rect r="r" b="b" t="t" l="l"/>
              <a:pathLst>
                <a:path h="2486771" w="4531310">
                  <a:moveTo>
                    <a:pt x="22949" y="0"/>
                  </a:moveTo>
                  <a:lnTo>
                    <a:pt x="4508360" y="0"/>
                  </a:lnTo>
                  <a:cubicBezTo>
                    <a:pt x="4514447" y="0"/>
                    <a:pt x="4520284" y="2418"/>
                    <a:pt x="4524588" y="6722"/>
                  </a:cubicBezTo>
                  <a:cubicBezTo>
                    <a:pt x="4528892" y="11026"/>
                    <a:pt x="4531310" y="16863"/>
                    <a:pt x="4531310" y="22949"/>
                  </a:cubicBezTo>
                  <a:lnTo>
                    <a:pt x="4531310" y="2463822"/>
                  </a:lnTo>
                  <a:cubicBezTo>
                    <a:pt x="4531310" y="2476497"/>
                    <a:pt x="4521035" y="2486771"/>
                    <a:pt x="4508360" y="2486771"/>
                  </a:cubicBezTo>
                  <a:lnTo>
                    <a:pt x="22949" y="2486771"/>
                  </a:lnTo>
                  <a:cubicBezTo>
                    <a:pt x="10275" y="2486771"/>
                    <a:pt x="0" y="2476497"/>
                    <a:pt x="0" y="2463822"/>
                  </a:cubicBezTo>
                  <a:lnTo>
                    <a:pt x="0" y="22949"/>
                  </a:lnTo>
                  <a:cubicBezTo>
                    <a:pt x="0" y="10275"/>
                    <a:pt x="10275" y="0"/>
                    <a:pt x="229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1310" cy="2524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87413"/>
            <a:ext cx="2237894" cy="1882574"/>
          </a:xfrm>
          <a:custGeom>
            <a:avLst/>
            <a:gdLst/>
            <a:ahLst/>
            <a:cxnLst/>
            <a:rect r="r" b="b" t="t" l="l"/>
            <a:pathLst>
              <a:path h="1882574" w="2237894">
                <a:moveTo>
                  <a:pt x="0" y="0"/>
                </a:moveTo>
                <a:lnTo>
                  <a:pt x="2237894" y="0"/>
                </a:lnTo>
                <a:lnTo>
                  <a:pt x="2237894" y="1882574"/>
                </a:lnTo>
                <a:lnTo>
                  <a:pt x="0" y="1882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57153" y="2661891"/>
            <a:ext cx="12373693" cy="6596409"/>
          </a:xfrm>
          <a:custGeom>
            <a:avLst/>
            <a:gdLst/>
            <a:ahLst/>
            <a:cxnLst/>
            <a:rect r="r" b="b" t="t" l="l"/>
            <a:pathLst>
              <a:path h="6596409" w="12373693">
                <a:moveTo>
                  <a:pt x="0" y="0"/>
                </a:moveTo>
                <a:lnTo>
                  <a:pt x="12373694" y="0"/>
                </a:lnTo>
                <a:lnTo>
                  <a:pt x="12373694" y="6596409"/>
                </a:lnTo>
                <a:lnTo>
                  <a:pt x="0" y="65964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052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13690" y="1421195"/>
            <a:ext cx="15745610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5"/>
              </a:lnSpc>
            </a:pPr>
            <a:r>
              <a:rPr lang="en-US" sz="7500" b="true">
                <a:solidFill>
                  <a:srgbClr val="5191B3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Blue Ocean Strategy Concept</a:t>
            </a:r>
          </a:p>
          <a:p>
            <a:pPr algn="ctr">
              <a:lnSpc>
                <a:spcPts val="6375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91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3605" y="118998"/>
            <a:ext cx="16894530" cy="10049003"/>
          </a:xfrm>
          <a:custGeom>
            <a:avLst/>
            <a:gdLst/>
            <a:ahLst/>
            <a:cxnLst/>
            <a:rect r="r" b="b" t="t" l="l"/>
            <a:pathLst>
              <a:path h="10049003" w="16894530">
                <a:moveTo>
                  <a:pt x="0" y="0"/>
                </a:moveTo>
                <a:lnTo>
                  <a:pt x="16894530" y="0"/>
                </a:lnTo>
                <a:lnTo>
                  <a:pt x="16894530" y="10049004"/>
                </a:lnTo>
                <a:lnTo>
                  <a:pt x="0" y="10049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19" t="-8027" r="-1506" b="-782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91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1933" y="146960"/>
            <a:ext cx="15580817" cy="9981052"/>
          </a:xfrm>
          <a:custGeom>
            <a:avLst/>
            <a:gdLst/>
            <a:ahLst/>
            <a:cxnLst/>
            <a:rect r="r" b="b" t="t" l="l"/>
            <a:pathLst>
              <a:path h="9981052" w="15580817">
                <a:moveTo>
                  <a:pt x="0" y="0"/>
                </a:moveTo>
                <a:lnTo>
                  <a:pt x="15580817" y="0"/>
                </a:lnTo>
                <a:lnTo>
                  <a:pt x="15580817" y="9981052"/>
                </a:lnTo>
                <a:lnTo>
                  <a:pt x="0" y="9981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9" t="-3149" r="-2450" b="-5286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91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4369" y="276805"/>
            <a:ext cx="17459263" cy="9605864"/>
          </a:xfrm>
          <a:custGeom>
            <a:avLst/>
            <a:gdLst/>
            <a:ahLst/>
            <a:cxnLst/>
            <a:rect r="r" b="b" t="t" l="l"/>
            <a:pathLst>
              <a:path h="9605864" w="17459263">
                <a:moveTo>
                  <a:pt x="0" y="0"/>
                </a:moveTo>
                <a:lnTo>
                  <a:pt x="17459262" y="0"/>
                </a:lnTo>
                <a:lnTo>
                  <a:pt x="17459262" y="9605864"/>
                </a:lnTo>
                <a:lnTo>
                  <a:pt x="0" y="9605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9" r="0" b="-14295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91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4936" y="201528"/>
            <a:ext cx="17155296" cy="9883945"/>
          </a:xfrm>
          <a:custGeom>
            <a:avLst/>
            <a:gdLst/>
            <a:ahLst/>
            <a:cxnLst/>
            <a:rect r="r" b="b" t="t" l="l"/>
            <a:pathLst>
              <a:path h="9883945" w="17155296">
                <a:moveTo>
                  <a:pt x="0" y="0"/>
                </a:moveTo>
                <a:lnTo>
                  <a:pt x="17155296" y="0"/>
                </a:lnTo>
                <a:lnTo>
                  <a:pt x="17155296" y="9883944"/>
                </a:lnTo>
                <a:lnTo>
                  <a:pt x="0" y="9883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80" r="0" b="-12031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91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9601" y="244636"/>
            <a:ext cx="17189748" cy="9816779"/>
          </a:xfrm>
          <a:custGeom>
            <a:avLst/>
            <a:gdLst/>
            <a:ahLst/>
            <a:cxnLst/>
            <a:rect r="r" b="b" t="t" l="l"/>
            <a:pathLst>
              <a:path h="9816779" w="17189748">
                <a:moveTo>
                  <a:pt x="0" y="0"/>
                </a:moveTo>
                <a:lnTo>
                  <a:pt x="17189748" y="0"/>
                </a:lnTo>
                <a:lnTo>
                  <a:pt x="17189748" y="9816778"/>
                </a:lnTo>
                <a:lnTo>
                  <a:pt x="0" y="981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45" r="0" b="-15418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91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1591" y="422520"/>
            <a:ext cx="17204817" cy="9441959"/>
            <a:chOff x="0" y="0"/>
            <a:chExt cx="4531310" cy="24867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1310" cy="2486771"/>
            </a:xfrm>
            <a:custGeom>
              <a:avLst/>
              <a:gdLst/>
              <a:ahLst/>
              <a:cxnLst/>
              <a:rect r="r" b="b" t="t" l="l"/>
              <a:pathLst>
                <a:path h="2486771" w="4531310">
                  <a:moveTo>
                    <a:pt x="22949" y="0"/>
                  </a:moveTo>
                  <a:lnTo>
                    <a:pt x="4508360" y="0"/>
                  </a:lnTo>
                  <a:cubicBezTo>
                    <a:pt x="4514447" y="0"/>
                    <a:pt x="4520284" y="2418"/>
                    <a:pt x="4524588" y="6722"/>
                  </a:cubicBezTo>
                  <a:cubicBezTo>
                    <a:pt x="4528892" y="11026"/>
                    <a:pt x="4531310" y="16863"/>
                    <a:pt x="4531310" y="22949"/>
                  </a:cubicBezTo>
                  <a:lnTo>
                    <a:pt x="4531310" y="2463822"/>
                  </a:lnTo>
                  <a:cubicBezTo>
                    <a:pt x="4531310" y="2476497"/>
                    <a:pt x="4521035" y="2486771"/>
                    <a:pt x="4508360" y="2486771"/>
                  </a:cubicBezTo>
                  <a:lnTo>
                    <a:pt x="22949" y="2486771"/>
                  </a:lnTo>
                  <a:cubicBezTo>
                    <a:pt x="10275" y="2486771"/>
                    <a:pt x="0" y="2476497"/>
                    <a:pt x="0" y="2463822"/>
                  </a:cubicBezTo>
                  <a:lnTo>
                    <a:pt x="0" y="22949"/>
                  </a:lnTo>
                  <a:cubicBezTo>
                    <a:pt x="0" y="10275"/>
                    <a:pt x="10275" y="0"/>
                    <a:pt x="229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1310" cy="2524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496061"/>
            <a:ext cx="811530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5"/>
              </a:lnSpc>
            </a:pPr>
            <a:r>
              <a:rPr lang="en-US" sz="7500" b="true">
                <a:solidFill>
                  <a:srgbClr val="5191B3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Conclusion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17829" y="1034663"/>
            <a:ext cx="7841471" cy="8223637"/>
            <a:chOff x="0" y="0"/>
            <a:chExt cx="1214849" cy="12740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4849" cy="1274057"/>
            </a:xfrm>
            <a:custGeom>
              <a:avLst/>
              <a:gdLst/>
              <a:ahLst/>
              <a:cxnLst/>
              <a:rect r="r" b="b" t="t" l="l"/>
              <a:pathLst>
                <a:path h="1274057" w="1214849">
                  <a:moveTo>
                    <a:pt x="22708" y="0"/>
                  </a:moveTo>
                  <a:lnTo>
                    <a:pt x="1192141" y="0"/>
                  </a:lnTo>
                  <a:cubicBezTo>
                    <a:pt x="1198164" y="0"/>
                    <a:pt x="1203939" y="2392"/>
                    <a:pt x="1208198" y="6651"/>
                  </a:cubicBezTo>
                  <a:cubicBezTo>
                    <a:pt x="1212457" y="10910"/>
                    <a:pt x="1214849" y="16685"/>
                    <a:pt x="1214849" y="22708"/>
                  </a:cubicBezTo>
                  <a:lnTo>
                    <a:pt x="1214849" y="1251349"/>
                  </a:lnTo>
                  <a:cubicBezTo>
                    <a:pt x="1214849" y="1263890"/>
                    <a:pt x="1204682" y="1274057"/>
                    <a:pt x="1192141" y="1274057"/>
                  </a:cubicBezTo>
                  <a:lnTo>
                    <a:pt x="22708" y="1274057"/>
                  </a:lnTo>
                  <a:cubicBezTo>
                    <a:pt x="16685" y="1274057"/>
                    <a:pt x="10910" y="1271664"/>
                    <a:pt x="6651" y="1267405"/>
                  </a:cubicBezTo>
                  <a:cubicBezTo>
                    <a:pt x="2392" y="1263147"/>
                    <a:pt x="0" y="1257371"/>
                    <a:pt x="0" y="1251349"/>
                  </a:cubicBezTo>
                  <a:lnTo>
                    <a:pt x="0" y="22708"/>
                  </a:lnTo>
                  <a:cubicBezTo>
                    <a:pt x="0" y="16685"/>
                    <a:pt x="2392" y="10910"/>
                    <a:pt x="6651" y="6651"/>
                  </a:cubicBezTo>
                  <a:cubicBezTo>
                    <a:pt x="10910" y="2392"/>
                    <a:pt x="16685" y="0"/>
                    <a:pt x="2270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1449" r="0" b="-21449"/>
              </a:stretch>
            </a:blipFill>
            <a:ln w="171450" cap="rnd">
              <a:solidFill>
                <a:srgbClr val="5191B3"/>
              </a:solidFill>
              <a:prstDash val="solid"/>
              <a:round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2731465"/>
            <a:ext cx="7779294" cy="679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191B3"/>
                </a:solidFill>
                <a:latin typeface="Nunito"/>
                <a:ea typeface="Nunito"/>
                <a:cs typeface="Nunito"/>
                <a:sym typeface="Nunito"/>
              </a:rPr>
              <a:t>The UAE water purification market is a competitive Red Ocean with limited differentiation.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191B3"/>
                </a:solidFill>
                <a:latin typeface="Nunito"/>
                <a:ea typeface="Nunito"/>
                <a:cs typeface="Nunito"/>
                <a:sym typeface="Nunito"/>
              </a:rPr>
              <a:t>IOTA Water creates value innovation through nano-bubble oxygen technology and functional hydration.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191B3"/>
                </a:solidFill>
                <a:latin typeface="Nunito"/>
                <a:ea typeface="Nunito"/>
                <a:cs typeface="Nunito"/>
                <a:sym typeface="Nunito"/>
              </a:rPr>
              <a:t>The UAE offers strong market readiness to due to water scarcity, wellness demand, smart infrastructure and also for B2B sectors such as hotels, hospitals etc.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5191B3"/>
                </a:solidFill>
                <a:latin typeface="Nunito"/>
                <a:ea typeface="Nunito"/>
                <a:cs typeface="Nunito"/>
                <a:sym typeface="Nunito"/>
              </a:rPr>
              <a:t>Overall, IOTA Water has the potential to create a Blue Ocean by redefining purified water as smart, oxygen-enhanced hydration.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5191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1591" y="422520"/>
            <a:ext cx="17204817" cy="9441959"/>
            <a:chOff x="0" y="0"/>
            <a:chExt cx="4531310" cy="24867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1310" cy="2486771"/>
            </a:xfrm>
            <a:custGeom>
              <a:avLst/>
              <a:gdLst/>
              <a:ahLst/>
              <a:cxnLst/>
              <a:rect r="r" b="b" t="t" l="l"/>
              <a:pathLst>
                <a:path h="2486771" w="4531310">
                  <a:moveTo>
                    <a:pt x="22949" y="0"/>
                  </a:moveTo>
                  <a:lnTo>
                    <a:pt x="4508360" y="0"/>
                  </a:lnTo>
                  <a:cubicBezTo>
                    <a:pt x="4514447" y="0"/>
                    <a:pt x="4520284" y="2418"/>
                    <a:pt x="4524588" y="6722"/>
                  </a:cubicBezTo>
                  <a:cubicBezTo>
                    <a:pt x="4528892" y="11026"/>
                    <a:pt x="4531310" y="16863"/>
                    <a:pt x="4531310" y="22949"/>
                  </a:cubicBezTo>
                  <a:lnTo>
                    <a:pt x="4531310" y="2463822"/>
                  </a:lnTo>
                  <a:cubicBezTo>
                    <a:pt x="4531310" y="2476497"/>
                    <a:pt x="4521035" y="2486771"/>
                    <a:pt x="4508360" y="2486771"/>
                  </a:cubicBezTo>
                  <a:lnTo>
                    <a:pt x="22949" y="2486771"/>
                  </a:lnTo>
                  <a:cubicBezTo>
                    <a:pt x="10275" y="2486771"/>
                    <a:pt x="0" y="2476497"/>
                    <a:pt x="0" y="2463822"/>
                  </a:cubicBezTo>
                  <a:lnTo>
                    <a:pt x="0" y="22949"/>
                  </a:lnTo>
                  <a:cubicBezTo>
                    <a:pt x="0" y="10275"/>
                    <a:pt x="10275" y="0"/>
                    <a:pt x="229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1310" cy="2524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64041" y="1458310"/>
            <a:ext cx="811530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5"/>
              </a:lnSpc>
            </a:pPr>
            <a:r>
              <a:rPr lang="en-US" sz="7500" b="true">
                <a:solidFill>
                  <a:srgbClr val="5191B3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References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81280" y="2764839"/>
            <a:ext cx="12779618" cy="7323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1048" indent="-205524" lvl="1">
              <a:lnSpc>
                <a:spcPts val="2665"/>
              </a:lnSpc>
              <a:buFont typeface="Arial"/>
              <a:buChar char="•"/>
            </a:pPr>
            <a:r>
              <a:rPr lang="en-US" b="true" sz="1903">
                <a:solidFill>
                  <a:srgbClr val="5191B3"/>
                </a:solidFill>
                <a:latin typeface="Nunito Bold"/>
                <a:ea typeface="Nunito Bold"/>
                <a:cs typeface="Nunito Bold"/>
                <a:sym typeface="Nunito Bold"/>
              </a:rPr>
              <a:t>Ecolab (2025). 2025 Ecolab Watermark™ Study: Rising UAE Confidence in Water Security.</a:t>
            </a:r>
          </a:p>
          <a:p>
            <a:pPr algn="l">
              <a:lnSpc>
                <a:spcPts val="2665"/>
              </a:lnSpc>
            </a:pPr>
          </a:p>
          <a:p>
            <a:pPr algn="l" marL="411048" indent="-205524" lvl="1">
              <a:lnSpc>
                <a:spcPts val="2665"/>
              </a:lnSpc>
              <a:buFont typeface="Arial"/>
              <a:buChar char="•"/>
            </a:pPr>
            <a:r>
              <a:rPr lang="en-US" b="true" sz="1903">
                <a:solidFill>
                  <a:srgbClr val="5191B3"/>
                </a:solidFill>
                <a:latin typeface="Nunito Bold"/>
                <a:ea typeface="Nunito Bold"/>
                <a:cs typeface="Nunito Bold"/>
                <a:sym typeface="Nunito Bold"/>
              </a:rPr>
              <a:t>Kim, W. C., &amp; Mauborgne, R. (2015). Blue ocean strategy: How to create uncontested market space and make the competition irrelevant (Expanded ed.). Harvard Business Review Press.</a:t>
            </a:r>
          </a:p>
          <a:p>
            <a:pPr algn="l">
              <a:lnSpc>
                <a:spcPts val="2665"/>
              </a:lnSpc>
            </a:pPr>
          </a:p>
          <a:p>
            <a:pPr algn="l" marL="411048" indent="-205524" lvl="1">
              <a:lnSpc>
                <a:spcPts val="2665"/>
              </a:lnSpc>
              <a:buFont typeface="Arial"/>
              <a:buChar char="•"/>
            </a:pPr>
            <a:r>
              <a:rPr lang="en-US" b="true" sz="1903">
                <a:solidFill>
                  <a:srgbClr val="5191B3"/>
                </a:solidFill>
                <a:latin typeface="Nunito Bold"/>
                <a:ea typeface="Nunito Bold"/>
                <a:cs typeface="Nunito Bold"/>
                <a:sym typeface="Nunito Bold"/>
              </a:rPr>
              <a:t>Ministry of Energy and Infrastructure. (2023). UAE water security strategy 2036. United Arab Emirates Government. https://www.moewi.gov.ae</a:t>
            </a:r>
          </a:p>
          <a:p>
            <a:pPr algn="l">
              <a:lnSpc>
                <a:spcPts val="2665"/>
              </a:lnSpc>
            </a:pPr>
          </a:p>
          <a:p>
            <a:pPr algn="l" marL="411048" indent="-205524" lvl="1">
              <a:lnSpc>
                <a:spcPts val="2665"/>
              </a:lnSpc>
              <a:buFont typeface="Arial"/>
              <a:buChar char="•"/>
            </a:pPr>
            <a:r>
              <a:rPr lang="en-US" b="true" sz="1903">
                <a:solidFill>
                  <a:srgbClr val="5191B3"/>
                </a:solidFill>
                <a:latin typeface="Nunito Bold"/>
                <a:ea typeface="Nunito Bold"/>
                <a:cs typeface="Nunito Bold"/>
                <a:sym typeface="Nunito Bold"/>
              </a:rPr>
              <a:t>Grand View Research. (2023). Water purifier market size, share &amp; trends analysis report. https://www.grandviewresearch.com</a:t>
            </a:r>
          </a:p>
          <a:p>
            <a:pPr algn="l">
              <a:lnSpc>
                <a:spcPts val="2665"/>
              </a:lnSpc>
            </a:pPr>
          </a:p>
          <a:p>
            <a:pPr algn="l" marL="411048" indent="-205524" lvl="1">
              <a:lnSpc>
                <a:spcPts val="2665"/>
              </a:lnSpc>
              <a:buFont typeface="Arial"/>
              <a:buChar char="•"/>
            </a:pPr>
            <a:r>
              <a:rPr lang="en-US" b="true" sz="1903">
                <a:solidFill>
                  <a:srgbClr val="5191B3"/>
                </a:solidFill>
                <a:latin typeface="Nunito Bold"/>
                <a:ea typeface="Nunito Bold"/>
                <a:cs typeface="Nunito Bold"/>
                <a:sym typeface="Nunito Bold"/>
              </a:rPr>
              <a:t>Mordor Intelligence. (2024). UAE water treatment market – Growth, trends, and forecast. https://www.mordorintelligence.com</a:t>
            </a:r>
          </a:p>
          <a:p>
            <a:pPr algn="l">
              <a:lnSpc>
                <a:spcPts val="2665"/>
              </a:lnSpc>
            </a:pPr>
          </a:p>
          <a:p>
            <a:pPr algn="l" marL="411048" indent="-205524" lvl="1">
              <a:lnSpc>
                <a:spcPts val="2665"/>
              </a:lnSpc>
              <a:buFont typeface="Arial"/>
              <a:buChar char="•"/>
            </a:pPr>
            <a:r>
              <a:rPr lang="en-US" b="true" sz="1903">
                <a:solidFill>
                  <a:srgbClr val="5191B3"/>
                </a:solidFill>
                <a:latin typeface="Nunito Bold"/>
                <a:ea typeface="Nunito Bold"/>
                <a:cs typeface="Nunito Bold"/>
                <a:sym typeface="Nunito Bold"/>
              </a:rPr>
              <a:t>Global Wellness Institute. (2023). Global wellness economy monitor. https://globalwellnessinstitute.org</a:t>
            </a:r>
          </a:p>
          <a:p>
            <a:pPr algn="l">
              <a:lnSpc>
                <a:spcPts val="2665"/>
              </a:lnSpc>
            </a:pPr>
          </a:p>
          <a:p>
            <a:pPr algn="l" marL="411048" indent="-205524" lvl="1">
              <a:lnSpc>
                <a:spcPts val="2665"/>
              </a:lnSpc>
              <a:buFont typeface="Arial"/>
              <a:buChar char="•"/>
            </a:pPr>
            <a:r>
              <a:rPr lang="en-US" b="true" sz="1903">
                <a:solidFill>
                  <a:srgbClr val="5191B3"/>
                </a:solidFill>
                <a:latin typeface="Nunito Bold"/>
                <a:ea typeface="Nunito Bold"/>
                <a:cs typeface="Nunito Bold"/>
                <a:sym typeface="Nunito Bold"/>
              </a:rPr>
              <a:t>UAE Ministry of Energy and Infrastructure (2024). The UAE Water Security Strategy 2036.</a:t>
            </a:r>
          </a:p>
          <a:p>
            <a:pPr algn="l">
              <a:lnSpc>
                <a:spcPts val="2665"/>
              </a:lnSpc>
            </a:pPr>
          </a:p>
          <a:p>
            <a:pPr algn="l" marL="411048" indent="-205524" lvl="1">
              <a:lnSpc>
                <a:spcPts val="2665"/>
              </a:lnSpc>
              <a:buFont typeface="Arial"/>
              <a:buChar char="•"/>
            </a:pPr>
            <a:r>
              <a:rPr lang="en-US" b="true" sz="1903">
                <a:solidFill>
                  <a:srgbClr val="5191B3"/>
                </a:solidFill>
                <a:latin typeface="Nunito Bold"/>
                <a:ea typeface="Nunito Bold"/>
                <a:cs typeface="Nunito Bold"/>
                <a:sym typeface="Nunito Bold"/>
              </a:rPr>
              <a:t>World Health Organization. (2022). Guidelines for drinking-water quality (4th ed.). https://www.who.int</a:t>
            </a:r>
          </a:p>
          <a:p>
            <a:pPr algn="l">
              <a:lnSpc>
                <a:spcPts val="2665"/>
              </a:lnSpc>
            </a:pPr>
          </a:p>
          <a:p>
            <a:pPr algn="l">
              <a:lnSpc>
                <a:spcPts val="2665"/>
              </a:lnSpc>
            </a:pPr>
          </a:p>
          <a:p>
            <a:pPr algn="l">
              <a:lnSpc>
                <a:spcPts val="2665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01796" y="3491703"/>
            <a:ext cx="9757504" cy="385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40"/>
              </a:lnSpc>
            </a:pPr>
            <a:r>
              <a:rPr lang="en-US" sz="16988" b="true">
                <a:solidFill>
                  <a:srgbClr val="5191B3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THANK YOU!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16691" y="2523056"/>
            <a:ext cx="5678469" cy="6651208"/>
          </a:xfrm>
          <a:custGeom>
            <a:avLst/>
            <a:gdLst/>
            <a:ahLst/>
            <a:cxnLst/>
            <a:rect r="r" b="b" t="t" l="l"/>
            <a:pathLst>
              <a:path h="6651208" w="5678469">
                <a:moveTo>
                  <a:pt x="0" y="0"/>
                </a:moveTo>
                <a:lnTo>
                  <a:pt x="5678469" y="0"/>
                </a:lnTo>
                <a:lnTo>
                  <a:pt x="5678469" y="6651207"/>
                </a:lnTo>
                <a:lnTo>
                  <a:pt x="0" y="665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28866" y="7523782"/>
            <a:ext cx="6539187" cy="38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3"/>
              </a:lnSpc>
            </a:pPr>
            <a:r>
              <a:rPr lang="en-US" sz="2237" b="true">
                <a:solidFill>
                  <a:srgbClr val="5191B3"/>
                </a:solidFill>
                <a:latin typeface="Cy Grotesk V3 Key Bold"/>
                <a:ea typeface="Cy Grotesk V3 Key Bold"/>
                <a:cs typeface="Cy Grotesk V3 Key Bold"/>
                <a:sym typeface="Cy Grotesk V3 Key Bold"/>
              </a:rPr>
              <a:t>OPEN TO QUESTIONS AND DISCUSSIONS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DAHDupwy4vk</dc:identifier>
  <dcterms:modified xsi:type="dcterms:W3CDTF">2011-08-01T06:04:30Z</dcterms:modified>
  <cp:revision>1</cp:revision>
  <dc:title>Group PBL_Blue Ocean Strategy_Grp 9 10</dc:title>
</cp:coreProperties>
</file>