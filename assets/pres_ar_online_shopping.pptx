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Fredoka" charset="1" panose="02000000000000000000"/>
      <p:regular r:id="rId22"/>
    </p:embeddedFont>
    <p:embeddedFont>
      <p:font typeface="TT Firs Neue Bold" charset="1" panose="02000803030000020004"/>
      <p:regular r:id="rId23"/>
    </p:embeddedFont>
    <p:embeddedFont>
      <p:font typeface="TT Firs Neue" charset="1" panose="02000503030000020004"/>
      <p:regular r:id="rId24"/>
    </p:embeddedFont>
    <p:embeddedFont>
      <p:font typeface="Poppins" charset="1" panose="00000500000000000000"/>
      <p:regular r:id="rId25"/>
    </p:embeddedFont>
    <p:embeddedFont>
      <p:font typeface="Poppins Bold"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2" Target="../media/image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26.png" Type="http://schemas.openxmlformats.org/officeDocument/2006/relationships/image"/><Relationship Id="rId2" Target="../media/image1.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2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png" Type="http://schemas.openxmlformats.org/officeDocument/2006/relationships/image"/><Relationship Id="rId2" Target="../media/image1.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8.png" Type="http://schemas.openxmlformats.org/officeDocument/2006/relationships/image"/><Relationship Id="rId13" Target="../media/image9.svg" Type="http://schemas.openxmlformats.org/officeDocument/2006/relationships/image"/><Relationship Id="rId14" Target="../media/image36.png" Type="http://schemas.openxmlformats.org/officeDocument/2006/relationships/image"/><Relationship Id="rId2" Target="../media/image1.jpe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png" Type="http://schemas.openxmlformats.org/officeDocument/2006/relationships/image"/><Relationship Id="rId15" Target="../media/image41.png" Type="http://schemas.openxmlformats.org/officeDocument/2006/relationships/image"/><Relationship Id="rId16" Target="../media/image42.png" Type="http://schemas.openxmlformats.org/officeDocument/2006/relationships/image"/><Relationship Id="rId2" Target="../media/image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45.png" Type="http://schemas.openxmlformats.org/officeDocument/2006/relationships/image"/><Relationship Id="rId2" Target="../media/image1.jpe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2" Target="../media/image1.jpe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media/image46.png" Type="http://schemas.openxmlformats.org/officeDocument/2006/relationships/image"/><Relationship Id="rId6" Target="../media/image4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46.png" Type="http://schemas.openxmlformats.org/officeDocument/2006/relationships/image"/><Relationship Id="rId4" Target="../media/image4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48.png" Type="http://schemas.openxmlformats.org/officeDocument/2006/relationships/image"/><Relationship Id="rId4" Target="../media/image49.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481773" y="1390472"/>
            <a:ext cx="15777527" cy="814415"/>
            <a:chOff x="0" y="0"/>
            <a:chExt cx="4155398" cy="214496"/>
          </a:xfrm>
        </p:grpSpPr>
        <p:sp>
          <p:nvSpPr>
            <p:cNvPr name="Freeform 4" id="4"/>
            <p:cNvSpPr/>
            <p:nvPr/>
          </p:nvSpPr>
          <p:spPr>
            <a:xfrm flipH="false" flipV="false" rot="0">
              <a:off x="0" y="0"/>
              <a:ext cx="4155398" cy="214496"/>
            </a:xfrm>
            <a:custGeom>
              <a:avLst/>
              <a:gdLst/>
              <a:ahLst/>
              <a:cxnLst/>
              <a:rect r="r" b="b" t="t" l="l"/>
              <a:pathLst>
                <a:path h="214496" w="4155398">
                  <a:moveTo>
                    <a:pt x="25025" y="0"/>
                  </a:moveTo>
                  <a:lnTo>
                    <a:pt x="4130373" y="0"/>
                  </a:lnTo>
                  <a:cubicBezTo>
                    <a:pt x="4137010" y="0"/>
                    <a:pt x="4143375" y="2637"/>
                    <a:pt x="4148069" y="7330"/>
                  </a:cubicBezTo>
                  <a:cubicBezTo>
                    <a:pt x="4152762" y="12023"/>
                    <a:pt x="4155398" y="18388"/>
                    <a:pt x="4155398" y="25025"/>
                  </a:cubicBezTo>
                  <a:lnTo>
                    <a:pt x="4155398" y="189471"/>
                  </a:lnTo>
                  <a:cubicBezTo>
                    <a:pt x="4155398" y="203292"/>
                    <a:pt x="4144194" y="214496"/>
                    <a:pt x="4130373" y="214496"/>
                  </a:cubicBezTo>
                  <a:lnTo>
                    <a:pt x="25025" y="214496"/>
                  </a:lnTo>
                  <a:cubicBezTo>
                    <a:pt x="18388" y="214496"/>
                    <a:pt x="12023" y="211860"/>
                    <a:pt x="7330" y="207166"/>
                  </a:cubicBezTo>
                  <a:cubicBezTo>
                    <a:pt x="2637" y="202473"/>
                    <a:pt x="0" y="196108"/>
                    <a:pt x="0" y="189471"/>
                  </a:cubicBezTo>
                  <a:lnTo>
                    <a:pt x="0" y="25025"/>
                  </a:lnTo>
                  <a:cubicBezTo>
                    <a:pt x="0" y="18388"/>
                    <a:pt x="2637" y="12023"/>
                    <a:pt x="7330" y="7330"/>
                  </a:cubicBezTo>
                  <a:cubicBezTo>
                    <a:pt x="12023" y="2637"/>
                    <a:pt x="18388" y="0"/>
                    <a:pt x="25025" y="0"/>
                  </a:cubicBezTo>
                  <a:close/>
                </a:path>
              </a:pathLst>
            </a:custGeom>
            <a:solidFill>
              <a:srgbClr val="F4CBC6"/>
            </a:solidFill>
          </p:spPr>
        </p:sp>
        <p:sp>
          <p:nvSpPr>
            <p:cNvPr name="TextBox 5" id="5"/>
            <p:cNvSpPr txBox="true"/>
            <p:nvPr/>
          </p:nvSpPr>
          <p:spPr>
            <a:xfrm>
              <a:off x="0" y="-47625"/>
              <a:ext cx="4155398" cy="262121"/>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12961965" y="2004267"/>
            <a:ext cx="6524946" cy="8028457"/>
          </a:xfrm>
          <a:custGeom>
            <a:avLst/>
            <a:gdLst/>
            <a:ahLst/>
            <a:cxnLst/>
            <a:rect r="r" b="b" t="t" l="l"/>
            <a:pathLst>
              <a:path h="8028457" w="6524946">
                <a:moveTo>
                  <a:pt x="0" y="0"/>
                </a:moveTo>
                <a:lnTo>
                  <a:pt x="6524945" y="0"/>
                </a:lnTo>
                <a:lnTo>
                  <a:pt x="6524945" y="8028457"/>
                </a:lnTo>
                <a:lnTo>
                  <a:pt x="0" y="80284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514350" y="9778448"/>
            <a:ext cx="20001260" cy="508552"/>
            <a:chOff x="0" y="0"/>
            <a:chExt cx="5267822" cy="133940"/>
          </a:xfrm>
        </p:grpSpPr>
        <p:sp>
          <p:nvSpPr>
            <p:cNvPr name="Freeform 8" id="8"/>
            <p:cNvSpPr/>
            <p:nvPr/>
          </p:nvSpPr>
          <p:spPr>
            <a:xfrm flipH="false" flipV="false" rot="0">
              <a:off x="0" y="0"/>
              <a:ext cx="5267821" cy="133940"/>
            </a:xfrm>
            <a:custGeom>
              <a:avLst/>
              <a:gdLst/>
              <a:ahLst/>
              <a:cxnLst/>
              <a:rect r="r" b="b" t="t" l="l"/>
              <a:pathLst>
                <a:path h="133940" w="5267821">
                  <a:moveTo>
                    <a:pt x="0" y="0"/>
                  </a:moveTo>
                  <a:lnTo>
                    <a:pt x="5267821" y="0"/>
                  </a:lnTo>
                  <a:lnTo>
                    <a:pt x="5267821" y="133940"/>
                  </a:lnTo>
                  <a:lnTo>
                    <a:pt x="0" y="133940"/>
                  </a:lnTo>
                  <a:close/>
                </a:path>
              </a:pathLst>
            </a:custGeom>
            <a:solidFill>
              <a:srgbClr val="8BB4D9"/>
            </a:solidFill>
          </p:spPr>
        </p:sp>
        <p:sp>
          <p:nvSpPr>
            <p:cNvPr name="TextBox 9" id="9"/>
            <p:cNvSpPr txBox="true"/>
            <p:nvPr/>
          </p:nvSpPr>
          <p:spPr>
            <a:xfrm>
              <a:off x="0" y="-47625"/>
              <a:ext cx="5267822" cy="181565"/>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0">
            <a:off x="16748731" y="2871772"/>
            <a:ext cx="1021139" cy="997168"/>
          </a:xfrm>
          <a:custGeom>
            <a:avLst/>
            <a:gdLst/>
            <a:ahLst/>
            <a:cxnLst/>
            <a:rect r="r" b="b" t="t" l="l"/>
            <a:pathLst>
              <a:path h="997168" w="1021139">
                <a:moveTo>
                  <a:pt x="0" y="0"/>
                </a:moveTo>
                <a:lnTo>
                  <a:pt x="1021138" y="0"/>
                </a:lnTo>
                <a:lnTo>
                  <a:pt x="1021138" y="997168"/>
                </a:lnTo>
                <a:lnTo>
                  <a:pt x="0" y="9971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742950" y="6828506"/>
            <a:ext cx="1607184" cy="1569456"/>
          </a:xfrm>
          <a:custGeom>
            <a:avLst/>
            <a:gdLst/>
            <a:ahLst/>
            <a:cxnLst/>
            <a:rect r="r" b="b" t="t" l="l"/>
            <a:pathLst>
              <a:path h="1569456" w="1607184">
                <a:moveTo>
                  <a:pt x="0" y="0"/>
                </a:moveTo>
                <a:lnTo>
                  <a:pt x="1607184" y="0"/>
                </a:lnTo>
                <a:lnTo>
                  <a:pt x="1607184" y="1569456"/>
                </a:lnTo>
                <a:lnTo>
                  <a:pt x="0" y="156945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308328" y="2058632"/>
            <a:ext cx="2247845" cy="1818711"/>
          </a:xfrm>
          <a:custGeom>
            <a:avLst/>
            <a:gdLst/>
            <a:ahLst/>
            <a:cxnLst/>
            <a:rect r="r" b="b" t="t" l="l"/>
            <a:pathLst>
              <a:path h="1818711" w="2247845">
                <a:moveTo>
                  <a:pt x="0" y="0"/>
                </a:moveTo>
                <a:lnTo>
                  <a:pt x="2247845" y="0"/>
                </a:lnTo>
                <a:lnTo>
                  <a:pt x="2247845" y="1818711"/>
                </a:lnTo>
                <a:lnTo>
                  <a:pt x="0" y="1818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2129171" y="3475131"/>
            <a:ext cx="10643139" cy="2935606"/>
          </a:xfrm>
          <a:prstGeom prst="rect">
            <a:avLst/>
          </a:prstGeom>
        </p:spPr>
        <p:txBody>
          <a:bodyPr anchor="t" rtlCol="false" tIns="0" lIns="0" bIns="0" rIns="0">
            <a:spAutoFit/>
          </a:bodyPr>
          <a:lstStyle/>
          <a:p>
            <a:pPr algn="l">
              <a:lnSpc>
                <a:spcPts val="5700"/>
              </a:lnSpc>
            </a:pPr>
            <a:r>
              <a:rPr lang="en-US" sz="5700">
                <a:solidFill>
                  <a:srgbClr val="8BB4D9"/>
                </a:solidFill>
                <a:latin typeface="Fredoka"/>
                <a:ea typeface="Fredoka"/>
                <a:cs typeface="Fredoka"/>
                <a:sym typeface="Fredoka"/>
              </a:rPr>
              <a:t>EXPL</a:t>
            </a:r>
            <a:r>
              <a:rPr lang="en-US" sz="5700">
                <a:solidFill>
                  <a:srgbClr val="8BB4D9"/>
                </a:solidFill>
                <a:latin typeface="Fredoka"/>
                <a:ea typeface="Fredoka"/>
                <a:cs typeface="Fredoka"/>
                <a:sym typeface="Fredoka"/>
              </a:rPr>
              <a:t>ORING THE IMPACT OF AUGMENTED REALITY (AR) IN TRANSFORMING ONLINE SHOPPING EXPERIENCES.</a:t>
            </a:r>
          </a:p>
        </p:txBody>
      </p:sp>
      <p:sp>
        <p:nvSpPr>
          <p:cNvPr name="TextBox 14" id="14"/>
          <p:cNvSpPr txBox="true"/>
          <p:nvPr/>
        </p:nvSpPr>
        <p:spPr>
          <a:xfrm rot="0">
            <a:off x="4134852" y="6554219"/>
            <a:ext cx="4535405" cy="788036"/>
          </a:xfrm>
          <a:prstGeom prst="rect">
            <a:avLst/>
          </a:prstGeom>
        </p:spPr>
        <p:txBody>
          <a:bodyPr anchor="t" rtlCol="false" tIns="0" lIns="0" bIns="0" rIns="0">
            <a:spAutoFit/>
          </a:bodyPr>
          <a:lstStyle/>
          <a:p>
            <a:pPr algn="ctr">
              <a:lnSpc>
                <a:spcPts val="6439"/>
              </a:lnSpc>
            </a:pPr>
            <a:r>
              <a:rPr lang="en-US" sz="4599" b="true">
                <a:solidFill>
                  <a:srgbClr val="EBA86D"/>
                </a:solidFill>
                <a:latin typeface="TT Firs Neue Bold"/>
                <a:ea typeface="TT Firs Neue Bold"/>
                <a:cs typeface="TT Firs Neue Bold"/>
                <a:sym typeface="TT Firs Neue Bold"/>
              </a:rPr>
              <a:t>TERM -2 </a:t>
            </a:r>
          </a:p>
        </p:txBody>
      </p:sp>
      <p:sp>
        <p:nvSpPr>
          <p:cNvPr name="TextBox 15" id="15"/>
          <p:cNvSpPr txBox="true"/>
          <p:nvPr/>
        </p:nvSpPr>
        <p:spPr>
          <a:xfrm rot="0">
            <a:off x="3662096" y="1467481"/>
            <a:ext cx="12056110" cy="1500506"/>
          </a:xfrm>
          <a:prstGeom prst="rect">
            <a:avLst/>
          </a:prstGeom>
        </p:spPr>
        <p:txBody>
          <a:bodyPr anchor="t" rtlCol="false" tIns="0" lIns="0" bIns="0" rIns="0">
            <a:spAutoFit/>
          </a:bodyPr>
          <a:lstStyle/>
          <a:p>
            <a:pPr algn="l">
              <a:lnSpc>
                <a:spcPts val="6019"/>
              </a:lnSpc>
            </a:pPr>
            <a:r>
              <a:rPr lang="en-US" sz="4299" b="true">
                <a:solidFill>
                  <a:srgbClr val="000000"/>
                </a:solidFill>
                <a:latin typeface="TT Firs Neue Bold"/>
                <a:ea typeface="TT Firs Neue Bold"/>
                <a:cs typeface="TT Firs Neue Bold"/>
                <a:sym typeface="TT Firs Neue Bold"/>
              </a:rPr>
              <a:t>International Business Research Project</a:t>
            </a:r>
          </a:p>
          <a:p>
            <a:pPr algn="l">
              <a:lnSpc>
                <a:spcPts val="6019"/>
              </a:lnSpc>
            </a:pPr>
          </a:p>
        </p:txBody>
      </p:sp>
      <p:sp>
        <p:nvSpPr>
          <p:cNvPr name="TextBox 16" id="16"/>
          <p:cNvSpPr txBox="true"/>
          <p:nvPr/>
        </p:nvSpPr>
        <p:spPr>
          <a:xfrm rot="0">
            <a:off x="1939517" y="8340812"/>
            <a:ext cx="3445157" cy="537846"/>
          </a:xfrm>
          <a:prstGeom prst="rect">
            <a:avLst/>
          </a:prstGeom>
        </p:spPr>
        <p:txBody>
          <a:bodyPr anchor="t" rtlCol="false" tIns="0" lIns="0" bIns="0" rIns="0">
            <a:spAutoFit/>
          </a:bodyPr>
          <a:lstStyle/>
          <a:p>
            <a:pPr algn="l">
              <a:lnSpc>
                <a:spcPts val="4479"/>
              </a:lnSpc>
            </a:pPr>
            <a:r>
              <a:rPr lang="en-US" sz="3199">
                <a:solidFill>
                  <a:srgbClr val="000000"/>
                </a:solidFill>
                <a:latin typeface="TT Firs Neue"/>
                <a:ea typeface="TT Firs Neue"/>
                <a:cs typeface="TT Firs Neue"/>
                <a:sym typeface="TT Firs Neue"/>
              </a:rPr>
              <a:t>P</a:t>
            </a:r>
            <a:r>
              <a:rPr lang="en-US" sz="3199">
                <a:solidFill>
                  <a:srgbClr val="000000"/>
                </a:solidFill>
                <a:latin typeface="TT Firs Neue"/>
                <a:ea typeface="TT Firs Neue"/>
                <a:cs typeface="TT Firs Neue"/>
                <a:sym typeface="TT Firs Neue"/>
              </a:rPr>
              <a:t>resented By:</a:t>
            </a:r>
          </a:p>
        </p:txBody>
      </p:sp>
      <p:sp>
        <p:nvSpPr>
          <p:cNvPr name="TextBox 17" id="17"/>
          <p:cNvSpPr txBox="true"/>
          <p:nvPr/>
        </p:nvSpPr>
        <p:spPr>
          <a:xfrm rot="0">
            <a:off x="5094763" y="8254135"/>
            <a:ext cx="4391517" cy="976630"/>
          </a:xfrm>
          <a:prstGeom prst="rect">
            <a:avLst/>
          </a:prstGeom>
        </p:spPr>
        <p:txBody>
          <a:bodyPr anchor="t" rtlCol="false" tIns="0" lIns="0" bIns="0" rIns="0">
            <a:spAutoFit/>
          </a:bodyPr>
          <a:lstStyle/>
          <a:p>
            <a:pPr algn="l">
              <a:lnSpc>
                <a:spcPts val="3919"/>
              </a:lnSpc>
            </a:pPr>
            <a:r>
              <a:rPr lang="en-US" sz="2799" b="true">
                <a:solidFill>
                  <a:srgbClr val="000000"/>
                </a:solidFill>
                <a:latin typeface="TT Firs Neue Bold"/>
                <a:ea typeface="TT Firs Neue Bold"/>
                <a:cs typeface="TT Firs Neue Bold"/>
                <a:sym typeface="TT Firs Neue Bold"/>
              </a:rPr>
              <a:t>MUSKAN GUPTA</a:t>
            </a:r>
          </a:p>
          <a:p>
            <a:pPr algn="l">
              <a:lnSpc>
                <a:spcPts val="3919"/>
              </a:lnSpc>
            </a:pPr>
            <a:r>
              <a:rPr lang="en-US" sz="2799" b="true">
                <a:solidFill>
                  <a:srgbClr val="000000"/>
                </a:solidFill>
                <a:latin typeface="TT Firs Neue Bold"/>
                <a:ea typeface="TT Firs Neue Bold"/>
                <a:cs typeface="TT Firs Neue Bold"/>
                <a:sym typeface="TT Firs Neue Bold"/>
              </a:rPr>
              <a:t>MS25MM049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424967" y="5143500"/>
            <a:ext cx="6341024" cy="3834328"/>
            <a:chOff x="0" y="0"/>
            <a:chExt cx="757961" cy="458329"/>
          </a:xfrm>
        </p:grpSpPr>
        <p:sp>
          <p:nvSpPr>
            <p:cNvPr name="Freeform 4" id="4"/>
            <p:cNvSpPr/>
            <p:nvPr/>
          </p:nvSpPr>
          <p:spPr>
            <a:xfrm flipH="false" flipV="false" rot="0">
              <a:off x="0" y="0"/>
              <a:ext cx="757961" cy="458329"/>
            </a:xfrm>
            <a:custGeom>
              <a:avLst/>
              <a:gdLst/>
              <a:ahLst/>
              <a:cxnLst/>
              <a:rect r="r" b="b" t="t" l="l"/>
              <a:pathLst>
                <a:path h="458329" w="757961">
                  <a:moveTo>
                    <a:pt x="42732" y="0"/>
                  </a:moveTo>
                  <a:lnTo>
                    <a:pt x="715229" y="0"/>
                  </a:lnTo>
                  <a:cubicBezTo>
                    <a:pt x="726562" y="0"/>
                    <a:pt x="737431" y="4502"/>
                    <a:pt x="745445" y="12516"/>
                  </a:cubicBezTo>
                  <a:cubicBezTo>
                    <a:pt x="753459" y="20530"/>
                    <a:pt x="757961" y="31399"/>
                    <a:pt x="757961" y="42732"/>
                  </a:cubicBezTo>
                  <a:lnTo>
                    <a:pt x="757961" y="415596"/>
                  </a:lnTo>
                  <a:cubicBezTo>
                    <a:pt x="757961" y="426930"/>
                    <a:pt x="753459" y="437799"/>
                    <a:pt x="745445" y="445813"/>
                  </a:cubicBezTo>
                  <a:cubicBezTo>
                    <a:pt x="737431" y="453826"/>
                    <a:pt x="726562" y="458329"/>
                    <a:pt x="715229" y="458329"/>
                  </a:cubicBezTo>
                  <a:lnTo>
                    <a:pt x="42732" y="458329"/>
                  </a:lnTo>
                  <a:cubicBezTo>
                    <a:pt x="31399" y="458329"/>
                    <a:pt x="20530" y="453826"/>
                    <a:pt x="12516" y="445813"/>
                  </a:cubicBezTo>
                  <a:cubicBezTo>
                    <a:pt x="4502" y="437799"/>
                    <a:pt x="0" y="426930"/>
                    <a:pt x="0" y="415596"/>
                  </a:cubicBezTo>
                  <a:lnTo>
                    <a:pt x="0" y="42732"/>
                  </a:lnTo>
                  <a:cubicBezTo>
                    <a:pt x="0" y="31399"/>
                    <a:pt x="4502" y="20530"/>
                    <a:pt x="12516" y="12516"/>
                  </a:cubicBezTo>
                  <a:cubicBezTo>
                    <a:pt x="20530" y="4502"/>
                    <a:pt x="31399" y="0"/>
                    <a:pt x="42732" y="0"/>
                  </a:cubicBezTo>
                  <a:close/>
                </a:path>
              </a:pathLst>
            </a:custGeom>
            <a:solidFill>
              <a:srgbClr val="FCFCDD"/>
            </a:solidFill>
          </p:spPr>
        </p:sp>
      </p:grpSp>
      <p:sp>
        <p:nvSpPr>
          <p:cNvPr name="Freeform 5" id="5"/>
          <p:cNvSpPr/>
          <p:nvPr/>
        </p:nvSpPr>
        <p:spPr>
          <a:xfrm flipH="false" flipV="false" rot="0">
            <a:off x="2643494" y="4429692"/>
            <a:ext cx="3598580" cy="4114800"/>
          </a:xfrm>
          <a:custGeom>
            <a:avLst/>
            <a:gdLst/>
            <a:ahLst/>
            <a:cxnLst/>
            <a:rect r="r" b="b" t="t" l="l"/>
            <a:pathLst>
              <a:path h="4114800" w="3598580">
                <a:moveTo>
                  <a:pt x="0" y="0"/>
                </a:moveTo>
                <a:lnTo>
                  <a:pt x="3598580" y="0"/>
                </a:lnTo>
                <a:lnTo>
                  <a:pt x="359858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6185362" y="8642223"/>
            <a:ext cx="1650779" cy="1644777"/>
          </a:xfrm>
          <a:custGeom>
            <a:avLst/>
            <a:gdLst/>
            <a:ahLst/>
            <a:cxnLst/>
            <a:rect r="r" b="b" t="t" l="l"/>
            <a:pathLst>
              <a:path h="1644777" w="1650779">
                <a:moveTo>
                  <a:pt x="0" y="0"/>
                </a:moveTo>
                <a:lnTo>
                  <a:pt x="1650779" y="0"/>
                </a:lnTo>
                <a:lnTo>
                  <a:pt x="1650779" y="1644777"/>
                </a:lnTo>
                <a:lnTo>
                  <a:pt x="0" y="16447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2502119" y="-766435"/>
            <a:ext cx="3086100" cy="11601215"/>
            <a:chOff x="0" y="0"/>
            <a:chExt cx="812800" cy="3055464"/>
          </a:xfrm>
        </p:grpSpPr>
        <p:sp>
          <p:nvSpPr>
            <p:cNvPr name="Freeform 8" id="8"/>
            <p:cNvSpPr/>
            <p:nvPr/>
          </p:nvSpPr>
          <p:spPr>
            <a:xfrm flipH="false" flipV="false" rot="0">
              <a:off x="0" y="0"/>
              <a:ext cx="812800" cy="3055464"/>
            </a:xfrm>
            <a:custGeom>
              <a:avLst/>
              <a:gdLst/>
              <a:ahLst/>
              <a:cxnLst/>
              <a:rect r="r" b="b" t="t" l="l"/>
              <a:pathLst>
                <a:path h="3055464" w="812800">
                  <a:moveTo>
                    <a:pt x="127941" y="0"/>
                  </a:moveTo>
                  <a:lnTo>
                    <a:pt x="684859" y="0"/>
                  </a:lnTo>
                  <a:cubicBezTo>
                    <a:pt x="718791" y="0"/>
                    <a:pt x="751333" y="13479"/>
                    <a:pt x="775327" y="37473"/>
                  </a:cubicBezTo>
                  <a:cubicBezTo>
                    <a:pt x="799321" y="61467"/>
                    <a:pt x="812800" y="94009"/>
                    <a:pt x="812800" y="127941"/>
                  </a:cubicBezTo>
                  <a:lnTo>
                    <a:pt x="812800" y="2927523"/>
                  </a:lnTo>
                  <a:cubicBezTo>
                    <a:pt x="812800" y="2961455"/>
                    <a:pt x="799321" y="2993997"/>
                    <a:pt x="775327" y="3017991"/>
                  </a:cubicBezTo>
                  <a:cubicBezTo>
                    <a:pt x="751333" y="3041984"/>
                    <a:pt x="718791" y="3055464"/>
                    <a:pt x="684859" y="3055464"/>
                  </a:cubicBezTo>
                  <a:lnTo>
                    <a:pt x="127941" y="3055464"/>
                  </a:lnTo>
                  <a:cubicBezTo>
                    <a:pt x="94009" y="3055464"/>
                    <a:pt x="61467" y="3041984"/>
                    <a:pt x="37473" y="3017991"/>
                  </a:cubicBezTo>
                  <a:cubicBezTo>
                    <a:pt x="13479" y="2993997"/>
                    <a:pt x="0" y="2961455"/>
                    <a:pt x="0" y="2927523"/>
                  </a:cubicBezTo>
                  <a:lnTo>
                    <a:pt x="0" y="127941"/>
                  </a:lnTo>
                  <a:cubicBezTo>
                    <a:pt x="0" y="94009"/>
                    <a:pt x="13479" y="61467"/>
                    <a:pt x="37473" y="37473"/>
                  </a:cubicBezTo>
                  <a:cubicBezTo>
                    <a:pt x="61467" y="13479"/>
                    <a:pt x="94009" y="0"/>
                    <a:pt x="127941" y="0"/>
                  </a:cubicBezTo>
                  <a:close/>
                </a:path>
              </a:pathLst>
            </a:custGeom>
            <a:solidFill>
              <a:srgbClr val="8BB4D9"/>
            </a:solidFill>
          </p:spPr>
        </p:sp>
        <p:sp>
          <p:nvSpPr>
            <p:cNvPr name="TextBox 9" id="9"/>
            <p:cNvSpPr txBox="true"/>
            <p:nvPr/>
          </p:nvSpPr>
          <p:spPr>
            <a:xfrm>
              <a:off x="0" y="-47625"/>
              <a:ext cx="812800" cy="3103089"/>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939517" y="2982332"/>
            <a:ext cx="6297107" cy="896620"/>
          </a:xfrm>
          <a:prstGeom prst="rect">
            <a:avLst/>
          </a:prstGeom>
        </p:spPr>
        <p:txBody>
          <a:bodyPr anchor="t" rtlCol="false" tIns="0" lIns="0" bIns="0" rIns="0">
            <a:spAutoFit/>
          </a:bodyPr>
          <a:lstStyle/>
          <a:p>
            <a:pPr algn="l">
              <a:lnSpc>
                <a:spcPts val="6800"/>
              </a:lnSpc>
            </a:pPr>
            <a:r>
              <a:rPr lang="en-US" sz="6800">
                <a:solidFill>
                  <a:srgbClr val="8BB4D9"/>
                </a:solidFill>
                <a:latin typeface="Fredoka"/>
                <a:ea typeface="Fredoka"/>
                <a:cs typeface="Fredoka"/>
                <a:sym typeface="Fredoka"/>
              </a:rPr>
              <a:t>AGENDA</a:t>
            </a:r>
          </a:p>
        </p:txBody>
      </p:sp>
      <p:sp>
        <p:nvSpPr>
          <p:cNvPr name="TextBox 11" id="11"/>
          <p:cNvSpPr txBox="true"/>
          <p:nvPr/>
        </p:nvSpPr>
        <p:spPr>
          <a:xfrm rot="0">
            <a:off x="8783161" y="2314076"/>
            <a:ext cx="7874246" cy="6668938"/>
          </a:xfrm>
          <a:prstGeom prst="rect">
            <a:avLst/>
          </a:prstGeom>
        </p:spPr>
        <p:txBody>
          <a:bodyPr anchor="t" rtlCol="false" tIns="0" lIns="0" bIns="0" rIns="0">
            <a:spAutoFit/>
          </a:bodyPr>
          <a:lstStyle/>
          <a:p>
            <a:pPr algn="l" marL="635476" indent="-317738" lvl="1">
              <a:lnSpc>
                <a:spcPts val="4120"/>
              </a:lnSpc>
              <a:buAutoNum type="arabicPeriod" startAt="1"/>
            </a:pPr>
            <a:r>
              <a:rPr lang="en-US" b="true" sz="2943">
                <a:solidFill>
                  <a:srgbClr val="231F20"/>
                </a:solidFill>
                <a:latin typeface="TT Firs Neue Bold"/>
                <a:ea typeface="TT Firs Neue Bold"/>
                <a:cs typeface="TT Firs Neue Bold"/>
                <a:sym typeface="TT Firs Neue Bold"/>
              </a:rPr>
              <a:t>Brief introduction</a:t>
            </a:r>
          </a:p>
          <a:p>
            <a:pPr algn="l" marL="635476" indent="-317738" lvl="1">
              <a:lnSpc>
                <a:spcPts val="4120"/>
              </a:lnSpc>
              <a:buAutoNum type="arabicPeriod" startAt="1"/>
            </a:pPr>
            <a:r>
              <a:rPr lang="en-US" b="true" sz="2943">
                <a:solidFill>
                  <a:srgbClr val="231F20"/>
                </a:solidFill>
                <a:latin typeface="TT Firs Neue Bold"/>
                <a:ea typeface="TT Firs Neue Bold"/>
                <a:cs typeface="TT Firs Neue Bold"/>
                <a:sym typeface="TT Firs Neue Bold"/>
              </a:rPr>
              <a:t>Research objectives</a:t>
            </a:r>
          </a:p>
          <a:p>
            <a:pPr algn="l" marL="635476" indent="-317738" lvl="1">
              <a:lnSpc>
                <a:spcPts val="4120"/>
              </a:lnSpc>
              <a:buAutoNum type="arabicPeriod" startAt="1"/>
            </a:pPr>
            <a:r>
              <a:rPr lang="en-US" b="true" sz="2943">
                <a:solidFill>
                  <a:srgbClr val="231F20"/>
                </a:solidFill>
                <a:latin typeface="TT Firs Neue Bold"/>
                <a:ea typeface="TT Firs Neue Bold"/>
                <a:cs typeface="TT Firs Neue Bold"/>
                <a:sym typeface="TT Firs Neue Bold"/>
              </a:rPr>
              <a:t>Brief summary of literature review</a:t>
            </a:r>
          </a:p>
          <a:p>
            <a:pPr algn="l" marL="635476" indent="-317738" lvl="1">
              <a:lnSpc>
                <a:spcPts val="4120"/>
              </a:lnSpc>
              <a:buAutoNum type="arabicPeriod" startAt="1"/>
            </a:pPr>
            <a:r>
              <a:rPr lang="en-US" b="true" sz="2943">
                <a:solidFill>
                  <a:srgbClr val="231F20"/>
                </a:solidFill>
                <a:latin typeface="TT Firs Neue Bold"/>
                <a:ea typeface="TT Firs Neue Bold"/>
                <a:cs typeface="TT Firs Neue Bold"/>
                <a:sym typeface="TT Firs Neue Bold"/>
              </a:rPr>
              <a:t>Rese</a:t>
            </a:r>
            <a:r>
              <a:rPr lang="en-US" b="true" sz="2943">
                <a:solidFill>
                  <a:srgbClr val="231F20"/>
                </a:solidFill>
                <a:latin typeface="TT Firs Neue Bold"/>
                <a:ea typeface="TT Firs Neue Bold"/>
                <a:cs typeface="TT Firs Neue Bold"/>
                <a:sym typeface="TT Firs Neue Bold"/>
              </a:rPr>
              <a:t>a</a:t>
            </a:r>
            <a:r>
              <a:rPr lang="en-US" b="true" sz="2943">
                <a:solidFill>
                  <a:srgbClr val="231F20"/>
                </a:solidFill>
                <a:latin typeface="TT Firs Neue Bold"/>
                <a:ea typeface="TT Firs Neue Bold"/>
                <a:cs typeface="TT Firs Neue Bold"/>
                <a:sym typeface="TT Firs Neue Bold"/>
              </a:rPr>
              <a:t>rch methodology and research framework</a:t>
            </a:r>
          </a:p>
          <a:p>
            <a:pPr algn="l" marL="635476" indent="-317738" lvl="1">
              <a:lnSpc>
                <a:spcPts val="4120"/>
              </a:lnSpc>
              <a:buAutoNum type="arabicPeriod" startAt="1"/>
            </a:pPr>
            <a:r>
              <a:rPr lang="en-US" b="true" sz="2943">
                <a:solidFill>
                  <a:srgbClr val="231F20"/>
                </a:solidFill>
                <a:latin typeface="TT Firs Neue Bold"/>
                <a:ea typeface="TT Firs Neue Bold"/>
                <a:cs typeface="TT Firs Neue Bold"/>
                <a:sym typeface="TT Firs Neue Bold"/>
              </a:rPr>
              <a:t>Data analysis and interpretation</a:t>
            </a:r>
          </a:p>
          <a:p>
            <a:pPr algn="l" marL="635476" indent="-317738" lvl="1">
              <a:lnSpc>
                <a:spcPts val="4120"/>
              </a:lnSpc>
              <a:buAutoNum type="arabicPeriod" startAt="1"/>
            </a:pPr>
            <a:r>
              <a:rPr lang="en-US" b="true" sz="2943">
                <a:solidFill>
                  <a:srgbClr val="231F20"/>
                </a:solidFill>
                <a:latin typeface="TT Firs Neue Bold"/>
                <a:ea typeface="TT Firs Neue Bold"/>
                <a:cs typeface="TT Firs Neue Bold"/>
                <a:sym typeface="TT Firs Neue Bold"/>
              </a:rPr>
              <a:t>Segmentation and Personas</a:t>
            </a:r>
          </a:p>
          <a:p>
            <a:pPr algn="l" marL="635476" indent="-317738" lvl="1">
              <a:lnSpc>
                <a:spcPts val="4120"/>
              </a:lnSpc>
              <a:buAutoNum type="arabicPeriod" startAt="1"/>
            </a:pPr>
            <a:r>
              <a:rPr lang="en-US" b="true" sz="2943">
                <a:solidFill>
                  <a:srgbClr val="231F20"/>
                </a:solidFill>
                <a:latin typeface="TT Firs Neue Bold"/>
                <a:ea typeface="TT Firs Neue Bold"/>
                <a:cs typeface="TT Firs Neue Bold"/>
                <a:sym typeface="TT Firs Neue Bold"/>
              </a:rPr>
              <a:t> Framework</a:t>
            </a:r>
          </a:p>
          <a:p>
            <a:pPr algn="l" marL="635476" indent="-317738" lvl="1">
              <a:lnSpc>
                <a:spcPts val="4120"/>
              </a:lnSpc>
              <a:buAutoNum type="arabicPeriod" startAt="1"/>
            </a:pPr>
            <a:r>
              <a:rPr lang="en-US" b="true" sz="2943">
                <a:solidFill>
                  <a:srgbClr val="231F20"/>
                </a:solidFill>
                <a:latin typeface="TT Firs Neue Bold"/>
                <a:ea typeface="TT Firs Neue Bold"/>
                <a:cs typeface="TT Firs Neue Bold"/>
                <a:sym typeface="TT Firs Neue Bold"/>
              </a:rPr>
              <a:t>Key findings and conclusions</a:t>
            </a:r>
          </a:p>
          <a:p>
            <a:pPr algn="l" marL="635476" indent="-317738" lvl="1">
              <a:lnSpc>
                <a:spcPts val="4120"/>
              </a:lnSpc>
              <a:buAutoNum type="arabicPeriod" startAt="1"/>
            </a:pPr>
            <a:r>
              <a:rPr lang="en-US" b="true" sz="2943">
                <a:solidFill>
                  <a:srgbClr val="231F20"/>
                </a:solidFill>
                <a:latin typeface="TT Firs Neue Bold"/>
                <a:ea typeface="TT Firs Neue Bold"/>
                <a:cs typeface="TT Firs Neue Bold"/>
                <a:sym typeface="TT Firs Neue Bold"/>
              </a:rPr>
              <a:t>Managerial Implications &amp; Recommendations</a:t>
            </a:r>
          </a:p>
          <a:p>
            <a:pPr algn="l" marL="635476" indent="-317738" lvl="1">
              <a:lnSpc>
                <a:spcPts val="4120"/>
              </a:lnSpc>
              <a:buAutoNum type="arabicPeriod" startAt="1"/>
            </a:pPr>
            <a:r>
              <a:rPr lang="en-US" b="true" sz="2943">
                <a:solidFill>
                  <a:srgbClr val="231F20"/>
                </a:solidFill>
                <a:latin typeface="TT Firs Neue Bold"/>
                <a:ea typeface="TT Firs Neue Bold"/>
                <a:cs typeface="TT Firs Neue Bold"/>
                <a:sym typeface="TT Firs Neue Bold"/>
              </a:rPr>
              <a:t>Limitations and future scope of study</a:t>
            </a:r>
          </a:p>
          <a:p>
            <a:pPr algn="l">
              <a:lnSpc>
                <a:spcPts val="4120"/>
              </a:lnSpc>
            </a:pPr>
          </a:p>
        </p:txBody>
      </p:sp>
      <p:sp>
        <p:nvSpPr>
          <p:cNvPr name="Freeform 12" id="12"/>
          <p:cNvSpPr/>
          <p:nvPr/>
        </p:nvSpPr>
        <p:spPr>
          <a:xfrm flipH="false" flipV="false" rot="0">
            <a:off x="9569047" y="791585"/>
            <a:ext cx="1021139" cy="997168"/>
          </a:xfrm>
          <a:custGeom>
            <a:avLst/>
            <a:gdLst/>
            <a:ahLst/>
            <a:cxnLst/>
            <a:rect r="r" b="b" t="t" l="l"/>
            <a:pathLst>
              <a:path h="997168" w="1021139">
                <a:moveTo>
                  <a:pt x="0" y="0"/>
                </a:moveTo>
                <a:lnTo>
                  <a:pt x="1021138" y="0"/>
                </a:lnTo>
                <a:lnTo>
                  <a:pt x="1021138" y="997168"/>
                </a:lnTo>
                <a:lnTo>
                  <a:pt x="0" y="9971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7516475" y="8504886"/>
            <a:ext cx="1543050" cy="1506828"/>
          </a:xfrm>
          <a:custGeom>
            <a:avLst/>
            <a:gdLst/>
            <a:ahLst/>
            <a:cxnLst/>
            <a:rect r="r" b="b" t="t" l="l"/>
            <a:pathLst>
              <a:path h="1506828" w="1543050">
                <a:moveTo>
                  <a:pt x="0" y="0"/>
                </a:moveTo>
                <a:lnTo>
                  <a:pt x="1543050" y="0"/>
                </a:lnTo>
                <a:lnTo>
                  <a:pt x="1543050" y="1506828"/>
                </a:lnTo>
                <a:lnTo>
                  <a:pt x="0" y="15068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4048494">
            <a:off x="6388695" y="119345"/>
            <a:ext cx="2247845" cy="1818711"/>
          </a:xfrm>
          <a:custGeom>
            <a:avLst/>
            <a:gdLst/>
            <a:ahLst/>
            <a:cxnLst/>
            <a:rect r="r" b="b" t="t" l="l"/>
            <a:pathLst>
              <a:path h="1818711" w="2247845">
                <a:moveTo>
                  <a:pt x="0" y="0"/>
                </a:moveTo>
                <a:lnTo>
                  <a:pt x="2247845" y="0"/>
                </a:lnTo>
                <a:lnTo>
                  <a:pt x="2247845" y="1818710"/>
                </a:lnTo>
                <a:lnTo>
                  <a:pt x="0" y="18187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6309974" y="-396190"/>
            <a:ext cx="8115300" cy="4030562"/>
            <a:chOff x="0" y="0"/>
            <a:chExt cx="1257272" cy="624439"/>
          </a:xfrm>
        </p:grpSpPr>
        <p:sp>
          <p:nvSpPr>
            <p:cNvPr name="Freeform 4" id="4"/>
            <p:cNvSpPr/>
            <p:nvPr/>
          </p:nvSpPr>
          <p:spPr>
            <a:xfrm flipH="false" flipV="false" rot="0">
              <a:off x="0" y="0"/>
              <a:ext cx="1257272" cy="624439"/>
            </a:xfrm>
            <a:custGeom>
              <a:avLst/>
              <a:gdLst/>
              <a:ahLst/>
              <a:cxnLst/>
              <a:rect r="r" b="b" t="t" l="l"/>
              <a:pathLst>
                <a:path h="624439" w="1257272">
                  <a:moveTo>
                    <a:pt x="28620" y="0"/>
                  </a:moveTo>
                  <a:lnTo>
                    <a:pt x="1228653" y="0"/>
                  </a:lnTo>
                  <a:cubicBezTo>
                    <a:pt x="1244459" y="0"/>
                    <a:pt x="1257272" y="12813"/>
                    <a:pt x="1257272" y="28620"/>
                  </a:cubicBezTo>
                  <a:lnTo>
                    <a:pt x="1257272" y="595820"/>
                  </a:lnTo>
                  <a:cubicBezTo>
                    <a:pt x="1257272" y="611626"/>
                    <a:pt x="1244459" y="624439"/>
                    <a:pt x="1228653" y="624439"/>
                  </a:cubicBezTo>
                  <a:lnTo>
                    <a:pt x="28620" y="624439"/>
                  </a:lnTo>
                  <a:cubicBezTo>
                    <a:pt x="12813" y="624439"/>
                    <a:pt x="0" y="611626"/>
                    <a:pt x="0" y="595820"/>
                  </a:cubicBezTo>
                  <a:lnTo>
                    <a:pt x="0" y="28620"/>
                  </a:lnTo>
                  <a:cubicBezTo>
                    <a:pt x="0" y="12813"/>
                    <a:pt x="12813" y="0"/>
                    <a:pt x="28620" y="0"/>
                  </a:cubicBezTo>
                  <a:close/>
                </a:path>
              </a:pathLst>
            </a:custGeom>
            <a:solidFill>
              <a:srgbClr val="FCFCDD"/>
            </a:solidFill>
          </p:spPr>
        </p:sp>
      </p:grpSp>
      <p:sp>
        <p:nvSpPr>
          <p:cNvPr name="Freeform 5" id="5"/>
          <p:cNvSpPr/>
          <p:nvPr/>
        </p:nvSpPr>
        <p:spPr>
          <a:xfrm flipH="false" flipV="false" rot="0">
            <a:off x="15536516" y="117303"/>
            <a:ext cx="3992317" cy="4508777"/>
          </a:xfrm>
          <a:custGeom>
            <a:avLst/>
            <a:gdLst/>
            <a:ahLst/>
            <a:cxnLst/>
            <a:rect r="r" b="b" t="t" l="l"/>
            <a:pathLst>
              <a:path h="4508777" w="3992317">
                <a:moveTo>
                  <a:pt x="0" y="0"/>
                </a:moveTo>
                <a:lnTo>
                  <a:pt x="3992317" y="0"/>
                </a:lnTo>
                <a:lnTo>
                  <a:pt x="3992317" y="4508778"/>
                </a:lnTo>
                <a:lnTo>
                  <a:pt x="0" y="45087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514350" y="9778448"/>
            <a:ext cx="20001260" cy="508552"/>
            <a:chOff x="0" y="0"/>
            <a:chExt cx="5267822" cy="133940"/>
          </a:xfrm>
        </p:grpSpPr>
        <p:sp>
          <p:nvSpPr>
            <p:cNvPr name="Freeform 7" id="7"/>
            <p:cNvSpPr/>
            <p:nvPr/>
          </p:nvSpPr>
          <p:spPr>
            <a:xfrm flipH="false" flipV="false" rot="0">
              <a:off x="0" y="0"/>
              <a:ext cx="5267821" cy="133940"/>
            </a:xfrm>
            <a:custGeom>
              <a:avLst/>
              <a:gdLst/>
              <a:ahLst/>
              <a:cxnLst/>
              <a:rect r="r" b="b" t="t" l="l"/>
              <a:pathLst>
                <a:path h="133940" w="5267821">
                  <a:moveTo>
                    <a:pt x="0" y="0"/>
                  </a:moveTo>
                  <a:lnTo>
                    <a:pt x="5267821" y="0"/>
                  </a:lnTo>
                  <a:lnTo>
                    <a:pt x="5267821" y="133940"/>
                  </a:lnTo>
                  <a:lnTo>
                    <a:pt x="0" y="133940"/>
                  </a:lnTo>
                  <a:close/>
                </a:path>
              </a:pathLst>
            </a:custGeom>
            <a:solidFill>
              <a:srgbClr val="8BB4D9"/>
            </a:solidFill>
          </p:spPr>
        </p:sp>
        <p:sp>
          <p:nvSpPr>
            <p:cNvPr name="TextBox 8" id="8"/>
            <p:cNvSpPr txBox="true"/>
            <p:nvPr/>
          </p:nvSpPr>
          <p:spPr>
            <a:xfrm>
              <a:off x="0" y="-47625"/>
              <a:ext cx="5267822" cy="181565"/>
            </a:xfrm>
            <a:prstGeom prst="rect">
              <a:avLst/>
            </a:prstGeom>
          </p:spPr>
          <p:txBody>
            <a:bodyPr anchor="ctr" rtlCol="false" tIns="50800" lIns="50800" bIns="50800" rIns="50800"/>
            <a:lstStyle/>
            <a:p>
              <a:pPr algn="ctr">
                <a:lnSpc>
                  <a:spcPts val="3359"/>
                </a:lnSpc>
              </a:pPr>
            </a:p>
          </p:txBody>
        </p:sp>
      </p:grpSp>
      <p:sp>
        <p:nvSpPr>
          <p:cNvPr name="TextBox 9" id="9"/>
          <p:cNvSpPr txBox="true"/>
          <p:nvPr/>
        </p:nvSpPr>
        <p:spPr>
          <a:xfrm rot="0">
            <a:off x="1028700" y="1418557"/>
            <a:ext cx="6658648" cy="953135"/>
          </a:xfrm>
          <a:prstGeom prst="rect">
            <a:avLst/>
          </a:prstGeom>
        </p:spPr>
        <p:txBody>
          <a:bodyPr anchor="t" rtlCol="false" tIns="0" lIns="0" bIns="0" rIns="0">
            <a:spAutoFit/>
          </a:bodyPr>
          <a:lstStyle/>
          <a:p>
            <a:pPr algn="l">
              <a:lnSpc>
                <a:spcPts val="7480"/>
              </a:lnSpc>
            </a:pPr>
            <a:r>
              <a:rPr lang="en-US" sz="6800">
                <a:solidFill>
                  <a:srgbClr val="8BB4D9"/>
                </a:solidFill>
                <a:latin typeface="Fredoka"/>
                <a:ea typeface="Fredoka"/>
                <a:cs typeface="Fredoka"/>
                <a:sym typeface="Fredoka"/>
              </a:rPr>
              <a:t>INTRODUCTION</a:t>
            </a:r>
          </a:p>
        </p:txBody>
      </p:sp>
      <p:sp>
        <p:nvSpPr>
          <p:cNvPr name="TextBox 10" id="10"/>
          <p:cNvSpPr txBox="true"/>
          <p:nvPr/>
        </p:nvSpPr>
        <p:spPr>
          <a:xfrm rot="0">
            <a:off x="827545" y="3548647"/>
            <a:ext cx="15992998" cy="4967122"/>
          </a:xfrm>
          <a:prstGeom prst="rect">
            <a:avLst/>
          </a:prstGeom>
        </p:spPr>
        <p:txBody>
          <a:bodyPr anchor="t" rtlCol="false" tIns="0" lIns="0" bIns="0" rIns="0">
            <a:spAutoFit/>
          </a:bodyPr>
          <a:lstStyle/>
          <a:p>
            <a:pPr algn="l">
              <a:lnSpc>
                <a:spcPts val="3934"/>
              </a:lnSpc>
            </a:pPr>
            <a:r>
              <a:rPr lang="en-US" sz="2810">
                <a:solidFill>
                  <a:srgbClr val="0B0A0A"/>
                </a:solidFill>
                <a:latin typeface="Poppins"/>
                <a:ea typeface="Poppins"/>
                <a:cs typeface="Poppins"/>
                <a:sym typeface="Poppins"/>
              </a:rPr>
              <a:t>Augmented Reality (AR) is an immersive digital technology that overlays virtual</a:t>
            </a:r>
          </a:p>
          <a:p>
            <a:pPr algn="l">
              <a:lnSpc>
                <a:spcPts val="3934"/>
              </a:lnSpc>
            </a:pPr>
            <a:r>
              <a:rPr lang="en-US" sz="2810">
                <a:solidFill>
                  <a:srgbClr val="0B0A0A"/>
                </a:solidFill>
                <a:latin typeface="Poppins"/>
                <a:ea typeface="Poppins"/>
                <a:cs typeface="Poppins"/>
                <a:sym typeface="Poppins"/>
              </a:rPr>
              <a:t> elements onto the real world, enabling consumers to interact with products in real time and transforming traditional online shopping experiences.</a:t>
            </a:r>
          </a:p>
          <a:p>
            <a:pPr algn="l">
              <a:lnSpc>
                <a:spcPts val="3934"/>
              </a:lnSpc>
            </a:pPr>
          </a:p>
          <a:p>
            <a:pPr algn="l" marL="606829" indent="-303414" lvl="1">
              <a:lnSpc>
                <a:spcPts val="3934"/>
              </a:lnSpc>
              <a:buFont typeface="Arial"/>
              <a:buChar char="•"/>
            </a:pPr>
            <a:r>
              <a:rPr lang="en-US" sz="2810">
                <a:solidFill>
                  <a:srgbClr val="0B0A0A"/>
                </a:solidFill>
                <a:latin typeface="Poppins"/>
                <a:ea typeface="Poppins"/>
                <a:cs typeface="Poppins"/>
                <a:sym typeface="Poppins"/>
              </a:rPr>
              <a:t>Rapid growth of e-commerce has reshaped how consumers shop online</a:t>
            </a:r>
          </a:p>
          <a:p>
            <a:pPr algn="l" marL="606829" indent="-303414" lvl="1">
              <a:lnSpc>
                <a:spcPts val="3934"/>
              </a:lnSpc>
              <a:buFont typeface="Arial"/>
              <a:buChar char="•"/>
            </a:pPr>
            <a:r>
              <a:rPr lang="en-US" sz="2810">
                <a:solidFill>
                  <a:srgbClr val="0B0A0A"/>
                </a:solidFill>
                <a:latin typeface="Poppins"/>
                <a:ea typeface="Poppins"/>
                <a:cs typeface="Poppins"/>
                <a:sym typeface="Poppins"/>
              </a:rPr>
              <a:t>Online shopping lacks physical interaction,</a:t>
            </a:r>
            <a:r>
              <a:rPr lang="en-US" sz="2810">
                <a:solidFill>
                  <a:srgbClr val="0B0A0A"/>
                </a:solidFill>
                <a:latin typeface="Poppins"/>
                <a:ea typeface="Poppins"/>
                <a:cs typeface="Poppins"/>
                <a:sym typeface="Poppins"/>
              </a:rPr>
              <a:t> increasing uncertainty and perceived risk</a:t>
            </a:r>
          </a:p>
          <a:p>
            <a:pPr algn="l" marL="606829" indent="-303414" lvl="1">
              <a:lnSpc>
                <a:spcPts val="3934"/>
              </a:lnSpc>
              <a:buFont typeface="Arial"/>
              <a:buChar char="•"/>
            </a:pPr>
            <a:r>
              <a:rPr lang="en-US" sz="2810">
                <a:solidFill>
                  <a:srgbClr val="0B0A0A"/>
                </a:solidFill>
                <a:latin typeface="Poppins"/>
                <a:ea typeface="Poppins"/>
                <a:cs typeface="Poppins"/>
                <a:sym typeface="Poppins"/>
              </a:rPr>
              <a:t>Fashion retail faces challenges related to fit, appearance, and purchase confidence</a:t>
            </a:r>
          </a:p>
          <a:p>
            <a:pPr algn="l" marL="606829" indent="-303414" lvl="1">
              <a:lnSpc>
                <a:spcPts val="3934"/>
              </a:lnSpc>
              <a:buFont typeface="Arial"/>
              <a:buChar char="•"/>
            </a:pPr>
            <a:r>
              <a:rPr lang="en-US" sz="2810">
                <a:solidFill>
                  <a:srgbClr val="0B0A0A"/>
                </a:solidFill>
                <a:latin typeface="Poppins"/>
                <a:ea typeface="Poppins"/>
                <a:cs typeface="Poppins"/>
                <a:sym typeface="Poppins"/>
              </a:rPr>
              <a:t>AR enables interactive product visualisation through virtual try-on features</a:t>
            </a:r>
          </a:p>
          <a:p>
            <a:pPr algn="l" marL="606829" indent="-303414" lvl="1">
              <a:lnSpc>
                <a:spcPts val="3934"/>
              </a:lnSpc>
              <a:buFont typeface="Arial"/>
              <a:buChar char="•"/>
            </a:pPr>
            <a:r>
              <a:rPr lang="en-US" sz="2810">
                <a:solidFill>
                  <a:srgbClr val="0B0A0A"/>
                </a:solidFill>
                <a:latin typeface="Poppins"/>
                <a:ea typeface="Poppins"/>
                <a:cs typeface="Poppins"/>
                <a:sym typeface="Poppins"/>
              </a:rPr>
              <a:t>AR try-on tools are increasingly adopted to enhance online shopping experiences</a:t>
            </a:r>
          </a:p>
          <a:p>
            <a:pPr algn="l">
              <a:lnSpc>
                <a:spcPts val="3934"/>
              </a:lnSpc>
            </a:pPr>
          </a:p>
        </p:txBody>
      </p:sp>
      <p:sp>
        <p:nvSpPr>
          <p:cNvPr name="Freeform 11" id="11"/>
          <p:cNvSpPr/>
          <p:nvPr/>
        </p:nvSpPr>
        <p:spPr>
          <a:xfrm flipH="false" flipV="false" rot="0">
            <a:off x="9996769" y="1374524"/>
            <a:ext cx="1021139" cy="997168"/>
          </a:xfrm>
          <a:custGeom>
            <a:avLst/>
            <a:gdLst/>
            <a:ahLst/>
            <a:cxnLst/>
            <a:rect r="r" b="b" t="t" l="l"/>
            <a:pathLst>
              <a:path h="997168" w="1021139">
                <a:moveTo>
                  <a:pt x="0" y="0"/>
                </a:moveTo>
                <a:lnTo>
                  <a:pt x="1021138" y="0"/>
                </a:lnTo>
                <a:lnTo>
                  <a:pt x="1021138" y="997168"/>
                </a:lnTo>
                <a:lnTo>
                  <a:pt x="0" y="9971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600616" y="-753414"/>
            <a:ext cx="1543050" cy="1506828"/>
          </a:xfrm>
          <a:custGeom>
            <a:avLst/>
            <a:gdLst/>
            <a:ahLst/>
            <a:cxnLst/>
            <a:rect r="r" b="b" t="t" l="l"/>
            <a:pathLst>
              <a:path h="1506828" w="1543050">
                <a:moveTo>
                  <a:pt x="0" y="0"/>
                </a:moveTo>
                <a:lnTo>
                  <a:pt x="1543050" y="0"/>
                </a:lnTo>
                <a:lnTo>
                  <a:pt x="1543050" y="1506828"/>
                </a:lnTo>
                <a:lnTo>
                  <a:pt x="0" y="15068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10396401">
            <a:off x="16408752" y="4704766"/>
            <a:ext cx="2247845" cy="1818711"/>
          </a:xfrm>
          <a:custGeom>
            <a:avLst/>
            <a:gdLst/>
            <a:ahLst/>
            <a:cxnLst/>
            <a:rect r="r" b="b" t="t" l="l"/>
            <a:pathLst>
              <a:path h="1818711" w="2247845">
                <a:moveTo>
                  <a:pt x="0" y="0"/>
                </a:moveTo>
                <a:lnTo>
                  <a:pt x="2247845" y="0"/>
                </a:lnTo>
                <a:lnTo>
                  <a:pt x="2247845" y="1818710"/>
                </a:lnTo>
                <a:lnTo>
                  <a:pt x="0" y="18187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445392" y="6908431"/>
            <a:ext cx="3862083" cy="3951299"/>
            <a:chOff x="0" y="0"/>
            <a:chExt cx="1017199" cy="1040725"/>
          </a:xfrm>
        </p:grpSpPr>
        <p:sp>
          <p:nvSpPr>
            <p:cNvPr name="Freeform 4" id="4"/>
            <p:cNvSpPr/>
            <p:nvPr/>
          </p:nvSpPr>
          <p:spPr>
            <a:xfrm flipH="false" flipV="false" rot="0">
              <a:off x="0" y="0"/>
              <a:ext cx="1017199" cy="1040725"/>
            </a:xfrm>
            <a:custGeom>
              <a:avLst/>
              <a:gdLst/>
              <a:ahLst/>
              <a:cxnLst/>
              <a:rect r="r" b="b" t="t" l="l"/>
              <a:pathLst>
                <a:path h="1040725" w="1017199">
                  <a:moveTo>
                    <a:pt x="1017199" y="70161"/>
                  </a:moveTo>
                  <a:lnTo>
                    <a:pt x="1017199" y="970564"/>
                  </a:lnTo>
                  <a:cubicBezTo>
                    <a:pt x="1017199" y="989172"/>
                    <a:pt x="1009807" y="1007017"/>
                    <a:pt x="996649" y="1020175"/>
                  </a:cubicBezTo>
                  <a:cubicBezTo>
                    <a:pt x="983492" y="1033333"/>
                    <a:pt x="965646" y="1040725"/>
                    <a:pt x="947038" y="1040725"/>
                  </a:cubicBezTo>
                  <a:lnTo>
                    <a:pt x="70161" y="1040725"/>
                  </a:lnTo>
                  <a:cubicBezTo>
                    <a:pt x="51553" y="1040725"/>
                    <a:pt x="33707" y="1033333"/>
                    <a:pt x="20550" y="1020175"/>
                  </a:cubicBezTo>
                  <a:cubicBezTo>
                    <a:pt x="7392" y="1007017"/>
                    <a:pt x="0" y="989172"/>
                    <a:pt x="0" y="970564"/>
                  </a:cubicBezTo>
                  <a:lnTo>
                    <a:pt x="0" y="70161"/>
                  </a:lnTo>
                  <a:cubicBezTo>
                    <a:pt x="0" y="51553"/>
                    <a:pt x="7392" y="33707"/>
                    <a:pt x="20550" y="20550"/>
                  </a:cubicBezTo>
                  <a:cubicBezTo>
                    <a:pt x="33707" y="7392"/>
                    <a:pt x="51553" y="0"/>
                    <a:pt x="70161" y="0"/>
                  </a:cubicBezTo>
                  <a:lnTo>
                    <a:pt x="947038" y="0"/>
                  </a:lnTo>
                  <a:cubicBezTo>
                    <a:pt x="965646" y="0"/>
                    <a:pt x="983492" y="7392"/>
                    <a:pt x="996649" y="20550"/>
                  </a:cubicBezTo>
                  <a:cubicBezTo>
                    <a:pt x="1009807" y="33707"/>
                    <a:pt x="1017199" y="51553"/>
                    <a:pt x="1017199" y="70161"/>
                  </a:cubicBezTo>
                  <a:close/>
                </a:path>
              </a:pathLst>
            </a:custGeom>
            <a:solidFill>
              <a:srgbClr val="F4CBC6"/>
            </a:solidFill>
          </p:spPr>
        </p:sp>
        <p:sp>
          <p:nvSpPr>
            <p:cNvPr name="TextBox 5" id="5"/>
            <p:cNvSpPr txBox="true"/>
            <p:nvPr/>
          </p:nvSpPr>
          <p:spPr>
            <a:xfrm>
              <a:off x="0" y="-57150"/>
              <a:ext cx="1017199" cy="1097875"/>
            </a:xfrm>
            <a:prstGeom prst="rect">
              <a:avLst/>
            </a:prstGeom>
          </p:spPr>
          <p:txBody>
            <a:bodyPr anchor="ctr" rtlCol="false" tIns="50800" lIns="50800" bIns="50800" rIns="50800"/>
            <a:lstStyle/>
            <a:p>
              <a:pPr algn="ctr">
                <a:lnSpc>
                  <a:spcPts val="3306"/>
                </a:lnSpc>
              </a:pPr>
            </a:p>
          </p:txBody>
        </p:sp>
      </p:grpSp>
      <p:sp>
        <p:nvSpPr>
          <p:cNvPr name="Freeform 6" id="6"/>
          <p:cNvSpPr/>
          <p:nvPr/>
        </p:nvSpPr>
        <p:spPr>
          <a:xfrm flipH="false" flipV="false" rot="0">
            <a:off x="1028700" y="3538443"/>
            <a:ext cx="1084565" cy="1084565"/>
          </a:xfrm>
          <a:custGeom>
            <a:avLst/>
            <a:gdLst/>
            <a:ahLst/>
            <a:cxnLst/>
            <a:rect r="r" b="b" t="t" l="l"/>
            <a:pathLst>
              <a:path h="1084565" w="1084565">
                <a:moveTo>
                  <a:pt x="0" y="0"/>
                </a:moveTo>
                <a:lnTo>
                  <a:pt x="1084565" y="0"/>
                </a:lnTo>
                <a:lnTo>
                  <a:pt x="1084565" y="1084565"/>
                </a:lnTo>
                <a:lnTo>
                  <a:pt x="0" y="10845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28700" y="5489915"/>
            <a:ext cx="1084565" cy="1084565"/>
          </a:xfrm>
          <a:custGeom>
            <a:avLst/>
            <a:gdLst/>
            <a:ahLst/>
            <a:cxnLst/>
            <a:rect r="r" b="b" t="t" l="l"/>
            <a:pathLst>
              <a:path h="1084565" w="1084565">
                <a:moveTo>
                  <a:pt x="0" y="0"/>
                </a:moveTo>
                <a:lnTo>
                  <a:pt x="1084565" y="0"/>
                </a:lnTo>
                <a:lnTo>
                  <a:pt x="1084565" y="1084565"/>
                </a:lnTo>
                <a:lnTo>
                  <a:pt x="0" y="10845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98994">
            <a:off x="14212099" y="850905"/>
            <a:ext cx="2936803" cy="3901550"/>
          </a:xfrm>
          <a:custGeom>
            <a:avLst/>
            <a:gdLst/>
            <a:ahLst/>
            <a:cxnLst/>
            <a:rect r="r" b="b" t="t" l="l"/>
            <a:pathLst>
              <a:path h="3901550" w="2936803">
                <a:moveTo>
                  <a:pt x="0" y="0"/>
                </a:moveTo>
                <a:lnTo>
                  <a:pt x="2936803" y="0"/>
                </a:lnTo>
                <a:lnTo>
                  <a:pt x="2936803" y="3901550"/>
                </a:lnTo>
                <a:lnTo>
                  <a:pt x="0" y="39015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028700" y="966843"/>
            <a:ext cx="14153866" cy="1896110"/>
          </a:xfrm>
          <a:prstGeom prst="rect">
            <a:avLst/>
          </a:prstGeom>
        </p:spPr>
        <p:txBody>
          <a:bodyPr anchor="t" rtlCol="false" tIns="0" lIns="0" bIns="0" rIns="0">
            <a:spAutoFit/>
          </a:bodyPr>
          <a:lstStyle/>
          <a:p>
            <a:pPr algn="l" marL="0" indent="0" lvl="0">
              <a:lnSpc>
                <a:spcPts val="7480"/>
              </a:lnSpc>
              <a:spcBef>
                <a:spcPct val="0"/>
              </a:spcBef>
            </a:pPr>
            <a:r>
              <a:rPr lang="en-US" sz="6800">
                <a:solidFill>
                  <a:srgbClr val="8BB4D9"/>
                </a:solidFill>
                <a:latin typeface="Fredoka"/>
                <a:ea typeface="Fredoka"/>
                <a:cs typeface="Fredoka"/>
                <a:sym typeface="Fredoka"/>
              </a:rPr>
              <a:t>R</a:t>
            </a:r>
            <a:r>
              <a:rPr lang="en-US" sz="6800" strike="noStrike" u="none">
                <a:solidFill>
                  <a:srgbClr val="8BB4D9"/>
                </a:solidFill>
                <a:latin typeface="Fredoka"/>
                <a:ea typeface="Fredoka"/>
                <a:cs typeface="Fredoka"/>
                <a:sym typeface="Fredoka"/>
              </a:rPr>
              <a:t>ESEARCH PROBLEM AN</a:t>
            </a:r>
            <a:r>
              <a:rPr lang="en-US" sz="6800" strike="noStrike" u="none">
                <a:solidFill>
                  <a:srgbClr val="8BB4D9"/>
                </a:solidFill>
                <a:latin typeface="Fredoka"/>
                <a:ea typeface="Fredoka"/>
                <a:cs typeface="Fredoka"/>
                <a:sym typeface="Fredoka"/>
              </a:rPr>
              <a:t>D OBJEC</a:t>
            </a:r>
            <a:r>
              <a:rPr lang="en-US" sz="6800" strike="noStrike" u="none">
                <a:solidFill>
                  <a:srgbClr val="8BB4D9"/>
                </a:solidFill>
                <a:latin typeface="Fredoka"/>
                <a:ea typeface="Fredoka"/>
                <a:cs typeface="Fredoka"/>
                <a:sym typeface="Fredoka"/>
              </a:rPr>
              <a:t>T</a:t>
            </a:r>
            <a:r>
              <a:rPr lang="en-US" sz="6800" strike="noStrike" u="none">
                <a:solidFill>
                  <a:srgbClr val="8BB4D9"/>
                </a:solidFill>
                <a:latin typeface="Fredoka"/>
                <a:ea typeface="Fredoka"/>
                <a:cs typeface="Fredoka"/>
                <a:sym typeface="Fredoka"/>
              </a:rPr>
              <a:t>IVE</a:t>
            </a:r>
            <a:r>
              <a:rPr lang="en-US" sz="6800" strike="noStrike" u="none">
                <a:solidFill>
                  <a:srgbClr val="8BB4D9"/>
                </a:solidFill>
                <a:latin typeface="Fredoka"/>
                <a:ea typeface="Fredoka"/>
                <a:cs typeface="Fredoka"/>
                <a:sym typeface="Fredoka"/>
              </a:rPr>
              <a:t>S</a:t>
            </a:r>
          </a:p>
        </p:txBody>
      </p:sp>
      <p:grpSp>
        <p:nvGrpSpPr>
          <p:cNvPr name="Group 10" id="10"/>
          <p:cNvGrpSpPr/>
          <p:nvPr/>
        </p:nvGrpSpPr>
        <p:grpSpPr>
          <a:xfrm rot="0">
            <a:off x="-514350" y="9778448"/>
            <a:ext cx="20001260" cy="508552"/>
            <a:chOff x="0" y="0"/>
            <a:chExt cx="5267822" cy="133940"/>
          </a:xfrm>
        </p:grpSpPr>
        <p:sp>
          <p:nvSpPr>
            <p:cNvPr name="Freeform 11" id="11"/>
            <p:cNvSpPr/>
            <p:nvPr/>
          </p:nvSpPr>
          <p:spPr>
            <a:xfrm flipH="false" flipV="false" rot="0">
              <a:off x="0" y="0"/>
              <a:ext cx="5267821" cy="133940"/>
            </a:xfrm>
            <a:custGeom>
              <a:avLst/>
              <a:gdLst/>
              <a:ahLst/>
              <a:cxnLst/>
              <a:rect r="r" b="b" t="t" l="l"/>
              <a:pathLst>
                <a:path h="133940" w="5267821">
                  <a:moveTo>
                    <a:pt x="0" y="0"/>
                  </a:moveTo>
                  <a:lnTo>
                    <a:pt x="5267821" y="0"/>
                  </a:lnTo>
                  <a:lnTo>
                    <a:pt x="5267821" y="133940"/>
                  </a:lnTo>
                  <a:lnTo>
                    <a:pt x="0" y="133940"/>
                  </a:lnTo>
                  <a:close/>
                </a:path>
              </a:pathLst>
            </a:custGeom>
            <a:solidFill>
              <a:srgbClr val="8BB4D9"/>
            </a:solidFill>
          </p:spPr>
        </p:sp>
        <p:sp>
          <p:nvSpPr>
            <p:cNvPr name="TextBox 12" id="12"/>
            <p:cNvSpPr txBox="true"/>
            <p:nvPr/>
          </p:nvSpPr>
          <p:spPr>
            <a:xfrm>
              <a:off x="0" y="-47625"/>
              <a:ext cx="5267822" cy="181565"/>
            </a:xfrm>
            <a:prstGeom prst="rect">
              <a:avLst/>
            </a:prstGeom>
          </p:spPr>
          <p:txBody>
            <a:bodyPr anchor="ctr" rtlCol="false" tIns="50800" lIns="50800" bIns="50800" rIns="50800"/>
            <a:lstStyle/>
            <a:p>
              <a:pPr algn="ctr">
                <a:lnSpc>
                  <a:spcPts val="3359"/>
                </a:lnSpc>
              </a:pPr>
            </a:p>
          </p:txBody>
        </p:sp>
      </p:grpSp>
      <p:sp>
        <p:nvSpPr>
          <p:cNvPr name="Freeform 13" id="13"/>
          <p:cNvSpPr/>
          <p:nvPr/>
        </p:nvSpPr>
        <p:spPr>
          <a:xfrm flipH="false" flipV="false" rot="0">
            <a:off x="16575879" y="7886912"/>
            <a:ext cx="1021139" cy="997168"/>
          </a:xfrm>
          <a:custGeom>
            <a:avLst/>
            <a:gdLst/>
            <a:ahLst/>
            <a:cxnLst/>
            <a:rect r="r" b="b" t="t" l="l"/>
            <a:pathLst>
              <a:path h="997168" w="1021139">
                <a:moveTo>
                  <a:pt x="0" y="0"/>
                </a:moveTo>
                <a:lnTo>
                  <a:pt x="1021138" y="0"/>
                </a:lnTo>
                <a:lnTo>
                  <a:pt x="1021138" y="997169"/>
                </a:lnTo>
                <a:lnTo>
                  <a:pt x="0" y="9971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771525" y="3327311"/>
            <a:ext cx="1543050" cy="1506828"/>
          </a:xfrm>
          <a:custGeom>
            <a:avLst/>
            <a:gdLst/>
            <a:ahLst/>
            <a:cxnLst/>
            <a:rect r="r" b="b" t="t" l="l"/>
            <a:pathLst>
              <a:path h="1506828" w="1543050">
                <a:moveTo>
                  <a:pt x="0" y="0"/>
                </a:moveTo>
                <a:lnTo>
                  <a:pt x="1543050" y="0"/>
                </a:lnTo>
                <a:lnTo>
                  <a:pt x="1543050" y="1506828"/>
                </a:lnTo>
                <a:lnTo>
                  <a:pt x="0" y="15068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1138155">
            <a:off x="10679333" y="-231526"/>
            <a:ext cx="2247845" cy="1818711"/>
          </a:xfrm>
          <a:custGeom>
            <a:avLst/>
            <a:gdLst/>
            <a:ahLst/>
            <a:cxnLst/>
            <a:rect r="r" b="b" t="t" l="l"/>
            <a:pathLst>
              <a:path h="1818711" w="2247845">
                <a:moveTo>
                  <a:pt x="0" y="0"/>
                </a:moveTo>
                <a:lnTo>
                  <a:pt x="2247844" y="0"/>
                </a:lnTo>
                <a:lnTo>
                  <a:pt x="2247844" y="1818711"/>
                </a:lnTo>
                <a:lnTo>
                  <a:pt x="0" y="18187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6" id="16"/>
          <p:cNvSpPr txBox="true"/>
          <p:nvPr/>
        </p:nvSpPr>
        <p:spPr>
          <a:xfrm rot="0">
            <a:off x="2893232" y="3387725"/>
            <a:ext cx="11208468" cy="1755775"/>
          </a:xfrm>
          <a:prstGeom prst="rect">
            <a:avLst/>
          </a:prstGeom>
        </p:spPr>
        <p:txBody>
          <a:bodyPr anchor="t" rtlCol="false" tIns="0" lIns="0" bIns="0" rIns="0">
            <a:spAutoFit/>
          </a:bodyPr>
          <a:lstStyle/>
          <a:p>
            <a:pPr algn="l">
              <a:lnSpc>
                <a:spcPts val="3499"/>
              </a:lnSpc>
              <a:spcBef>
                <a:spcPct val="0"/>
              </a:spcBef>
            </a:pPr>
            <a:r>
              <a:rPr lang="en-US" sz="2499">
                <a:solidFill>
                  <a:srgbClr val="0B0A0A"/>
                </a:solidFill>
                <a:latin typeface="Poppins"/>
                <a:ea typeface="Poppins"/>
                <a:cs typeface="Poppins"/>
                <a:sym typeface="Poppins"/>
              </a:rPr>
              <a:t>Despite the growing adoption of AR in online shopping, limited empirical research explains how AR influences customer trust and marketing outcomes, particularly considering the critical role of perceived accuracy in online fashion retail.</a:t>
            </a:r>
          </a:p>
        </p:txBody>
      </p:sp>
      <p:sp>
        <p:nvSpPr>
          <p:cNvPr name="TextBox 17" id="17"/>
          <p:cNvSpPr txBox="true"/>
          <p:nvPr/>
        </p:nvSpPr>
        <p:spPr>
          <a:xfrm rot="0">
            <a:off x="2501399" y="5333276"/>
            <a:ext cx="11208468" cy="3817569"/>
          </a:xfrm>
          <a:prstGeom prst="rect">
            <a:avLst/>
          </a:prstGeom>
        </p:spPr>
        <p:txBody>
          <a:bodyPr anchor="t" rtlCol="false" tIns="0" lIns="0" bIns="0" rIns="0">
            <a:spAutoFit/>
          </a:bodyPr>
          <a:lstStyle/>
          <a:p>
            <a:pPr algn="l" marL="583367" indent="-291684" lvl="1">
              <a:lnSpc>
                <a:spcPts val="3782"/>
              </a:lnSpc>
              <a:buFont typeface="Arial"/>
              <a:buChar char="•"/>
            </a:pPr>
            <a:r>
              <a:rPr lang="en-US" sz="2702">
                <a:solidFill>
                  <a:srgbClr val="0B0A0A"/>
                </a:solidFill>
                <a:latin typeface="Poppins"/>
                <a:ea typeface="Poppins"/>
                <a:cs typeface="Poppins"/>
                <a:sym typeface="Poppins"/>
              </a:rPr>
              <a:t>To examine the impact of AR try-on experience on technology acceptance beliefs</a:t>
            </a:r>
          </a:p>
          <a:p>
            <a:pPr algn="l" marL="583367" indent="-291684" lvl="1">
              <a:lnSpc>
                <a:spcPts val="3782"/>
              </a:lnSpc>
              <a:buFont typeface="Arial"/>
              <a:buChar char="•"/>
            </a:pPr>
            <a:r>
              <a:rPr lang="en-US" sz="2702">
                <a:solidFill>
                  <a:srgbClr val="0B0A0A"/>
                </a:solidFill>
                <a:latin typeface="Poppins"/>
                <a:ea typeface="Poppins"/>
                <a:cs typeface="Poppins"/>
                <a:sym typeface="Poppins"/>
              </a:rPr>
              <a:t>To analyse the mediating role of customer trust</a:t>
            </a:r>
          </a:p>
          <a:p>
            <a:pPr algn="l" marL="583367" indent="-291684" lvl="1">
              <a:lnSpc>
                <a:spcPts val="3782"/>
              </a:lnSpc>
              <a:buFont typeface="Arial"/>
              <a:buChar char="•"/>
            </a:pPr>
            <a:r>
              <a:rPr lang="en-US" sz="2702">
                <a:solidFill>
                  <a:srgbClr val="0B0A0A"/>
                </a:solidFill>
                <a:latin typeface="Poppins"/>
                <a:ea typeface="Poppins"/>
                <a:cs typeface="Poppins"/>
                <a:sym typeface="Poppins"/>
              </a:rPr>
              <a:t>To evaluate the effect of AR on customer engagement</a:t>
            </a:r>
          </a:p>
          <a:p>
            <a:pPr algn="l" marL="583367" indent="-291684" lvl="1">
              <a:lnSpc>
                <a:spcPts val="3782"/>
              </a:lnSpc>
              <a:buFont typeface="Arial"/>
              <a:buChar char="•"/>
            </a:pPr>
            <a:r>
              <a:rPr lang="en-US" sz="2702">
                <a:solidFill>
                  <a:srgbClr val="0B0A0A"/>
                </a:solidFill>
                <a:latin typeface="Poppins"/>
                <a:ea typeface="Poppins"/>
                <a:cs typeface="Poppins"/>
                <a:sym typeface="Poppins"/>
              </a:rPr>
              <a:t>To examine the impact of trust on purchase intention</a:t>
            </a:r>
          </a:p>
          <a:p>
            <a:pPr algn="l" marL="583367" indent="-291684" lvl="1">
              <a:lnSpc>
                <a:spcPts val="3782"/>
              </a:lnSpc>
              <a:spcBef>
                <a:spcPct val="0"/>
              </a:spcBef>
              <a:buFont typeface="Arial"/>
              <a:buChar char="•"/>
            </a:pPr>
            <a:r>
              <a:rPr lang="en-US" sz="2702">
                <a:solidFill>
                  <a:srgbClr val="0B0A0A"/>
                </a:solidFill>
                <a:latin typeface="Poppins"/>
                <a:ea typeface="Poppins"/>
                <a:cs typeface="Poppins"/>
                <a:sym typeface="Poppins"/>
              </a:rPr>
              <a:t>To examine the role of perceived accuracy of AR in influencing customer trust and purchase decisions</a:t>
            </a:r>
          </a:p>
          <a:p>
            <a:pPr algn="l">
              <a:lnSpc>
                <a:spcPts val="3782"/>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605436" y="1422007"/>
            <a:ext cx="16653864" cy="8620542"/>
            <a:chOff x="0" y="0"/>
            <a:chExt cx="4133799" cy="2139779"/>
          </a:xfrm>
        </p:grpSpPr>
        <p:sp>
          <p:nvSpPr>
            <p:cNvPr name="Freeform 4" id="4"/>
            <p:cNvSpPr/>
            <p:nvPr/>
          </p:nvSpPr>
          <p:spPr>
            <a:xfrm flipH="false" flipV="false" rot="0">
              <a:off x="0" y="0"/>
              <a:ext cx="4133799" cy="2139779"/>
            </a:xfrm>
            <a:custGeom>
              <a:avLst/>
              <a:gdLst/>
              <a:ahLst/>
              <a:cxnLst/>
              <a:rect r="r" b="b" t="t" l="l"/>
              <a:pathLst>
                <a:path h="2139779" w="4133799">
                  <a:moveTo>
                    <a:pt x="16271" y="0"/>
                  </a:moveTo>
                  <a:lnTo>
                    <a:pt x="4117529" y="0"/>
                  </a:lnTo>
                  <a:cubicBezTo>
                    <a:pt x="4121844" y="0"/>
                    <a:pt x="4125982" y="1714"/>
                    <a:pt x="4129034" y="4766"/>
                  </a:cubicBezTo>
                  <a:cubicBezTo>
                    <a:pt x="4132085" y="7817"/>
                    <a:pt x="4133799" y="11955"/>
                    <a:pt x="4133799" y="16271"/>
                  </a:cubicBezTo>
                  <a:lnTo>
                    <a:pt x="4133799" y="2123509"/>
                  </a:lnTo>
                  <a:cubicBezTo>
                    <a:pt x="4133799" y="2127824"/>
                    <a:pt x="4132085" y="2131962"/>
                    <a:pt x="4129034" y="2135013"/>
                  </a:cubicBezTo>
                  <a:cubicBezTo>
                    <a:pt x="4125982" y="2138065"/>
                    <a:pt x="4121844" y="2139779"/>
                    <a:pt x="4117529" y="2139779"/>
                  </a:cubicBezTo>
                  <a:lnTo>
                    <a:pt x="16271" y="2139779"/>
                  </a:lnTo>
                  <a:cubicBezTo>
                    <a:pt x="11955" y="2139779"/>
                    <a:pt x="7817" y="2138065"/>
                    <a:pt x="4766" y="2135013"/>
                  </a:cubicBezTo>
                  <a:cubicBezTo>
                    <a:pt x="1714" y="2131962"/>
                    <a:pt x="0" y="2127824"/>
                    <a:pt x="0" y="2123509"/>
                  </a:cubicBezTo>
                  <a:lnTo>
                    <a:pt x="0" y="16271"/>
                  </a:lnTo>
                  <a:cubicBezTo>
                    <a:pt x="0" y="11955"/>
                    <a:pt x="1714" y="7817"/>
                    <a:pt x="4766" y="4766"/>
                  </a:cubicBezTo>
                  <a:cubicBezTo>
                    <a:pt x="7817" y="1714"/>
                    <a:pt x="11955" y="0"/>
                    <a:pt x="16271" y="0"/>
                  </a:cubicBezTo>
                  <a:close/>
                </a:path>
              </a:pathLst>
            </a:custGeom>
            <a:solidFill>
              <a:srgbClr val="F4CBC6"/>
            </a:solidFill>
            <a:ln cap="rnd">
              <a:noFill/>
              <a:prstDash val="solid"/>
              <a:round/>
            </a:ln>
          </p:spPr>
        </p:sp>
        <p:sp>
          <p:nvSpPr>
            <p:cNvPr name="TextBox 5" id="5"/>
            <p:cNvSpPr txBox="true"/>
            <p:nvPr/>
          </p:nvSpPr>
          <p:spPr>
            <a:xfrm>
              <a:off x="0" y="-47625"/>
              <a:ext cx="4133799" cy="2187404"/>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6" id="6"/>
          <p:cNvSpPr/>
          <p:nvPr/>
        </p:nvSpPr>
        <p:spPr>
          <a:xfrm flipH="false" flipV="false" rot="0">
            <a:off x="17490787" y="3943571"/>
            <a:ext cx="1539269" cy="1503136"/>
          </a:xfrm>
          <a:custGeom>
            <a:avLst/>
            <a:gdLst/>
            <a:ahLst/>
            <a:cxnLst/>
            <a:rect r="r" b="b" t="t" l="l"/>
            <a:pathLst>
              <a:path h="1503136" w="1539269">
                <a:moveTo>
                  <a:pt x="0" y="0"/>
                </a:moveTo>
                <a:lnTo>
                  <a:pt x="1539269" y="0"/>
                </a:lnTo>
                <a:lnTo>
                  <a:pt x="1539269" y="1503136"/>
                </a:lnTo>
                <a:lnTo>
                  <a:pt x="0" y="15031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0" y="721754"/>
            <a:ext cx="628650" cy="613893"/>
          </a:xfrm>
          <a:custGeom>
            <a:avLst/>
            <a:gdLst/>
            <a:ahLst/>
            <a:cxnLst/>
            <a:rect r="r" b="b" t="t" l="l"/>
            <a:pathLst>
              <a:path h="613893" w="628650">
                <a:moveTo>
                  <a:pt x="0" y="0"/>
                </a:moveTo>
                <a:lnTo>
                  <a:pt x="628650" y="0"/>
                </a:lnTo>
                <a:lnTo>
                  <a:pt x="628650" y="613892"/>
                </a:lnTo>
                <a:lnTo>
                  <a:pt x="0" y="6138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6293002">
            <a:off x="9584244" y="8627375"/>
            <a:ext cx="2111606" cy="1708481"/>
          </a:xfrm>
          <a:custGeom>
            <a:avLst/>
            <a:gdLst/>
            <a:ahLst/>
            <a:cxnLst/>
            <a:rect r="r" b="b" t="t" l="l"/>
            <a:pathLst>
              <a:path h="1708481" w="2111606">
                <a:moveTo>
                  <a:pt x="0" y="0"/>
                </a:moveTo>
                <a:lnTo>
                  <a:pt x="2111606" y="0"/>
                </a:lnTo>
                <a:lnTo>
                  <a:pt x="2111606" y="1708482"/>
                </a:lnTo>
                <a:lnTo>
                  <a:pt x="0" y="170848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2473029" y="1579258"/>
            <a:ext cx="13341941" cy="8306038"/>
          </a:xfrm>
          <a:custGeom>
            <a:avLst/>
            <a:gdLst/>
            <a:ahLst/>
            <a:cxnLst/>
            <a:rect r="r" b="b" t="t" l="l"/>
            <a:pathLst>
              <a:path h="8306038" w="13341941">
                <a:moveTo>
                  <a:pt x="0" y="0"/>
                </a:moveTo>
                <a:lnTo>
                  <a:pt x="13341942" y="0"/>
                </a:lnTo>
                <a:lnTo>
                  <a:pt x="13341942" y="8306039"/>
                </a:lnTo>
                <a:lnTo>
                  <a:pt x="0" y="8306039"/>
                </a:lnTo>
                <a:lnTo>
                  <a:pt x="0" y="0"/>
                </a:lnTo>
                <a:close/>
              </a:path>
            </a:pathLst>
          </a:custGeom>
          <a:blipFill>
            <a:blip r:embed="rId9"/>
            <a:stretch>
              <a:fillRect l="0" t="-4113" r="0" b="-3656"/>
            </a:stretch>
          </a:blipFill>
          <a:ln w="38100" cap="sq">
            <a:solidFill>
              <a:srgbClr val="000000"/>
            </a:solidFill>
            <a:prstDash val="solid"/>
            <a:miter/>
          </a:ln>
        </p:spPr>
      </p:sp>
      <p:sp>
        <p:nvSpPr>
          <p:cNvPr name="TextBox 10" id="10"/>
          <p:cNvSpPr txBox="true"/>
          <p:nvPr/>
        </p:nvSpPr>
        <p:spPr>
          <a:xfrm rot="0">
            <a:off x="1028700" y="525386"/>
            <a:ext cx="15515359" cy="896620"/>
          </a:xfrm>
          <a:prstGeom prst="rect">
            <a:avLst/>
          </a:prstGeom>
        </p:spPr>
        <p:txBody>
          <a:bodyPr anchor="t" rtlCol="false" tIns="0" lIns="0" bIns="0" rIns="0">
            <a:spAutoFit/>
          </a:bodyPr>
          <a:lstStyle/>
          <a:p>
            <a:pPr algn="ctr">
              <a:lnSpc>
                <a:spcPts val="6800"/>
              </a:lnSpc>
            </a:pPr>
            <a:r>
              <a:rPr lang="en-US" sz="6800">
                <a:solidFill>
                  <a:srgbClr val="8BB4D9"/>
                </a:solidFill>
                <a:latin typeface="Fredoka"/>
                <a:ea typeface="Fredoka"/>
                <a:cs typeface="Fredoka"/>
                <a:sym typeface="Fredoka"/>
              </a:rPr>
              <a:t>LIT</a:t>
            </a:r>
            <a:r>
              <a:rPr lang="en-US" sz="6800">
                <a:solidFill>
                  <a:srgbClr val="8BB4D9"/>
                </a:solidFill>
                <a:latin typeface="Fredoka"/>
                <a:ea typeface="Fredoka"/>
                <a:cs typeface="Fredoka"/>
                <a:sym typeface="Fredoka"/>
              </a:rPr>
              <a:t>ERATURE REVIEW AND GAPS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0" y="3368076"/>
            <a:ext cx="11184711" cy="6435019"/>
            <a:chOff x="0" y="0"/>
            <a:chExt cx="2213724" cy="1273645"/>
          </a:xfrm>
        </p:grpSpPr>
        <p:sp>
          <p:nvSpPr>
            <p:cNvPr name="Freeform 4" id="4"/>
            <p:cNvSpPr/>
            <p:nvPr/>
          </p:nvSpPr>
          <p:spPr>
            <a:xfrm flipH="false" flipV="false" rot="0">
              <a:off x="0" y="0"/>
              <a:ext cx="2213724" cy="1273645"/>
            </a:xfrm>
            <a:custGeom>
              <a:avLst/>
              <a:gdLst/>
              <a:ahLst/>
              <a:cxnLst/>
              <a:rect r="r" b="b" t="t" l="l"/>
              <a:pathLst>
                <a:path h="1273645" w="2213724">
                  <a:moveTo>
                    <a:pt x="13152" y="0"/>
                  </a:moveTo>
                  <a:lnTo>
                    <a:pt x="2200572" y="0"/>
                  </a:lnTo>
                  <a:cubicBezTo>
                    <a:pt x="2207836" y="0"/>
                    <a:pt x="2213724" y="5888"/>
                    <a:pt x="2213724" y="13152"/>
                  </a:cubicBezTo>
                  <a:lnTo>
                    <a:pt x="2213724" y="1260494"/>
                  </a:lnTo>
                  <a:cubicBezTo>
                    <a:pt x="2213724" y="1267757"/>
                    <a:pt x="2207836" y="1273645"/>
                    <a:pt x="2200572" y="1273645"/>
                  </a:cubicBezTo>
                  <a:lnTo>
                    <a:pt x="13152" y="1273645"/>
                  </a:lnTo>
                  <a:cubicBezTo>
                    <a:pt x="5888" y="1273645"/>
                    <a:pt x="0" y="1267757"/>
                    <a:pt x="0" y="1260494"/>
                  </a:cubicBezTo>
                  <a:lnTo>
                    <a:pt x="0" y="13152"/>
                  </a:lnTo>
                  <a:cubicBezTo>
                    <a:pt x="0" y="5888"/>
                    <a:pt x="5888" y="0"/>
                    <a:pt x="13152" y="0"/>
                  </a:cubicBezTo>
                  <a:close/>
                </a:path>
              </a:pathLst>
            </a:custGeom>
            <a:solidFill>
              <a:srgbClr val="FCFCDD"/>
            </a:solidFill>
          </p:spPr>
        </p:sp>
      </p:grpSp>
      <p:sp>
        <p:nvSpPr>
          <p:cNvPr name="Freeform 5" id="5"/>
          <p:cNvSpPr/>
          <p:nvPr/>
        </p:nvSpPr>
        <p:spPr>
          <a:xfrm flipH="false" flipV="false" rot="0">
            <a:off x="17259300" y="7995771"/>
            <a:ext cx="1774661" cy="2291229"/>
          </a:xfrm>
          <a:custGeom>
            <a:avLst/>
            <a:gdLst/>
            <a:ahLst/>
            <a:cxnLst/>
            <a:rect r="r" b="b" t="t" l="l"/>
            <a:pathLst>
              <a:path h="2291229" w="1774661">
                <a:moveTo>
                  <a:pt x="0" y="0"/>
                </a:moveTo>
                <a:lnTo>
                  <a:pt x="1774661" y="0"/>
                </a:lnTo>
                <a:lnTo>
                  <a:pt x="1774661" y="2291229"/>
                </a:lnTo>
                <a:lnTo>
                  <a:pt x="0" y="22912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3159866" y="325837"/>
            <a:ext cx="14731505" cy="896620"/>
          </a:xfrm>
          <a:prstGeom prst="rect">
            <a:avLst/>
          </a:prstGeom>
        </p:spPr>
        <p:txBody>
          <a:bodyPr anchor="t" rtlCol="false" tIns="0" lIns="0" bIns="0" rIns="0">
            <a:spAutoFit/>
          </a:bodyPr>
          <a:lstStyle/>
          <a:p>
            <a:pPr algn="l">
              <a:lnSpc>
                <a:spcPts val="6800"/>
              </a:lnSpc>
            </a:pPr>
            <a:r>
              <a:rPr lang="en-US" sz="6800">
                <a:solidFill>
                  <a:srgbClr val="8BB4D9"/>
                </a:solidFill>
                <a:latin typeface="Fredoka"/>
                <a:ea typeface="Fredoka"/>
                <a:cs typeface="Fredoka"/>
                <a:sym typeface="Fredoka"/>
              </a:rPr>
              <a:t>QUA</a:t>
            </a:r>
            <a:r>
              <a:rPr lang="en-US" sz="6800">
                <a:solidFill>
                  <a:srgbClr val="8BB4D9"/>
                </a:solidFill>
                <a:latin typeface="Fredoka"/>
                <a:ea typeface="Fredoka"/>
                <a:cs typeface="Fredoka"/>
                <a:sym typeface="Fredoka"/>
              </a:rPr>
              <a:t>NTITATIVE ANALYSIS</a:t>
            </a:r>
          </a:p>
        </p:txBody>
      </p:sp>
      <p:grpSp>
        <p:nvGrpSpPr>
          <p:cNvPr name="Group 7" id="7"/>
          <p:cNvGrpSpPr/>
          <p:nvPr/>
        </p:nvGrpSpPr>
        <p:grpSpPr>
          <a:xfrm rot="0">
            <a:off x="-2502119" y="-766435"/>
            <a:ext cx="3086100" cy="11601215"/>
            <a:chOff x="0" y="0"/>
            <a:chExt cx="812800" cy="3055464"/>
          </a:xfrm>
        </p:grpSpPr>
        <p:sp>
          <p:nvSpPr>
            <p:cNvPr name="Freeform 8" id="8"/>
            <p:cNvSpPr/>
            <p:nvPr/>
          </p:nvSpPr>
          <p:spPr>
            <a:xfrm flipH="false" flipV="false" rot="0">
              <a:off x="0" y="0"/>
              <a:ext cx="812800" cy="3055464"/>
            </a:xfrm>
            <a:custGeom>
              <a:avLst/>
              <a:gdLst/>
              <a:ahLst/>
              <a:cxnLst/>
              <a:rect r="r" b="b" t="t" l="l"/>
              <a:pathLst>
                <a:path h="3055464" w="812800">
                  <a:moveTo>
                    <a:pt x="127941" y="0"/>
                  </a:moveTo>
                  <a:lnTo>
                    <a:pt x="684859" y="0"/>
                  </a:lnTo>
                  <a:cubicBezTo>
                    <a:pt x="718791" y="0"/>
                    <a:pt x="751333" y="13479"/>
                    <a:pt x="775327" y="37473"/>
                  </a:cubicBezTo>
                  <a:cubicBezTo>
                    <a:pt x="799321" y="61467"/>
                    <a:pt x="812800" y="94009"/>
                    <a:pt x="812800" y="127941"/>
                  </a:cubicBezTo>
                  <a:lnTo>
                    <a:pt x="812800" y="2927523"/>
                  </a:lnTo>
                  <a:cubicBezTo>
                    <a:pt x="812800" y="2961455"/>
                    <a:pt x="799321" y="2993997"/>
                    <a:pt x="775327" y="3017991"/>
                  </a:cubicBezTo>
                  <a:cubicBezTo>
                    <a:pt x="751333" y="3041984"/>
                    <a:pt x="718791" y="3055464"/>
                    <a:pt x="684859" y="3055464"/>
                  </a:cubicBezTo>
                  <a:lnTo>
                    <a:pt x="127941" y="3055464"/>
                  </a:lnTo>
                  <a:cubicBezTo>
                    <a:pt x="94009" y="3055464"/>
                    <a:pt x="61467" y="3041984"/>
                    <a:pt x="37473" y="3017991"/>
                  </a:cubicBezTo>
                  <a:cubicBezTo>
                    <a:pt x="13479" y="2993997"/>
                    <a:pt x="0" y="2961455"/>
                    <a:pt x="0" y="2927523"/>
                  </a:cubicBezTo>
                  <a:lnTo>
                    <a:pt x="0" y="127941"/>
                  </a:lnTo>
                  <a:cubicBezTo>
                    <a:pt x="0" y="94009"/>
                    <a:pt x="13479" y="61467"/>
                    <a:pt x="37473" y="37473"/>
                  </a:cubicBezTo>
                  <a:cubicBezTo>
                    <a:pt x="61467" y="13479"/>
                    <a:pt x="94009" y="0"/>
                    <a:pt x="127941" y="0"/>
                  </a:cubicBezTo>
                  <a:close/>
                </a:path>
              </a:pathLst>
            </a:custGeom>
            <a:solidFill>
              <a:srgbClr val="8BB4D9"/>
            </a:solidFill>
          </p:spPr>
        </p:sp>
        <p:sp>
          <p:nvSpPr>
            <p:cNvPr name="TextBox 9" id="9"/>
            <p:cNvSpPr txBox="true"/>
            <p:nvPr/>
          </p:nvSpPr>
          <p:spPr>
            <a:xfrm>
              <a:off x="0" y="-47625"/>
              <a:ext cx="812800" cy="3103089"/>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0">
            <a:off x="16886533" y="192487"/>
            <a:ext cx="856314" cy="836213"/>
          </a:xfrm>
          <a:custGeom>
            <a:avLst/>
            <a:gdLst/>
            <a:ahLst/>
            <a:cxnLst/>
            <a:rect r="r" b="b" t="t" l="l"/>
            <a:pathLst>
              <a:path h="836213" w="856314">
                <a:moveTo>
                  <a:pt x="0" y="0"/>
                </a:moveTo>
                <a:lnTo>
                  <a:pt x="856315" y="0"/>
                </a:lnTo>
                <a:lnTo>
                  <a:pt x="856315" y="836213"/>
                </a:lnTo>
                <a:lnTo>
                  <a:pt x="0" y="8362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7487834">
            <a:off x="4749074" y="8695459"/>
            <a:ext cx="2247845" cy="1818711"/>
          </a:xfrm>
          <a:custGeom>
            <a:avLst/>
            <a:gdLst/>
            <a:ahLst/>
            <a:cxnLst/>
            <a:rect r="r" b="b" t="t" l="l"/>
            <a:pathLst>
              <a:path h="1818711" w="2247845">
                <a:moveTo>
                  <a:pt x="0" y="0"/>
                </a:moveTo>
                <a:lnTo>
                  <a:pt x="2247845" y="0"/>
                </a:lnTo>
                <a:lnTo>
                  <a:pt x="2247845" y="1818710"/>
                </a:lnTo>
                <a:lnTo>
                  <a:pt x="0" y="18187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912055" y="3644301"/>
            <a:ext cx="9921882" cy="5890224"/>
          </a:xfrm>
          <a:custGeom>
            <a:avLst/>
            <a:gdLst/>
            <a:ahLst/>
            <a:cxnLst/>
            <a:rect r="r" b="b" t="t" l="l"/>
            <a:pathLst>
              <a:path h="5890224" w="9921882">
                <a:moveTo>
                  <a:pt x="0" y="0"/>
                </a:moveTo>
                <a:lnTo>
                  <a:pt x="9921883" y="0"/>
                </a:lnTo>
                <a:lnTo>
                  <a:pt x="9921883" y="5890224"/>
                </a:lnTo>
                <a:lnTo>
                  <a:pt x="0" y="5890224"/>
                </a:lnTo>
                <a:lnTo>
                  <a:pt x="0" y="0"/>
                </a:lnTo>
                <a:close/>
              </a:path>
            </a:pathLst>
          </a:custGeom>
          <a:blipFill>
            <a:blip r:embed="rId9"/>
            <a:stretch>
              <a:fillRect l="0" t="0" r="0" b="0"/>
            </a:stretch>
          </a:blipFill>
          <a:ln w="38100" cap="sq">
            <a:solidFill>
              <a:srgbClr val="000000"/>
            </a:solidFill>
            <a:prstDash val="solid"/>
            <a:miter/>
          </a:ln>
        </p:spPr>
      </p:sp>
      <p:sp>
        <p:nvSpPr>
          <p:cNvPr name="TextBox 13" id="13"/>
          <p:cNvSpPr txBox="true"/>
          <p:nvPr/>
        </p:nvSpPr>
        <p:spPr>
          <a:xfrm rot="0">
            <a:off x="1028700" y="1449741"/>
            <a:ext cx="7618512" cy="82486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231F20"/>
                </a:solidFill>
                <a:latin typeface="TT Firs Neue Bold"/>
                <a:ea typeface="TT Firs Neue Bold"/>
                <a:cs typeface="TT Firs Neue Bold"/>
                <a:sym typeface="TT Firs Neue Bold"/>
              </a:rPr>
              <a:t>Target population: Online fashion shoppers </a:t>
            </a:r>
          </a:p>
          <a:p>
            <a:pPr algn="l">
              <a:lnSpc>
                <a:spcPts val="3220"/>
              </a:lnSpc>
            </a:pPr>
          </a:p>
        </p:txBody>
      </p:sp>
      <p:sp>
        <p:nvSpPr>
          <p:cNvPr name="TextBox 14" id="14"/>
          <p:cNvSpPr txBox="true"/>
          <p:nvPr/>
        </p:nvSpPr>
        <p:spPr>
          <a:xfrm rot="0">
            <a:off x="1028700" y="2114586"/>
            <a:ext cx="8000901" cy="1784350"/>
          </a:xfrm>
          <a:prstGeom prst="rect">
            <a:avLst/>
          </a:prstGeom>
        </p:spPr>
        <p:txBody>
          <a:bodyPr anchor="t" rtlCol="false" tIns="0" lIns="0" bIns="0" rIns="0">
            <a:spAutoFit/>
          </a:bodyPr>
          <a:lstStyle/>
          <a:p>
            <a:pPr algn="l" marL="561339" indent="-280669" lvl="1">
              <a:lnSpc>
                <a:spcPts val="3639"/>
              </a:lnSpc>
              <a:buFont typeface="Arial"/>
              <a:buChar char="•"/>
            </a:pPr>
            <a:r>
              <a:rPr lang="en-US" b="true" sz="2599">
                <a:solidFill>
                  <a:srgbClr val="231F20"/>
                </a:solidFill>
                <a:latin typeface="TT Firs Neue Bold"/>
                <a:ea typeface="TT Firs Neue Bold"/>
                <a:cs typeface="TT Firs Neue Bold"/>
                <a:sym typeface="TT Firs Neue Bold"/>
              </a:rPr>
              <a:t>Sampling technique: Purposive sampling</a:t>
            </a:r>
          </a:p>
          <a:p>
            <a:pPr algn="l">
              <a:lnSpc>
                <a:spcPts val="3639"/>
              </a:lnSpc>
            </a:pPr>
            <a:r>
              <a:rPr lang="en-US" sz="2599" b="true">
                <a:solidFill>
                  <a:srgbClr val="231F20"/>
                </a:solidFill>
                <a:latin typeface="TT Firs Neue Bold"/>
                <a:ea typeface="TT Firs Neue Bold"/>
                <a:cs typeface="TT Firs Neue Bold"/>
                <a:sym typeface="TT Firs Neue Bold"/>
              </a:rPr>
              <a:t> ( respondents have prior AR try-on experience)</a:t>
            </a:r>
          </a:p>
          <a:p>
            <a:pPr algn="l">
              <a:lnSpc>
                <a:spcPts val="3639"/>
              </a:lnSpc>
            </a:pPr>
          </a:p>
          <a:p>
            <a:pPr algn="l">
              <a:lnSpc>
                <a:spcPts val="3359"/>
              </a:lnSpc>
            </a:pPr>
          </a:p>
        </p:txBody>
      </p:sp>
      <p:sp>
        <p:nvSpPr>
          <p:cNvPr name="TextBox 15" id="15"/>
          <p:cNvSpPr txBox="true"/>
          <p:nvPr/>
        </p:nvSpPr>
        <p:spPr>
          <a:xfrm rot="0">
            <a:off x="9705975" y="2105061"/>
            <a:ext cx="8781256" cy="1263015"/>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a:solidFill>
                  <a:srgbClr val="000000"/>
                </a:solidFill>
                <a:latin typeface="Poppins Bold"/>
                <a:ea typeface="Poppins Bold"/>
                <a:cs typeface="Poppins Bold"/>
                <a:sym typeface="Poppins Bold"/>
              </a:rPr>
              <a:t>   </a:t>
            </a:r>
            <a:r>
              <a:rPr lang="en-US" b="true" sz="2400">
                <a:solidFill>
                  <a:srgbClr val="000000"/>
                </a:solidFill>
                <a:latin typeface="Poppins Bold"/>
                <a:ea typeface="Poppins Bold"/>
                <a:cs typeface="Poppins Bold"/>
                <a:sym typeface="Poppins Bold"/>
              </a:rPr>
              <a:t>Sample size: 162 respondents</a:t>
            </a:r>
          </a:p>
          <a:p>
            <a:pPr algn="l">
              <a:lnSpc>
                <a:spcPts val="3359"/>
              </a:lnSpc>
            </a:pPr>
            <a:r>
              <a:rPr lang="en-US" b="true" sz="2400">
                <a:solidFill>
                  <a:srgbClr val="000000"/>
                </a:solidFill>
                <a:latin typeface="Poppins Bold"/>
                <a:ea typeface="Poppins Bold"/>
                <a:cs typeface="Poppins Bold"/>
                <a:sym typeface="Poppins Bold"/>
              </a:rPr>
              <a:t>           Total valid responses used for analysis: 140</a:t>
            </a:r>
          </a:p>
          <a:p>
            <a:pPr algn="l">
              <a:lnSpc>
                <a:spcPts val="3359"/>
              </a:lnSpc>
            </a:pPr>
          </a:p>
        </p:txBody>
      </p:sp>
      <p:sp>
        <p:nvSpPr>
          <p:cNvPr name="TextBox 16" id="16"/>
          <p:cNvSpPr txBox="true"/>
          <p:nvPr/>
        </p:nvSpPr>
        <p:spPr>
          <a:xfrm rot="0">
            <a:off x="9144000" y="1463711"/>
            <a:ext cx="10914705" cy="42227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231F20"/>
                </a:solidFill>
                <a:latin typeface="TT Firs Neue Bold"/>
                <a:ea typeface="TT Firs Neue Bold"/>
                <a:cs typeface="TT Firs Neue Bold"/>
                <a:sym typeface="TT Firs Neue Bold"/>
              </a:rPr>
              <a:t>Data collection tool: Structured online questionnaire</a:t>
            </a:r>
          </a:p>
        </p:txBody>
      </p:sp>
      <p:sp>
        <p:nvSpPr>
          <p:cNvPr name="TextBox 17" id="17"/>
          <p:cNvSpPr txBox="true"/>
          <p:nvPr/>
        </p:nvSpPr>
        <p:spPr>
          <a:xfrm rot="0">
            <a:off x="11157788" y="3577626"/>
            <a:ext cx="6585060" cy="629221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Poppins"/>
                <a:ea typeface="Poppins"/>
                <a:cs typeface="Poppins"/>
                <a:sym typeface="Poppins"/>
              </a:rPr>
              <a:t>   The highest </a:t>
            </a:r>
            <a:r>
              <a:rPr lang="en-US" sz="2400">
                <a:solidFill>
                  <a:srgbClr val="000000"/>
                </a:solidFill>
                <a:latin typeface="Poppins"/>
                <a:ea typeface="Poppins"/>
                <a:cs typeface="Poppins"/>
                <a:sym typeface="Poppins"/>
              </a:rPr>
              <a:t>average was Perceived Accuracy (4.21), showing respondents strongly value accurate AR visualization and fit prediction. </a:t>
            </a:r>
          </a:p>
          <a:p>
            <a:pPr algn="l">
              <a:lnSpc>
                <a:spcPts val="3359"/>
              </a:lnSpc>
            </a:pPr>
          </a:p>
          <a:p>
            <a:pPr algn="l" marL="518160" indent="-259080" lvl="1">
              <a:lnSpc>
                <a:spcPts val="3359"/>
              </a:lnSpc>
              <a:buFont typeface="Arial"/>
              <a:buChar char="•"/>
            </a:pPr>
            <a:r>
              <a:rPr lang="en-US" sz="2400">
                <a:solidFill>
                  <a:srgbClr val="000000"/>
                </a:solidFill>
                <a:latin typeface="Poppins"/>
                <a:ea typeface="Poppins"/>
                <a:cs typeface="Poppins"/>
                <a:sym typeface="Poppins"/>
              </a:rPr>
              <a:t>Customer Trust (4.02) and AR Experience (4.03) were also high, indicating positive acceptance of AR technologies. </a:t>
            </a:r>
          </a:p>
          <a:p>
            <a:pPr algn="l">
              <a:lnSpc>
                <a:spcPts val="3359"/>
              </a:lnSpc>
            </a:pPr>
          </a:p>
          <a:p>
            <a:pPr algn="l" marL="518160" indent="-259080" lvl="1">
              <a:lnSpc>
                <a:spcPts val="3359"/>
              </a:lnSpc>
              <a:buFont typeface="Arial"/>
              <a:buChar char="•"/>
            </a:pPr>
            <a:r>
              <a:rPr lang="en-US" sz="2400">
                <a:solidFill>
                  <a:srgbClr val="000000"/>
                </a:solidFill>
                <a:latin typeface="Poppins"/>
                <a:ea typeface="Poppins"/>
                <a:cs typeface="Poppins"/>
                <a:sym typeface="Poppins"/>
              </a:rPr>
              <a:t>Overall, all averages are close to 4, which suggests generally positive consumer perception toward AR-enabled online shopping experiences.</a:t>
            </a:r>
          </a:p>
          <a:p>
            <a:pPr algn="l">
              <a:lnSpc>
                <a:spcPts val="33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485864" y="6174174"/>
            <a:ext cx="17316273" cy="3604274"/>
            <a:chOff x="0" y="0"/>
            <a:chExt cx="2682744" cy="558396"/>
          </a:xfrm>
        </p:grpSpPr>
        <p:sp>
          <p:nvSpPr>
            <p:cNvPr name="Freeform 4" id="4"/>
            <p:cNvSpPr/>
            <p:nvPr/>
          </p:nvSpPr>
          <p:spPr>
            <a:xfrm flipH="false" flipV="false" rot="0">
              <a:off x="0" y="0"/>
              <a:ext cx="2682744" cy="558396"/>
            </a:xfrm>
            <a:custGeom>
              <a:avLst/>
              <a:gdLst/>
              <a:ahLst/>
              <a:cxnLst/>
              <a:rect r="r" b="b" t="t" l="l"/>
              <a:pathLst>
                <a:path h="558396" w="2682744">
                  <a:moveTo>
                    <a:pt x="13413" y="0"/>
                  </a:moveTo>
                  <a:lnTo>
                    <a:pt x="2669331" y="0"/>
                  </a:lnTo>
                  <a:cubicBezTo>
                    <a:pt x="2676739" y="0"/>
                    <a:pt x="2682744" y="6005"/>
                    <a:pt x="2682744" y="13413"/>
                  </a:cubicBezTo>
                  <a:lnTo>
                    <a:pt x="2682744" y="544984"/>
                  </a:lnTo>
                  <a:cubicBezTo>
                    <a:pt x="2682744" y="552391"/>
                    <a:pt x="2676739" y="558396"/>
                    <a:pt x="2669331" y="558396"/>
                  </a:cubicBezTo>
                  <a:lnTo>
                    <a:pt x="13413" y="558396"/>
                  </a:lnTo>
                  <a:cubicBezTo>
                    <a:pt x="6005" y="558396"/>
                    <a:pt x="0" y="552391"/>
                    <a:pt x="0" y="544984"/>
                  </a:cubicBezTo>
                  <a:lnTo>
                    <a:pt x="0" y="13413"/>
                  </a:lnTo>
                  <a:cubicBezTo>
                    <a:pt x="0" y="6005"/>
                    <a:pt x="6005" y="0"/>
                    <a:pt x="13413" y="0"/>
                  </a:cubicBezTo>
                  <a:close/>
                </a:path>
              </a:pathLst>
            </a:custGeom>
            <a:solidFill>
              <a:srgbClr val="FCFCDD"/>
            </a:solidFill>
            <a:ln w="38100" cap="rnd">
              <a:solidFill>
                <a:srgbClr val="000000"/>
              </a:solidFill>
              <a:prstDash val="solid"/>
              <a:round/>
            </a:ln>
          </p:spPr>
        </p:sp>
      </p:grpSp>
      <p:sp>
        <p:nvSpPr>
          <p:cNvPr name="Freeform 5" id="5"/>
          <p:cNvSpPr/>
          <p:nvPr/>
        </p:nvSpPr>
        <p:spPr>
          <a:xfrm flipH="true" flipV="false" rot="0">
            <a:off x="-397963" y="223867"/>
            <a:ext cx="1426663" cy="1863812"/>
          </a:xfrm>
          <a:custGeom>
            <a:avLst/>
            <a:gdLst/>
            <a:ahLst/>
            <a:cxnLst/>
            <a:rect r="r" b="b" t="t" l="l"/>
            <a:pathLst>
              <a:path h="1863812" w="1426663">
                <a:moveTo>
                  <a:pt x="1426663" y="0"/>
                </a:moveTo>
                <a:lnTo>
                  <a:pt x="0" y="0"/>
                </a:lnTo>
                <a:lnTo>
                  <a:pt x="0" y="1863812"/>
                </a:lnTo>
                <a:lnTo>
                  <a:pt x="1426663" y="1863812"/>
                </a:lnTo>
                <a:lnTo>
                  <a:pt x="142666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2268752" y="606316"/>
            <a:ext cx="15308476" cy="953135"/>
          </a:xfrm>
          <a:prstGeom prst="rect">
            <a:avLst/>
          </a:prstGeom>
        </p:spPr>
        <p:txBody>
          <a:bodyPr anchor="t" rtlCol="false" tIns="0" lIns="0" bIns="0" rIns="0">
            <a:spAutoFit/>
          </a:bodyPr>
          <a:lstStyle/>
          <a:p>
            <a:pPr algn="l" marL="0" indent="0" lvl="0">
              <a:lnSpc>
                <a:spcPts val="7480"/>
              </a:lnSpc>
              <a:spcBef>
                <a:spcPct val="0"/>
              </a:spcBef>
            </a:pPr>
            <a:r>
              <a:rPr lang="en-US" sz="6800">
                <a:solidFill>
                  <a:srgbClr val="8BB4D9"/>
                </a:solidFill>
                <a:latin typeface="Fredoka"/>
                <a:ea typeface="Fredoka"/>
                <a:cs typeface="Fredoka"/>
                <a:sym typeface="Fredoka"/>
              </a:rPr>
              <a:t>REG</a:t>
            </a:r>
            <a:r>
              <a:rPr lang="en-US" sz="6800" strike="noStrike" u="none">
                <a:solidFill>
                  <a:srgbClr val="8BB4D9"/>
                </a:solidFill>
                <a:latin typeface="Fredoka"/>
                <a:ea typeface="Fredoka"/>
                <a:cs typeface="Fredoka"/>
                <a:sym typeface="Fredoka"/>
              </a:rPr>
              <a:t>RESSION ANAL</a:t>
            </a:r>
            <a:r>
              <a:rPr lang="en-US" sz="6800" strike="noStrike" u="none">
                <a:solidFill>
                  <a:srgbClr val="8BB4D9"/>
                </a:solidFill>
                <a:latin typeface="Fredoka"/>
                <a:ea typeface="Fredoka"/>
                <a:cs typeface="Fredoka"/>
                <a:sym typeface="Fredoka"/>
              </a:rPr>
              <a:t>YSIS R</a:t>
            </a:r>
            <a:r>
              <a:rPr lang="en-US" sz="6800" strike="noStrike" u="none">
                <a:solidFill>
                  <a:srgbClr val="8BB4D9"/>
                </a:solidFill>
                <a:latin typeface="Fredoka"/>
                <a:ea typeface="Fredoka"/>
                <a:cs typeface="Fredoka"/>
                <a:sym typeface="Fredoka"/>
              </a:rPr>
              <a:t>ESULTS</a:t>
            </a:r>
          </a:p>
        </p:txBody>
      </p:sp>
      <p:grpSp>
        <p:nvGrpSpPr>
          <p:cNvPr name="Group 7" id="7"/>
          <p:cNvGrpSpPr/>
          <p:nvPr/>
        </p:nvGrpSpPr>
        <p:grpSpPr>
          <a:xfrm rot="0">
            <a:off x="-514350" y="9778448"/>
            <a:ext cx="20001260" cy="508552"/>
            <a:chOff x="0" y="0"/>
            <a:chExt cx="5267822" cy="133940"/>
          </a:xfrm>
        </p:grpSpPr>
        <p:sp>
          <p:nvSpPr>
            <p:cNvPr name="Freeform 8" id="8"/>
            <p:cNvSpPr/>
            <p:nvPr/>
          </p:nvSpPr>
          <p:spPr>
            <a:xfrm flipH="false" flipV="false" rot="0">
              <a:off x="0" y="0"/>
              <a:ext cx="5267821" cy="133940"/>
            </a:xfrm>
            <a:custGeom>
              <a:avLst/>
              <a:gdLst/>
              <a:ahLst/>
              <a:cxnLst/>
              <a:rect r="r" b="b" t="t" l="l"/>
              <a:pathLst>
                <a:path h="133940" w="5267821">
                  <a:moveTo>
                    <a:pt x="0" y="0"/>
                  </a:moveTo>
                  <a:lnTo>
                    <a:pt x="5267821" y="0"/>
                  </a:lnTo>
                  <a:lnTo>
                    <a:pt x="5267821" y="133940"/>
                  </a:lnTo>
                  <a:lnTo>
                    <a:pt x="0" y="133940"/>
                  </a:lnTo>
                  <a:close/>
                </a:path>
              </a:pathLst>
            </a:custGeom>
            <a:solidFill>
              <a:srgbClr val="8BB4D9"/>
            </a:solidFill>
          </p:spPr>
        </p:sp>
        <p:sp>
          <p:nvSpPr>
            <p:cNvPr name="TextBox 9" id="9"/>
            <p:cNvSpPr txBox="true"/>
            <p:nvPr/>
          </p:nvSpPr>
          <p:spPr>
            <a:xfrm>
              <a:off x="0" y="-47625"/>
              <a:ext cx="5267822" cy="181565"/>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0">
            <a:off x="17066659" y="530116"/>
            <a:ext cx="1021139" cy="997168"/>
          </a:xfrm>
          <a:custGeom>
            <a:avLst/>
            <a:gdLst/>
            <a:ahLst/>
            <a:cxnLst/>
            <a:rect r="r" b="b" t="t" l="l"/>
            <a:pathLst>
              <a:path h="997168" w="1021139">
                <a:moveTo>
                  <a:pt x="0" y="0"/>
                </a:moveTo>
                <a:lnTo>
                  <a:pt x="1021139" y="0"/>
                </a:lnTo>
                <a:lnTo>
                  <a:pt x="1021139" y="997168"/>
                </a:lnTo>
                <a:lnTo>
                  <a:pt x="0" y="9971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771525" y="6879042"/>
            <a:ext cx="1543050" cy="1506828"/>
          </a:xfrm>
          <a:custGeom>
            <a:avLst/>
            <a:gdLst/>
            <a:ahLst/>
            <a:cxnLst/>
            <a:rect r="r" b="b" t="t" l="l"/>
            <a:pathLst>
              <a:path h="1506828" w="1543050">
                <a:moveTo>
                  <a:pt x="0" y="0"/>
                </a:moveTo>
                <a:lnTo>
                  <a:pt x="1543050" y="0"/>
                </a:lnTo>
                <a:lnTo>
                  <a:pt x="1543050" y="1506828"/>
                </a:lnTo>
                <a:lnTo>
                  <a:pt x="0" y="15068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352397" y="319259"/>
            <a:ext cx="2247845" cy="1818711"/>
          </a:xfrm>
          <a:custGeom>
            <a:avLst/>
            <a:gdLst/>
            <a:ahLst/>
            <a:cxnLst/>
            <a:rect r="r" b="b" t="t" l="l"/>
            <a:pathLst>
              <a:path h="1818711" w="2247845">
                <a:moveTo>
                  <a:pt x="0" y="0"/>
                </a:moveTo>
                <a:lnTo>
                  <a:pt x="2247844" y="0"/>
                </a:lnTo>
                <a:lnTo>
                  <a:pt x="2247844" y="1818711"/>
                </a:lnTo>
                <a:lnTo>
                  <a:pt x="0" y="1818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2013327" y="2725868"/>
            <a:ext cx="14945905" cy="2596851"/>
          </a:xfrm>
          <a:custGeom>
            <a:avLst/>
            <a:gdLst/>
            <a:ahLst/>
            <a:cxnLst/>
            <a:rect r="r" b="b" t="t" l="l"/>
            <a:pathLst>
              <a:path h="2596851" w="14945905">
                <a:moveTo>
                  <a:pt x="0" y="0"/>
                </a:moveTo>
                <a:lnTo>
                  <a:pt x="14945906" y="0"/>
                </a:lnTo>
                <a:lnTo>
                  <a:pt x="14945906" y="2596851"/>
                </a:lnTo>
                <a:lnTo>
                  <a:pt x="0" y="2596851"/>
                </a:lnTo>
                <a:lnTo>
                  <a:pt x="0" y="0"/>
                </a:lnTo>
                <a:close/>
              </a:path>
            </a:pathLst>
          </a:custGeom>
          <a:blipFill>
            <a:blip r:embed="rId11"/>
            <a:stretch>
              <a:fillRect l="0" t="0" r="0" b="0"/>
            </a:stretch>
          </a:blipFill>
        </p:spPr>
      </p:sp>
      <p:sp>
        <p:nvSpPr>
          <p:cNvPr name="TextBox 14" id="14"/>
          <p:cNvSpPr txBox="true"/>
          <p:nvPr/>
        </p:nvSpPr>
        <p:spPr>
          <a:xfrm rot="0">
            <a:off x="1287883" y="6393886"/>
            <a:ext cx="16396794" cy="3327550"/>
          </a:xfrm>
          <a:prstGeom prst="rect">
            <a:avLst/>
          </a:prstGeom>
        </p:spPr>
        <p:txBody>
          <a:bodyPr anchor="t" rtlCol="false" tIns="0" lIns="0" bIns="0" rIns="0">
            <a:spAutoFit/>
          </a:bodyPr>
          <a:lstStyle/>
          <a:p>
            <a:pPr algn="just" marL="668378" indent="-334189" lvl="1">
              <a:lnSpc>
                <a:spcPts val="4334"/>
              </a:lnSpc>
              <a:buFont typeface="Arial"/>
              <a:buChar char="•"/>
            </a:pPr>
            <a:r>
              <a:rPr lang="en-US" sz="3095">
                <a:solidFill>
                  <a:srgbClr val="000000"/>
                </a:solidFill>
                <a:latin typeface="Poppins"/>
                <a:ea typeface="Poppins"/>
                <a:cs typeface="Poppins"/>
                <a:sym typeface="Poppins"/>
              </a:rPr>
              <a:t>✔ Perceived usefulness positively influenced customer trust.</a:t>
            </a:r>
          </a:p>
          <a:p>
            <a:pPr algn="just" marL="668378" indent="-334189" lvl="1">
              <a:lnSpc>
                <a:spcPts val="4334"/>
              </a:lnSpc>
              <a:buFont typeface="Arial"/>
              <a:buChar char="•"/>
            </a:pPr>
            <a:r>
              <a:rPr lang="en-US" sz="3095">
                <a:solidFill>
                  <a:srgbClr val="000000"/>
                </a:solidFill>
                <a:latin typeface="Poppins"/>
                <a:ea typeface="Poppins"/>
                <a:cs typeface="Poppins"/>
                <a:sym typeface="Poppins"/>
              </a:rPr>
              <a:t>✔ </a:t>
            </a:r>
            <a:r>
              <a:rPr lang="en-US" sz="3095">
                <a:solidFill>
                  <a:srgbClr val="000000"/>
                </a:solidFill>
                <a:latin typeface="Poppins"/>
                <a:ea typeface="Poppins"/>
                <a:cs typeface="Poppins"/>
                <a:sym typeface="Poppins"/>
              </a:rPr>
              <a:t>Ease of use also strengthened trust toward AR platforms.</a:t>
            </a:r>
          </a:p>
          <a:p>
            <a:pPr algn="just" marL="668378" indent="-334189" lvl="1">
              <a:lnSpc>
                <a:spcPts val="4334"/>
              </a:lnSpc>
              <a:buFont typeface="Arial"/>
              <a:buChar char="•"/>
            </a:pPr>
            <a:r>
              <a:rPr lang="en-US" sz="3095">
                <a:solidFill>
                  <a:srgbClr val="000000"/>
                </a:solidFill>
                <a:latin typeface="Poppins"/>
                <a:ea typeface="Poppins"/>
                <a:cs typeface="Poppins"/>
                <a:sym typeface="Poppins"/>
              </a:rPr>
              <a:t>✔ Customer trust significantly enhanced AR try-on experience.</a:t>
            </a:r>
          </a:p>
          <a:p>
            <a:pPr algn="just" marL="668378" indent="-334189" lvl="1">
              <a:lnSpc>
                <a:spcPts val="4334"/>
              </a:lnSpc>
              <a:buFont typeface="Arial"/>
              <a:buChar char="•"/>
            </a:pPr>
            <a:r>
              <a:rPr lang="en-US" sz="3095">
                <a:solidFill>
                  <a:srgbClr val="000000"/>
                </a:solidFill>
                <a:latin typeface="Poppins"/>
                <a:ea typeface="Poppins"/>
                <a:cs typeface="Poppins"/>
                <a:sym typeface="Poppins"/>
              </a:rPr>
              <a:t>✔ AR </a:t>
            </a:r>
            <a:r>
              <a:rPr lang="en-US" sz="3095" strike="noStrike" u="none">
                <a:solidFill>
                  <a:srgbClr val="000000"/>
                </a:solidFill>
                <a:latin typeface="Poppins"/>
                <a:ea typeface="Poppins"/>
                <a:cs typeface="Poppins"/>
                <a:sym typeface="Poppins"/>
              </a:rPr>
              <a:t>try-on experience showed the strongest impact on marketing outcomes.</a:t>
            </a:r>
          </a:p>
          <a:p>
            <a:pPr algn="just" marL="668378" indent="-334189" lvl="1">
              <a:lnSpc>
                <a:spcPts val="4334"/>
              </a:lnSpc>
              <a:buFont typeface="Arial"/>
              <a:buChar char="•"/>
            </a:pPr>
            <a:r>
              <a:rPr lang="en-US" sz="3095" strike="noStrike" u="none">
                <a:solidFill>
                  <a:srgbClr val="000000"/>
                </a:solidFill>
                <a:latin typeface="Poppins"/>
                <a:ea typeface="Poppins"/>
                <a:cs typeface="Poppins"/>
                <a:sym typeface="Poppins"/>
              </a:rPr>
              <a:t>✔ All hypotheses were supported as p-value &lt; 0.05.</a:t>
            </a:r>
          </a:p>
          <a:p>
            <a:pPr algn="ctr" marL="0" indent="0" lvl="0">
              <a:lnSpc>
                <a:spcPts val="474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259300" y="7995771"/>
            <a:ext cx="1774661" cy="2291229"/>
          </a:xfrm>
          <a:custGeom>
            <a:avLst/>
            <a:gdLst/>
            <a:ahLst/>
            <a:cxnLst/>
            <a:rect r="r" b="b" t="t" l="l"/>
            <a:pathLst>
              <a:path h="2291229" w="1774661">
                <a:moveTo>
                  <a:pt x="0" y="0"/>
                </a:moveTo>
                <a:lnTo>
                  <a:pt x="1774661" y="0"/>
                </a:lnTo>
                <a:lnTo>
                  <a:pt x="1774661" y="2291229"/>
                </a:lnTo>
                <a:lnTo>
                  <a:pt x="0" y="22912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159866" y="325837"/>
            <a:ext cx="14731505" cy="896620"/>
          </a:xfrm>
          <a:prstGeom prst="rect">
            <a:avLst/>
          </a:prstGeom>
        </p:spPr>
        <p:txBody>
          <a:bodyPr anchor="t" rtlCol="false" tIns="0" lIns="0" bIns="0" rIns="0">
            <a:spAutoFit/>
          </a:bodyPr>
          <a:lstStyle/>
          <a:p>
            <a:pPr algn="l">
              <a:lnSpc>
                <a:spcPts val="6800"/>
              </a:lnSpc>
            </a:pPr>
            <a:r>
              <a:rPr lang="en-US" sz="6800">
                <a:solidFill>
                  <a:srgbClr val="8BB4D9"/>
                </a:solidFill>
                <a:latin typeface="Fredoka"/>
                <a:ea typeface="Fredoka"/>
                <a:cs typeface="Fredoka"/>
                <a:sym typeface="Fredoka"/>
              </a:rPr>
              <a:t>CORRELA</a:t>
            </a:r>
            <a:r>
              <a:rPr lang="en-US" sz="6800">
                <a:solidFill>
                  <a:srgbClr val="8BB4D9"/>
                </a:solidFill>
                <a:latin typeface="Fredoka"/>
                <a:ea typeface="Fredoka"/>
                <a:cs typeface="Fredoka"/>
                <a:sym typeface="Fredoka"/>
              </a:rPr>
              <a:t>TION RELATIONSHIPS</a:t>
            </a:r>
          </a:p>
        </p:txBody>
      </p:sp>
      <p:grpSp>
        <p:nvGrpSpPr>
          <p:cNvPr name="Group 5" id="5"/>
          <p:cNvGrpSpPr/>
          <p:nvPr/>
        </p:nvGrpSpPr>
        <p:grpSpPr>
          <a:xfrm rot="0">
            <a:off x="-2502119" y="-766435"/>
            <a:ext cx="3086100" cy="11601215"/>
            <a:chOff x="0" y="0"/>
            <a:chExt cx="812800" cy="3055464"/>
          </a:xfrm>
        </p:grpSpPr>
        <p:sp>
          <p:nvSpPr>
            <p:cNvPr name="Freeform 6" id="6"/>
            <p:cNvSpPr/>
            <p:nvPr/>
          </p:nvSpPr>
          <p:spPr>
            <a:xfrm flipH="false" flipV="false" rot="0">
              <a:off x="0" y="0"/>
              <a:ext cx="812800" cy="3055464"/>
            </a:xfrm>
            <a:custGeom>
              <a:avLst/>
              <a:gdLst/>
              <a:ahLst/>
              <a:cxnLst/>
              <a:rect r="r" b="b" t="t" l="l"/>
              <a:pathLst>
                <a:path h="3055464" w="812800">
                  <a:moveTo>
                    <a:pt x="127941" y="0"/>
                  </a:moveTo>
                  <a:lnTo>
                    <a:pt x="684859" y="0"/>
                  </a:lnTo>
                  <a:cubicBezTo>
                    <a:pt x="718791" y="0"/>
                    <a:pt x="751333" y="13479"/>
                    <a:pt x="775327" y="37473"/>
                  </a:cubicBezTo>
                  <a:cubicBezTo>
                    <a:pt x="799321" y="61467"/>
                    <a:pt x="812800" y="94009"/>
                    <a:pt x="812800" y="127941"/>
                  </a:cubicBezTo>
                  <a:lnTo>
                    <a:pt x="812800" y="2927523"/>
                  </a:lnTo>
                  <a:cubicBezTo>
                    <a:pt x="812800" y="2961455"/>
                    <a:pt x="799321" y="2993997"/>
                    <a:pt x="775327" y="3017991"/>
                  </a:cubicBezTo>
                  <a:cubicBezTo>
                    <a:pt x="751333" y="3041984"/>
                    <a:pt x="718791" y="3055464"/>
                    <a:pt x="684859" y="3055464"/>
                  </a:cubicBezTo>
                  <a:lnTo>
                    <a:pt x="127941" y="3055464"/>
                  </a:lnTo>
                  <a:cubicBezTo>
                    <a:pt x="94009" y="3055464"/>
                    <a:pt x="61467" y="3041984"/>
                    <a:pt x="37473" y="3017991"/>
                  </a:cubicBezTo>
                  <a:cubicBezTo>
                    <a:pt x="13479" y="2993997"/>
                    <a:pt x="0" y="2961455"/>
                    <a:pt x="0" y="2927523"/>
                  </a:cubicBezTo>
                  <a:lnTo>
                    <a:pt x="0" y="127941"/>
                  </a:lnTo>
                  <a:cubicBezTo>
                    <a:pt x="0" y="94009"/>
                    <a:pt x="13479" y="61467"/>
                    <a:pt x="37473" y="37473"/>
                  </a:cubicBezTo>
                  <a:cubicBezTo>
                    <a:pt x="61467" y="13479"/>
                    <a:pt x="94009" y="0"/>
                    <a:pt x="127941" y="0"/>
                  </a:cubicBezTo>
                  <a:close/>
                </a:path>
              </a:pathLst>
            </a:custGeom>
            <a:solidFill>
              <a:srgbClr val="8BB4D9"/>
            </a:solidFill>
          </p:spPr>
        </p:sp>
        <p:sp>
          <p:nvSpPr>
            <p:cNvPr name="TextBox 7" id="7"/>
            <p:cNvSpPr txBox="true"/>
            <p:nvPr/>
          </p:nvSpPr>
          <p:spPr>
            <a:xfrm>
              <a:off x="0" y="-47625"/>
              <a:ext cx="812800" cy="3103089"/>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6886533" y="192487"/>
            <a:ext cx="856314" cy="836213"/>
          </a:xfrm>
          <a:custGeom>
            <a:avLst/>
            <a:gdLst/>
            <a:ahLst/>
            <a:cxnLst/>
            <a:rect r="r" b="b" t="t" l="l"/>
            <a:pathLst>
              <a:path h="836213" w="856314">
                <a:moveTo>
                  <a:pt x="0" y="0"/>
                </a:moveTo>
                <a:lnTo>
                  <a:pt x="856315" y="0"/>
                </a:lnTo>
                <a:lnTo>
                  <a:pt x="856315" y="836213"/>
                </a:lnTo>
                <a:lnTo>
                  <a:pt x="0" y="8362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7487834">
            <a:off x="215120" y="8951832"/>
            <a:ext cx="2247845" cy="1818711"/>
          </a:xfrm>
          <a:custGeom>
            <a:avLst/>
            <a:gdLst/>
            <a:ahLst/>
            <a:cxnLst/>
            <a:rect r="r" b="b" t="t" l="l"/>
            <a:pathLst>
              <a:path h="1818711" w="2247845">
                <a:moveTo>
                  <a:pt x="0" y="0"/>
                </a:moveTo>
                <a:lnTo>
                  <a:pt x="2247844" y="0"/>
                </a:lnTo>
                <a:lnTo>
                  <a:pt x="2247844" y="1818711"/>
                </a:lnTo>
                <a:lnTo>
                  <a:pt x="0" y="18187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2727177" y="1697858"/>
            <a:ext cx="13765929" cy="6297913"/>
          </a:xfrm>
          <a:custGeom>
            <a:avLst/>
            <a:gdLst/>
            <a:ahLst/>
            <a:cxnLst/>
            <a:rect r="r" b="b" t="t" l="l"/>
            <a:pathLst>
              <a:path h="6297913" w="13765929">
                <a:moveTo>
                  <a:pt x="0" y="0"/>
                </a:moveTo>
                <a:lnTo>
                  <a:pt x="13765929" y="0"/>
                </a:lnTo>
                <a:lnTo>
                  <a:pt x="13765929" y="6297913"/>
                </a:lnTo>
                <a:lnTo>
                  <a:pt x="0" y="6297913"/>
                </a:lnTo>
                <a:lnTo>
                  <a:pt x="0" y="0"/>
                </a:lnTo>
                <a:close/>
              </a:path>
            </a:pathLst>
          </a:custGeom>
          <a:blipFill>
            <a:blip r:embed="rId9"/>
            <a:stretch>
              <a:fillRect l="0" t="0" r="0" b="0"/>
            </a:stretch>
          </a:blipFill>
          <a:ln w="38100" cap="sq">
            <a:solidFill>
              <a:srgbClr val="000000"/>
            </a:solidFill>
            <a:prstDash val="solid"/>
            <a:miter/>
          </a:ln>
        </p:spPr>
      </p:sp>
      <p:sp>
        <p:nvSpPr>
          <p:cNvPr name="TextBox 11" id="11"/>
          <p:cNvSpPr txBox="true"/>
          <p:nvPr/>
        </p:nvSpPr>
        <p:spPr>
          <a:xfrm rot="0">
            <a:off x="1149895" y="8595846"/>
            <a:ext cx="15736638" cy="915035"/>
          </a:xfrm>
          <a:prstGeom prst="rect">
            <a:avLst/>
          </a:prstGeom>
        </p:spPr>
        <p:txBody>
          <a:bodyPr anchor="t" rtlCol="false" tIns="0" lIns="0" bIns="0" rIns="0">
            <a:spAutoFit/>
          </a:bodyPr>
          <a:lstStyle/>
          <a:p>
            <a:pPr algn="ctr">
              <a:lnSpc>
                <a:spcPts val="3639"/>
              </a:lnSpc>
            </a:pPr>
            <a:r>
              <a:rPr lang="en-US" b="true" sz="2599">
                <a:solidFill>
                  <a:srgbClr val="000000"/>
                </a:solidFill>
                <a:latin typeface="Poppins Bold"/>
                <a:ea typeface="Poppins Bold"/>
                <a:cs typeface="Poppins Bold"/>
                <a:sym typeface="Poppins Bold"/>
              </a:rPr>
              <a:t>The </a:t>
            </a:r>
            <a:r>
              <a:rPr lang="en-US" b="true" sz="2599">
                <a:solidFill>
                  <a:srgbClr val="000000"/>
                </a:solidFill>
                <a:latin typeface="Poppins Bold"/>
                <a:ea typeface="Poppins Bold"/>
                <a:cs typeface="Poppins Bold"/>
                <a:sym typeface="Poppins Bold"/>
              </a:rPr>
              <a:t>analysis shows positive correlations among all variables. Ease of Use has the strongest relationship with AR Experience (r = 0.75).</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259300" y="7995771"/>
            <a:ext cx="1774661" cy="2291229"/>
          </a:xfrm>
          <a:custGeom>
            <a:avLst/>
            <a:gdLst/>
            <a:ahLst/>
            <a:cxnLst/>
            <a:rect r="r" b="b" t="t" l="l"/>
            <a:pathLst>
              <a:path h="2291229" w="1774661">
                <a:moveTo>
                  <a:pt x="0" y="0"/>
                </a:moveTo>
                <a:lnTo>
                  <a:pt x="1774661" y="0"/>
                </a:lnTo>
                <a:lnTo>
                  <a:pt x="1774661" y="2291229"/>
                </a:lnTo>
                <a:lnTo>
                  <a:pt x="0" y="22912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2502119" y="-766435"/>
            <a:ext cx="3086100" cy="11601215"/>
            <a:chOff x="0" y="0"/>
            <a:chExt cx="812800" cy="3055464"/>
          </a:xfrm>
        </p:grpSpPr>
        <p:sp>
          <p:nvSpPr>
            <p:cNvPr name="Freeform 5" id="5"/>
            <p:cNvSpPr/>
            <p:nvPr/>
          </p:nvSpPr>
          <p:spPr>
            <a:xfrm flipH="false" flipV="false" rot="0">
              <a:off x="0" y="0"/>
              <a:ext cx="812800" cy="3055464"/>
            </a:xfrm>
            <a:custGeom>
              <a:avLst/>
              <a:gdLst/>
              <a:ahLst/>
              <a:cxnLst/>
              <a:rect r="r" b="b" t="t" l="l"/>
              <a:pathLst>
                <a:path h="3055464" w="812800">
                  <a:moveTo>
                    <a:pt x="127941" y="0"/>
                  </a:moveTo>
                  <a:lnTo>
                    <a:pt x="684859" y="0"/>
                  </a:lnTo>
                  <a:cubicBezTo>
                    <a:pt x="718791" y="0"/>
                    <a:pt x="751333" y="13479"/>
                    <a:pt x="775327" y="37473"/>
                  </a:cubicBezTo>
                  <a:cubicBezTo>
                    <a:pt x="799321" y="61467"/>
                    <a:pt x="812800" y="94009"/>
                    <a:pt x="812800" y="127941"/>
                  </a:cubicBezTo>
                  <a:lnTo>
                    <a:pt x="812800" y="2927523"/>
                  </a:lnTo>
                  <a:cubicBezTo>
                    <a:pt x="812800" y="2961455"/>
                    <a:pt x="799321" y="2993997"/>
                    <a:pt x="775327" y="3017991"/>
                  </a:cubicBezTo>
                  <a:cubicBezTo>
                    <a:pt x="751333" y="3041984"/>
                    <a:pt x="718791" y="3055464"/>
                    <a:pt x="684859" y="3055464"/>
                  </a:cubicBezTo>
                  <a:lnTo>
                    <a:pt x="127941" y="3055464"/>
                  </a:lnTo>
                  <a:cubicBezTo>
                    <a:pt x="94009" y="3055464"/>
                    <a:pt x="61467" y="3041984"/>
                    <a:pt x="37473" y="3017991"/>
                  </a:cubicBezTo>
                  <a:cubicBezTo>
                    <a:pt x="13479" y="2993997"/>
                    <a:pt x="0" y="2961455"/>
                    <a:pt x="0" y="2927523"/>
                  </a:cubicBezTo>
                  <a:lnTo>
                    <a:pt x="0" y="127941"/>
                  </a:lnTo>
                  <a:cubicBezTo>
                    <a:pt x="0" y="94009"/>
                    <a:pt x="13479" y="61467"/>
                    <a:pt x="37473" y="37473"/>
                  </a:cubicBezTo>
                  <a:cubicBezTo>
                    <a:pt x="61467" y="13479"/>
                    <a:pt x="94009" y="0"/>
                    <a:pt x="127941" y="0"/>
                  </a:cubicBezTo>
                  <a:close/>
                </a:path>
              </a:pathLst>
            </a:custGeom>
            <a:solidFill>
              <a:srgbClr val="8BB4D9"/>
            </a:solidFill>
          </p:spPr>
        </p:sp>
        <p:sp>
          <p:nvSpPr>
            <p:cNvPr name="TextBox 6" id="6"/>
            <p:cNvSpPr txBox="true"/>
            <p:nvPr/>
          </p:nvSpPr>
          <p:spPr>
            <a:xfrm>
              <a:off x="0" y="-47625"/>
              <a:ext cx="812800" cy="3103089"/>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false" flipV="false" rot="0">
            <a:off x="16886533" y="192487"/>
            <a:ext cx="856314" cy="836213"/>
          </a:xfrm>
          <a:custGeom>
            <a:avLst/>
            <a:gdLst/>
            <a:ahLst/>
            <a:cxnLst/>
            <a:rect r="r" b="b" t="t" l="l"/>
            <a:pathLst>
              <a:path h="836213" w="856314">
                <a:moveTo>
                  <a:pt x="0" y="0"/>
                </a:moveTo>
                <a:lnTo>
                  <a:pt x="856315" y="0"/>
                </a:lnTo>
                <a:lnTo>
                  <a:pt x="856315" y="836213"/>
                </a:lnTo>
                <a:lnTo>
                  <a:pt x="0" y="8362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7487834">
            <a:off x="215120" y="8951832"/>
            <a:ext cx="2247845" cy="1818711"/>
          </a:xfrm>
          <a:custGeom>
            <a:avLst/>
            <a:gdLst/>
            <a:ahLst/>
            <a:cxnLst/>
            <a:rect r="r" b="b" t="t" l="l"/>
            <a:pathLst>
              <a:path h="1818711" w="2247845">
                <a:moveTo>
                  <a:pt x="0" y="0"/>
                </a:moveTo>
                <a:lnTo>
                  <a:pt x="2247844" y="0"/>
                </a:lnTo>
                <a:lnTo>
                  <a:pt x="2247844" y="1818711"/>
                </a:lnTo>
                <a:lnTo>
                  <a:pt x="0" y="18187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028700" y="1814393"/>
            <a:ext cx="6484950" cy="3219779"/>
          </a:xfrm>
          <a:custGeom>
            <a:avLst/>
            <a:gdLst/>
            <a:ahLst/>
            <a:cxnLst/>
            <a:rect r="r" b="b" t="t" l="l"/>
            <a:pathLst>
              <a:path h="3219779" w="6484950">
                <a:moveTo>
                  <a:pt x="0" y="0"/>
                </a:moveTo>
                <a:lnTo>
                  <a:pt x="6484950" y="0"/>
                </a:lnTo>
                <a:lnTo>
                  <a:pt x="6484950" y="3219779"/>
                </a:lnTo>
                <a:lnTo>
                  <a:pt x="0" y="3219779"/>
                </a:lnTo>
                <a:lnTo>
                  <a:pt x="0" y="0"/>
                </a:lnTo>
                <a:close/>
              </a:path>
            </a:pathLst>
          </a:custGeom>
          <a:blipFill>
            <a:blip r:embed="rId9"/>
            <a:stretch>
              <a:fillRect l="-25671" t="-34375" r="-33179" b="0"/>
            </a:stretch>
          </a:blipFill>
          <a:ln w="38100" cap="sq">
            <a:solidFill>
              <a:srgbClr val="000000"/>
            </a:solidFill>
            <a:prstDash val="solid"/>
            <a:miter/>
          </a:ln>
        </p:spPr>
      </p:sp>
      <p:sp>
        <p:nvSpPr>
          <p:cNvPr name="Freeform 10" id="10"/>
          <p:cNvSpPr/>
          <p:nvPr/>
        </p:nvSpPr>
        <p:spPr>
          <a:xfrm flipH="false" flipV="false" rot="0">
            <a:off x="1028700" y="5715156"/>
            <a:ext cx="6377299" cy="3795725"/>
          </a:xfrm>
          <a:custGeom>
            <a:avLst/>
            <a:gdLst/>
            <a:ahLst/>
            <a:cxnLst/>
            <a:rect r="r" b="b" t="t" l="l"/>
            <a:pathLst>
              <a:path h="3795725" w="6377299">
                <a:moveTo>
                  <a:pt x="0" y="0"/>
                </a:moveTo>
                <a:lnTo>
                  <a:pt x="6377299" y="0"/>
                </a:lnTo>
                <a:lnTo>
                  <a:pt x="6377299" y="3795725"/>
                </a:lnTo>
                <a:lnTo>
                  <a:pt x="0" y="3795725"/>
                </a:lnTo>
                <a:lnTo>
                  <a:pt x="0" y="0"/>
                </a:lnTo>
                <a:close/>
              </a:path>
            </a:pathLst>
          </a:custGeom>
          <a:blipFill>
            <a:blip r:embed="rId10"/>
            <a:stretch>
              <a:fillRect l="-28136" t="-25421" r="-49074" b="0"/>
            </a:stretch>
          </a:blipFill>
          <a:ln w="38100" cap="sq">
            <a:solidFill>
              <a:srgbClr val="000000"/>
            </a:solidFill>
            <a:prstDash val="solid"/>
            <a:miter/>
          </a:ln>
        </p:spPr>
      </p:sp>
      <p:sp>
        <p:nvSpPr>
          <p:cNvPr name="Freeform 11" id="11"/>
          <p:cNvSpPr/>
          <p:nvPr/>
        </p:nvSpPr>
        <p:spPr>
          <a:xfrm flipH="false" flipV="false" rot="0">
            <a:off x="8065089" y="2574420"/>
            <a:ext cx="9886026" cy="1885065"/>
          </a:xfrm>
          <a:custGeom>
            <a:avLst/>
            <a:gdLst/>
            <a:ahLst/>
            <a:cxnLst/>
            <a:rect r="r" b="b" t="t" l="l"/>
            <a:pathLst>
              <a:path h="1885065" w="9886026">
                <a:moveTo>
                  <a:pt x="0" y="0"/>
                </a:moveTo>
                <a:lnTo>
                  <a:pt x="9886026" y="0"/>
                </a:lnTo>
                <a:lnTo>
                  <a:pt x="9886026" y="1885065"/>
                </a:lnTo>
                <a:lnTo>
                  <a:pt x="0" y="1885065"/>
                </a:lnTo>
                <a:lnTo>
                  <a:pt x="0" y="0"/>
                </a:lnTo>
                <a:close/>
              </a:path>
            </a:pathLst>
          </a:custGeom>
          <a:blipFill>
            <a:blip r:embed="rId11"/>
            <a:stretch>
              <a:fillRect l="-1084" t="-7137" r="-610" b="-3571"/>
            </a:stretch>
          </a:blipFill>
          <a:ln w="38100" cap="sq">
            <a:solidFill>
              <a:srgbClr val="000000"/>
            </a:solidFill>
            <a:prstDash val="solid"/>
            <a:miter/>
          </a:ln>
        </p:spPr>
      </p:sp>
      <p:sp>
        <p:nvSpPr>
          <p:cNvPr name="TextBox 12" id="12"/>
          <p:cNvSpPr txBox="true"/>
          <p:nvPr/>
        </p:nvSpPr>
        <p:spPr>
          <a:xfrm rot="0">
            <a:off x="1369505" y="647065"/>
            <a:ext cx="14731505" cy="896620"/>
          </a:xfrm>
          <a:prstGeom prst="rect">
            <a:avLst/>
          </a:prstGeom>
        </p:spPr>
        <p:txBody>
          <a:bodyPr anchor="t" rtlCol="false" tIns="0" lIns="0" bIns="0" rIns="0">
            <a:spAutoFit/>
          </a:bodyPr>
          <a:lstStyle/>
          <a:p>
            <a:pPr algn="ctr">
              <a:lnSpc>
                <a:spcPts val="6800"/>
              </a:lnSpc>
            </a:pPr>
            <a:r>
              <a:rPr lang="en-US" sz="6800">
                <a:solidFill>
                  <a:srgbClr val="8BB4D9"/>
                </a:solidFill>
                <a:latin typeface="Fredoka"/>
                <a:ea typeface="Fredoka"/>
                <a:cs typeface="Fredoka"/>
                <a:sym typeface="Fredoka"/>
              </a:rPr>
              <a:t>T-TEST RESULTS</a:t>
            </a:r>
          </a:p>
        </p:txBody>
      </p:sp>
      <p:sp>
        <p:nvSpPr>
          <p:cNvPr name="TextBox 13" id="13"/>
          <p:cNvSpPr txBox="true"/>
          <p:nvPr/>
        </p:nvSpPr>
        <p:spPr>
          <a:xfrm rot="0">
            <a:off x="-366013" y="5076825"/>
            <a:ext cx="8269751" cy="457835"/>
          </a:xfrm>
          <a:prstGeom prst="rect">
            <a:avLst/>
          </a:prstGeom>
        </p:spPr>
        <p:txBody>
          <a:bodyPr anchor="t" rtlCol="false" tIns="0" lIns="0" bIns="0" rIns="0">
            <a:spAutoFit/>
          </a:bodyPr>
          <a:lstStyle/>
          <a:p>
            <a:pPr algn="ctr">
              <a:lnSpc>
                <a:spcPts val="3639"/>
              </a:lnSpc>
            </a:pPr>
            <a:r>
              <a:rPr lang="en-US" b="true" sz="2599">
                <a:solidFill>
                  <a:srgbClr val="000000"/>
                </a:solidFill>
                <a:latin typeface="Poppins Bold"/>
                <a:ea typeface="Poppins Bold"/>
                <a:cs typeface="Poppins Bold"/>
                <a:sym typeface="Poppins Bold"/>
              </a:rPr>
              <a:t>GENDER</a:t>
            </a:r>
          </a:p>
        </p:txBody>
      </p:sp>
      <p:sp>
        <p:nvSpPr>
          <p:cNvPr name="TextBox 14" id="14"/>
          <p:cNvSpPr txBox="true"/>
          <p:nvPr/>
        </p:nvSpPr>
        <p:spPr>
          <a:xfrm rot="0">
            <a:off x="-366013" y="9548981"/>
            <a:ext cx="8269751" cy="457835"/>
          </a:xfrm>
          <a:prstGeom prst="rect">
            <a:avLst/>
          </a:prstGeom>
        </p:spPr>
        <p:txBody>
          <a:bodyPr anchor="t" rtlCol="false" tIns="0" lIns="0" bIns="0" rIns="0">
            <a:spAutoFit/>
          </a:bodyPr>
          <a:lstStyle/>
          <a:p>
            <a:pPr algn="ctr">
              <a:lnSpc>
                <a:spcPts val="3639"/>
              </a:lnSpc>
            </a:pPr>
            <a:r>
              <a:rPr lang="en-US" b="true" sz="2599">
                <a:solidFill>
                  <a:srgbClr val="000000"/>
                </a:solidFill>
                <a:latin typeface="Poppins Bold"/>
                <a:ea typeface="Poppins Bold"/>
                <a:cs typeface="Poppins Bold"/>
                <a:sym typeface="Poppins Bold"/>
              </a:rPr>
              <a:t>AGE</a:t>
            </a:r>
          </a:p>
        </p:txBody>
      </p:sp>
      <p:sp>
        <p:nvSpPr>
          <p:cNvPr name="TextBox 15" id="15"/>
          <p:cNvSpPr txBox="true"/>
          <p:nvPr/>
        </p:nvSpPr>
        <p:spPr>
          <a:xfrm rot="0">
            <a:off x="8065089" y="5395446"/>
            <a:ext cx="9032859" cy="4115435"/>
          </a:xfrm>
          <a:prstGeom prst="rect">
            <a:avLst/>
          </a:prstGeom>
        </p:spPr>
        <p:txBody>
          <a:bodyPr anchor="t" rtlCol="false" tIns="0" lIns="0" bIns="0" rIns="0">
            <a:spAutoFit/>
          </a:bodyPr>
          <a:lstStyle/>
          <a:p>
            <a:pPr algn="l" marL="561339" indent="-280669" lvl="1">
              <a:lnSpc>
                <a:spcPts val="3639"/>
              </a:lnSpc>
              <a:buFont typeface="Arial"/>
              <a:buChar char="•"/>
            </a:pPr>
            <a:r>
              <a:rPr lang="en-US" b="true" sz="2599">
                <a:solidFill>
                  <a:srgbClr val="000000"/>
                </a:solidFill>
                <a:latin typeface="Poppins Bold"/>
                <a:ea typeface="Poppins Bold"/>
                <a:cs typeface="Poppins Bold"/>
                <a:sym typeface="Poppins Bold"/>
              </a:rPr>
              <a:t>Fem</a:t>
            </a:r>
            <a:r>
              <a:rPr lang="en-US" b="true" sz="2599">
                <a:solidFill>
                  <a:srgbClr val="000000"/>
                </a:solidFill>
                <a:latin typeface="Poppins Bold"/>
                <a:ea typeface="Poppins Bold"/>
                <a:cs typeface="Poppins Bold"/>
                <a:sym typeface="Poppins Bold"/>
              </a:rPr>
              <a:t>ale respondents showed slightly higher AR experience scores than male respondents.</a:t>
            </a:r>
          </a:p>
          <a:p>
            <a:pPr algn="l">
              <a:lnSpc>
                <a:spcPts val="3639"/>
              </a:lnSpc>
            </a:pPr>
          </a:p>
          <a:p>
            <a:pPr algn="l" marL="561339" indent="-280669" lvl="1">
              <a:lnSpc>
                <a:spcPts val="3639"/>
              </a:lnSpc>
              <a:buFont typeface="Arial"/>
              <a:buChar char="•"/>
            </a:pPr>
            <a:r>
              <a:rPr lang="en-US" b="true" sz="2599">
                <a:solidFill>
                  <a:srgbClr val="000000"/>
                </a:solidFill>
                <a:latin typeface="Poppins Bold"/>
                <a:ea typeface="Poppins Bold"/>
                <a:cs typeface="Poppins Bold"/>
                <a:sym typeface="Poppins Bold"/>
              </a:rPr>
              <a:t>• The p-value (0.034) indicates a statistically significant difference between groups.</a:t>
            </a:r>
          </a:p>
          <a:p>
            <a:pPr algn="l">
              <a:lnSpc>
                <a:spcPts val="3639"/>
              </a:lnSpc>
            </a:pPr>
          </a:p>
          <a:p>
            <a:pPr algn="l" marL="561339" indent="-280669" lvl="1">
              <a:lnSpc>
                <a:spcPts val="3639"/>
              </a:lnSpc>
              <a:buFont typeface="Arial"/>
              <a:buChar char="•"/>
            </a:pPr>
            <a:r>
              <a:rPr lang="en-US" b="true" sz="2599">
                <a:solidFill>
                  <a:srgbClr val="000000"/>
                </a:solidFill>
                <a:latin typeface="Poppins Bold"/>
                <a:ea typeface="Poppins Bold"/>
                <a:cs typeface="Poppins Bold"/>
                <a:sym typeface="Poppins Bold"/>
              </a:rPr>
              <a:t>• Findings suggest that demographic factors may influence AR adoption behaviour.</a:t>
            </a:r>
          </a:p>
          <a:p>
            <a:pPr algn="ctr">
              <a:lnSpc>
                <a:spcPts val="363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9940589" y="3164407"/>
            <a:ext cx="8087832" cy="5891807"/>
            <a:chOff x="0" y="0"/>
            <a:chExt cx="1388404" cy="1011421"/>
          </a:xfrm>
        </p:grpSpPr>
        <p:sp>
          <p:nvSpPr>
            <p:cNvPr name="Freeform 4" id="4"/>
            <p:cNvSpPr/>
            <p:nvPr/>
          </p:nvSpPr>
          <p:spPr>
            <a:xfrm flipH="false" flipV="false" rot="0">
              <a:off x="0" y="0"/>
              <a:ext cx="1388404" cy="1011421"/>
            </a:xfrm>
            <a:custGeom>
              <a:avLst/>
              <a:gdLst/>
              <a:ahLst/>
              <a:cxnLst/>
              <a:rect r="r" b="b" t="t" l="l"/>
              <a:pathLst>
                <a:path h="1011421" w="1388404">
                  <a:moveTo>
                    <a:pt x="33503" y="0"/>
                  </a:moveTo>
                  <a:lnTo>
                    <a:pt x="1354901" y="0"/>
                  </a:lnTo>
                  <a:cubicBezTo>
                    <a:pt x="1363786" y="0"/>
                    <a:pt x="1372308" y="3530"/>
                    <a:pt x="1378591" y="9813"/>
                  </a:cubicBezTo>
                  <a:cubicBezTo>
                    <a:pt x="1384874" y="16096"/>
                    <a:pt x="1388404" y="24618"/>
                    <a:pt x="1388404" y="33503"/>
                  </a:cubicBezTo>
                  <a:lnTo>
                    <a:pt x="1388404" y="977918"/>
                  </a:lnTo>
                  <a:cubicBezTo>
                    <a:pt x="1388404" y="996421"/>
                    <a:pt x="1373404" y="1011421"/>
                    <a:pt x="1354901" y="1011421"/>
                  </a:cubicBezTo>
                  <a:lnTo>
                    <a:pt x="33503" y="1011421"/>
                  </a:lnTo>
                  <a:cubicBezTo>
                    <a:pt x="24618" y="1011421"/>
                    <a:pt x="16096" y="1007891"/>
                    <a:pt x="9813" y="1001609"/>
                  </a:cubicBezTo>
                  <a:cubicBezTo>
                    <a:pt x="3530" y="995325"/>
                    <a:pt x="0" y="986804"/>
                    <a:pt x="0" y="977918"/>
                  </a:cubicBezTo>
                  <a:lnTo>
                    <a:pt x="0" y="33503"/>
                  </a:lnTo>
                  <a:cubicBezTo>
                    <a:pt x="0" y="15000"/>
                    <a:pt x="15000" y="0"/>
                    <a:pt x="33503" y="0"/>
                  </a:cubicBezTo>
                  <a:close/>
                </a:path>
              </a:pathLst>
            </a:custGeom>
            <a:blipFill>
              <a:blip r:embed="rId3"/>
              <a:stretch>
                <a:fillRect l="-299" t="0" r="-299" b="0"/>
              </a:stretch>
            </a:blipFill>
            <a:ln w="38100" cap="rnd">
              <a:solidFill>
                <a:srgbClr val="000000"/>
              </a:solidFill>
              <a:prstDash val="solid"/>
              <a:round/>
            </a:ln>
          </p:spPr>
        </p:sp>
      </p:grpSp>
      <p:grpSp>
        <p:nvGrpSpPr>
          <p:cNvPr name="Group 5" id="5"/>
          <p:cNvGrpSpPr/>
          <p:nvPr/>
        </p:nvGrpSpPr>
        <p:grpSpPr>
          <a:xfrm rot="0">
            <a:off x="16748731" y="-1687975"/>
            <a:ext cx="4585260" cy="4501967"/>
            <a:chOff x="0" y="0"/>
            <a:chExt cx="787132" cy="772834"/>
          </a:xfrm>
        </p:grpSpPr>
        <p:sp>
          <p:nvSpPr>
            <p:cNvPr name="Freeform 6" id="6"/>
            <p:cNvSpPr/>
            <p:nvPr/>
          </p:nvSpPr>
          <p:spPr>
            <a:xfrm flipH="false" flipV="false" rot="0">
              <a:off x="0" y="0"/>
              <a:ext cx="787132" cy="772834"/>
            </a:xfrm>
            <a:custGeom>
              <a:avLst/>
              <a:gdLst/>
              <a:ahLst/>
              <a:cxnLst/>
              <a:rect r="r" b="b" t="t" l="l"/>
              <a:pathLst>
                <a:path h="772834" w="787132">
                  <a:moveTo>
                    <a:pt x="59095" y="0"/>
                  </a:moveTo>
                  <a:lnTo>
                    <a:pt x="728037" y="0"/>
                  </a:lnTo>
                  <a:cubicBezTo>
                    <a:pt x="743710" y="0"/>
                    <a:pt x="758741" y="6226"/>
                    <a:pt x="769823" y="17309"/>
                  </a:cubicBezTo>
                  <a:cubicBezTo>
                    <a:pt x="780906" y="28391"/>
                    <a:pt x="787132" y="43422"/>
                    <a:pt x="787132" y="59095"/>
                  </a:cubicBezTo>
                  <a:lnTo>
                    <a:pt x="787132" y="713738"/>
                  </a:lnTo>
                  <a:cubicBezTo>
                    <a:pt x="787132" y="746376"/>
                    <a:pt x="760674" y="772834"/>
                    <a:pt x="728037" y="772834"/>
                  </a:cubicBezTo>
                  <a:lnTo>
                    <a:pt x="59095" y="772834"/>
                  </a:lnTo>
                  <a:cubicBezTo>
                    <a:pt x="43422" y="772834"/>
                    <a:pt x="28391" y="766607"/>
                    <a:pt x="17309" y="755525"/>
                  </a:cubicBezTo>
                  <a:cubicBezTo>
                    <a:pt x="6226" y="744442"/>
                    <a:pt x="0" y="729411"/>
                    <a:pt x="0" y="713738"/>
                  </a:cubicBezTo>
                  <a:lnTo>
                    <a:pt x="0" y="59095"/>
                  </a:lnTo>
                  <a:cubicBezTo>
                    <a:pt x="0" y="43422"/>
                    <a:pt x="6226" y="28391"/>
                    <a:pt x="17309" y="17309"/>
                  </a:cubicBezTo>
                  <a:cubicBezTo>
                    <a:pt x="28391" y="6226"/>
                    <a:pt x="43422" y="0"/>
                    <a:pt x="59095" y="0"/>
                  </a:cubicBezTo>
                  <a:close/>
                </a:path>
              </a:pathLst>
            </a:custGeom>
            <a:solidFill>
              <a:srgbClr val="FCFCDD"/>
            </a:solidFill>
          </p:spPr>
        </p:sp>
      </p:grpSp>
      <p:grpSp>
        <p:nvGrpSpPr>
          <p:cNvPr name="Group 7" id="7"/>
          <p:cNvGrpSpPr/>
          <p:nvPr/>
        </p:nvGrpSpPr>
        <p:grpSpPr>
          <a:xfrm rot="0">
            <a:off x="1500519" y="8260078"/>
            <a:ext cx="5456410" cy="1677068"/>
            <a:chOff x="0" y="0"/>
            <a:chExt cx="1354383" cy="416279"/>
          </a:xfrm>
        </p:grpSpPr>
        <p:sp>
          <p:nvSpPr>
            <p:cNvPr name="Freeform 8" id="8"/>
            <p:cNvSpPr/>
            <p:nvPr/>
          </p:nvSpPr>
          <p:spPr>
            <a:xfrm flipH="false" flipV="false" rot="0">
              <a:off x="0" y="0"/>
              <a:ext cx="1354383" cy="416279"/>
            </a:xfrm>
            <a:custGeom>
              <a:avLst/>
              <a:gdLst/>
              <a:ahLst/>
              <a:cxnLst/>
              <a:rect r="r" b="b" t="t" l="l"/>
              <a:pathLst>
                <a:path h="416279" w="1354383">
                  <a:moveTo>
                    <a:pt x="49660" y="0"/>
                  </a:moveTo>
                  <a:lnTo>
                    <a:pt x="1304722" y="0"/>
                  </a:lnTo>
                  <a:cubicBezTo>
                    <a:pt x="1317893" y="0"/>
                    <a:pt x="1330524" y="5232"/>
                    <a:pt x="1339837" y="14545"/>
                  </a:cubicBezTo>
                  <a:cubicBezTo>
                    <a:pt x="1349150" y="23858"/>
                    <a:pt x="1354383" y="36490"/>
                    <a:pt x="1354383" y="49660"/>
                  </a:cubicBezTo>
                  <a:lnTo>
                    <a:pt x="1354383" y="366619"/>
                  </a:lnTo>
                  <a:cubicBezTo>
                    <a:pt x="1354383" y="379790"/>
                    <a:pt x="1349150" y="392421"/>
                    <a:pt x="1339837" y="401734"/>
                  </a:cubicBezTo>
                  <a:cubicBezTo>
                    <a:pt x="1330524" y="411047"/>
                    <a:pt x="1317893" y="416279"/>
                    <a:pt x="1304722" y="416279"/>
                  </a:cubicBezTo>
                  <a:lnTo>
                    <a:pt x="49660" y="416279"/>
                  </a:lnTo>
                  <a:cubicBezTo>
                    <a:pt x="22234" y="416279"/>
                    <a:pt x="0" y="394046"/>
                    <a:pt x="0" y="366619"/>
                  </a:cubicBezTo>
                  <a:lnTo>
                    <a:pt x="0" y="49660"/>
                  </a:lnTo>
                  <a:cubicBezTo>
                    <a:pt x="0" y="22234"/>
                    <a:pt x="22234" y="0"/>
                    <a:pt x="49660" y="0"/>
                  </a:cubicBezTo>
                  <a:close/>
                </a:path>
              </a:pathLst>
            </a:custGeom>
            <a:solidFill>
              <a:srgbClr val="F4CBC6"/>
            </a:solidFill>
            <a:ln cap="rnd">
              <a:noFill/>
              <a:prstDash val="solid"/>
              <a:round/>
            </a:ln>
          </p:spPr>
        </p:sp>
        <p:sp>
          <p:nvSpPr>
            <p:cNvPr name="TextBox 9" id="9"/>
            <p:cNvSpPr txBox="true"/>
            <p:nvPr/>
          </p:nvSpPr>
          <p:spPr>
            <a:xfrm>
              <a:off x="0" y="-47625"/>
              <a:ext cx="1354383" cy="463904"/>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0">
            <a:off x="1500519" y="8509650"/>
            <a:ext cx="501992" cy="501992"/>
          </a:xfrm>
          <a:custGeom>
            <a:avLst/>
            <a:gdLst/>
            <a:ahLst/>
            <a:cxnLst/>
            <a:rect r="r" b="b" t="t" l="l"/>
            <a:pathLst>
              <a:path h="501992" w="501992">
                <a:moveTo>
                  <a:pt x="0" y="0"/>
                </a:moveTo>
                <a:lnTo>
                  <a:pt x="501992" y="0"/>
                </a:lnTo>
                <a:lnTo>
                  <a:pt x="501992" y="501991"/>
                </a:lnTo>
                <a:lnTo>
                  <a:pt x="0" y="501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748731" y="0"/>
            <a:ext cx="1882817" cy="2813993"/>
          </a:xfrm>
          <a:custGeom>
            <a:avLst/>
            <a:gdLst/>
            <a:ahLst/>
            <a:cxnLst/>
            <a:rect r="r" b="b" t="t" l="l"/>
            <a:pathLst>
              <a:path h="2813993" w="1882817">
                <a:moveTo>
                  <a:pt x="0" y="0"/>
                </a:moveTo>
                <a:lnTo>
                  <a:pt x="1882817" y="0"/>
                </a:lnTo>
                <a:lnTo>
                  <a:pt x="1882817" y="2813993"/>
                </a:lnTo>
                <a:lnTo>
                  <a:pt x="0" y="2813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905929" y="696359"/>
            <a:ext cx="14085791" cy="896620"/>
          </a:xfrm>
          <a:prstGeom prst="rect">
            <a:avLst/>
          </a:prstGeom>
        </p:spPr>
        <p:txBody>
          <a:bodyPr anchor="t" rtlCol="false" tIns="0" lIns="0" bIns="0" rIns="0">
            <a:spAutoFit/>
          </a:bodyPr>
          <a:lstStyle/>
          <a:p>
            <a:pPr algn="ctr">
              <a:lnSpc>
                <a:spcPts val="6800"/>
              </a:lnSpc>
            </a:pPr>
            <a:r>
              <a:rPr lang="en-US" sz="6800">
                <a:solidFill>
                  <a:srgbClr val="8BB4D9"/>
                </a:solidFill>
                <a:latin typeface="Fredoka"/>
                <a:ea typeface="Fredoka"/>
                <a:cs typeface="Fredoka"/>
                <a:sym typeface="Fredoka"/>
              </a:rPr>
              <a:t>O</a:t>
            </a:r>
            <a:r>
              <a:rPr lang="en-US" sz="6800">
                <a:solidFill>
                  <a:srgbClr val="8BB4D9"/>
                </a:solidFill>
                <a:latin typeface="Fredoka"/>
                <a:ea typeface="Fredoka"/>
                <a:cs typeface="Fredoka"/>
                <a:sym typeface="Fredoka"/>
              </a:rPr>
              <a:t>NE-WAY ANOVA ANALYSIS</a:t>
            </a:r>
          </a:p>
        </p:txBody>
      </p:sp>
      <p:grpSp>
        <p:nvGrpSpPr>
          <p:cNvPr name="Group 13" id="13"/>
          <p:cNvGrpSpPr/>
          <p:nvPr/>
        </p:nvGrpSpPr>
        <p:grpSpPr>
          <a:xfrm rot="0">
            <a:off x="-2502119" y="-766435"/>
            <a:ext cx="3086100" cy="11601215"/>
            <a:chOff x="0" y="0"/>
            <a:chExt cx="812800" cy="3055464"/>
          </a:xfrm>
        </p:grpSpPr>
        <p:sp>
          <p:nvSpPr>
            <p:cNvPr name="Freeform 14" id="14"/>
            <p:cNvSpPr/>
            <p:nvPr/>
          </p:nvSpPr>
          <p:spPr>
            <a:xfrm flipH="false" flipV="false" rot="0">
              <a:off x="0" y="0"/>
              <a:ext cx="812800" cy="3055464"/>
            </a:xfrm>
            <a:custGeom>
              <a:avLst/>
              <a:gdLst/>
              <a:ahLst/>
              <a:cxnLst/>
              <a:rect r="r" b="b" t="t" l="l"/>
              <a:pathLst>
                <a:path h="3055464" w="812800">
                  <a:moveTo>
                    <a:pt x="127941" y="0"/>
                  </a:moveTo>
                  <a:lnTo>
                    <a:pt x="684859" y="0"/>
                  </a:lnTo>
                  <a:cubicBezTo>
                    <a:pt x="718791" y="0"/>
                    <a:pt x="751333" y="13479"/>
                    <a:pt x="775327" y="37473"/>
                  </a:cubicBezTo>
                  <a:cubicBezTo>
                    <a:pt x="799321" y="61467"/>
                    <a:pt x="812800" y="94009"/>
                    <a:pt x="812800" y="127941"/>
                  </a:cubicBezTo>
                  <a:lnTo>
                    <a:pt x="812800" y="2927523"/>
                  </a:lnTo>
                  <a:cubicBezTo>
                    <a:pt x="812800" y="2961455"/>
                    <a:pt x="799321" y="2993997"/>
                    <a:pt x="775327" y="3017991"/>
                  </a:cubicBezTo>
                  <a:cubicBezTo>
                    <a:pt x="751333" y="3041984"/>
                    <a:pt x="718791" y="3055464"/>
                    <a:pt x="684859" y="3055464"/>
                  </a:cubicBezTo>
                  <a:lnTo>
                    <a:pt x="127941" y="3055464"/>
                  </a:lnTo>
                  <a:cubicBezTo>
                    <a:pt x="94009" y="3055464"/>
                    <a:pt x="61467" y="3041984"/>
                    <a:pt x="37473" y="3017991"/>
                  </a:cubicBezTo>
                  <a:cubicBezTo>
                    <a:pt x="13479" y="2993997"/>
                    <a:pt x="0" y="2961455"/>
                    <a:pt x="0" y="2927523"/>
                  </a:cubicBezTo>
                  <a:lnTo>
                    <a:pt x="0" y="127941"/>
                  </a:lnTo>
                  <a:cubicBezTo>
                    <a:pt x="0" y="94009"/>
                    <a:pt x="13479" y="61467"/>
                    <a:pt x="37473" y="37473"/>
                  </a:cubicBezTo>
                  <a:cubicBezTo>
                    <a:pt x="61467" y="13479"/>
                    <a:pt x="94009" y="0"/>
                    <a:pt x="127941" y="0"/>
                  </a:cubicBezTo>
                  <a:close/>
                </a:path>
              </a:pathLst>
            </a:custGeom>
            <a:solidFill>
              <a:srgbClr val="8BB4D9"/>
            </a:solidFill>
          </p:spPr>
        </p:sp>
        <p:sp>
          <p:nvSpPr>
            <p:cNvPr name="TextBox 15" id="15"/>
            <p:cNvSpPr txBox="true"/>
            <p:nvPr/>
          </p:nvSpPr>
          <p:spPr>
            <a:xfrm>
              <a:off x="0" y="-47625"/>
              <a:ext cx="812800" cy="3103089"/>
            </a:xfrm>
            <a:prstGeom prst="rect">
              <a:avLst/>
            </a:prstGeom>
          </p:spPr>
          <p:txBody>
            <a:bodyPr anchor="ctr" rtlCol="false" tIns="50800" lIns="50800" bIns="50800" rIns="50800"/>
            <a:lstStyle/>
            <a:p>
              <a:pPr algn="ctr">
                <a:lnSpc>
                  <a:spcPts val="3359"/>
                </a:lnSpc>
              </a:pPr>
            </a:p>
          </p:txBody>
        </p:sp>
      </p:grpSp>
      <p:sp>
        <p:nvSpPr>
          <p:cNvPr name="Freeform 16" id="16"/>
          <p:cNvSpPr/>
          <p:nvPr/>
        </p:nvSpPr>
        <p:spPr>
          <a:xfrm flipH="false" flipV="false" rot="0">
            <a:off x="135016" y="9410147"/>
            <a:ext cx="897931" cy="876853"/>
          </a:xfrm>
          <a:custGeom>
            <a:avLst/>
            <a:gdLst/>
            <a:ahLst/>
            <a:cxnLst/>
            <a:rect r="r" b="b" t="t" l="l"/>
            <a:pathLst>
              <a:path h="876853" w="897931">
                <a:moveTo>
                  <a:pt x="0" y="0"/>
                </a:moveTo>
                <a:lnTo>
                  <a:pt x="897931" y="0"/>
                </a:lnTo>
                <a:lnTo>
                  <a:pt x="897931" y="876853"/>
                </a:lnTo>
                <a:lnTo>
                  <a:pt x="0" y="8768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15205681" y="-753414"/>
            <a:ext cx="1543050" cy="1506828"/>
          </a:xfrm>
          <a:custGeom>
            <a:avLst/>
            <a:gdLst/>
            <a:ahLst/>
            <a:cxnLst/>
            <a:rect r="r" b="b" t="t" l="l"/>
            <a:pathLst>
              <a:path h="1506828" w="1543050">
                <a:moveTo>
                  <a:pt x="0" y="0"/>
                </a:moveTo>
                <a:lnTo>
                  <a:pt x="1543050" y="0"/>
                </a:lnTo>
                <a:lnTo>
                  <a:pt x="1543050" y="1506828"/>
                </a:lnTo>
                <a:lnTo>
                  <a:pt x="0" y="15068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1869683">
            <a:off x="-1055705" y="1479066"/>
            <a:ext cx="2247845" cy="1818711"/>
          </a:xfrm>
          <a:custGeom>
            <a:avLst/>
            <a:gdLst/>
            <a:ahLst/>
            <a:cxnLst/>
            <a:rect r="r" b="b" t="t" l="l"/>
            <a:pathLst>
              <a:path h="1818711" w="2247845">
                <a:moveTo>
                  <a:pt x="0" y="0"/>
                </a:moveTo>
                <a:lnTo>
                  <a:pt x="2247845" y="0"/>
                </a:lnTo>
                <a:lnTo>
                  <a:pt x="2247845" y="1818711"/>
                </a:lnTo>
                <a:lnTo>
                  <a:pt x="0" y="181871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0">
            <a:off x="1028700" y="3431107"/>
            <a:ext cx="8464214" cy="1323495"/>
          </a:xfrm>
          <a:custGeom>
            <a:avLst/>
            <a:gdLst/>
            <a:ahLst/>
            <a:cxnLst/>
            <a:rect r="r" b="b" t="t" l="l"/>
            <a:pathLst>
              <a:path h="1323495" w="8464214">
                <a:moveTo>
                  <a:pt x="0" y="0"/>
                </a:moveTo>
                <a:lnTo>
                  <a:pt x="8464214" y="0"/>
                </a:lnTo>
                <a:lnTo>
                  <a:pt x="8464214" y="1323495"/>
                </a:lnTo>
                <a:lnTo>
                  <a:pt x="0" y="1323495"/>
                </a:lnTo>
                <a:lnTo>
                  <a:pt x="0" y="0"/>
                </a:lnTo>
                <a:close/>
              </a:path>
            </a:pathLst>
          </a:custGeom>
          <a:blipFill>
            <a:blip r:embed="rId14"/>
            <a:stretch>
              <a:fillRect l="0" t="0" r="0" b="0"/>
            </a:stretch>
          </a:blipFill>
        </p:spPr>
      </p:sp>
      <p:sp>
        <p:nvSpPr>
          <p:cNvPr name="TextBox 20" id="20"/>
          <p:cNvSpPr txBox="true"/>
          <p:nvPr/>
        </p:nvSpPr>
        <p:spPr>
          <a:xfrm rot="0">
            <a:off x="1905929" y="8462025"/>
            <a:ext cx="4796077" cy="1406525"/>
          </a:xfrm>
          <a:prstGeom prst="rect">
            <a:avLst/>
          </a:prstGeom>
        </p:spPr>
        <p:txBody>
          <a:bodyPr anchor="t" rtlCol="false" tIns="0" lIns="0" bIns="0" rIns="0">
            <a:spAutoFit/>
          </a:bodyPr>
          <a:lstStyle/>
          <a:p>
            <a:pPr algn="l" marL="431801" indent="-215900" lvl="1">
              <a:lnSpc>
                <a:spcPts val="2800"/>
              </a:lnSpc>
              <a:buFont typeface="Arial"/>
              <a:buChar char="•"/>
            </a:pPr>
            <a:r>
              <a:rPr lang="en-US" b="true" sz="2000">
                <a:solidFill>
                  <a:srgbClr val="0B0A0A"/>
                </a:solidFill>
                <a:latin typeface="TT Firs Neue Bold"/>
                <a:ea typeface="TT Firs Neue Bold"/>
                <a:cs typeface="TT Firs Neue Bold"/>
                <a:sym typeface="TT Firs Neue Bold"/>
              </a:rPr>
              <a:t>Young</a:t>
            </a:r>
            <a:r>
              <a:rPr lang="en-US" b="true" sz="2000">
                <a:solidFill>
                  <a:srgbClr val="0B0A0A"/>
                </a:solidFill>
                <a:latin typeface="TT Firs Neue Bold"/>
                <a:ea typeface="TT Firs Neue Bold"/>
                <a:cs typeface="TT Firs Neue Bold"/>
                <a:sym typeface="TT Firs Neue Bold"/>
              </a:rPr>
              <a:t>e</a:t>
            </a:r>
            <a:r>
              <a:rPr lang="en-US" b="true" sz="2000">
                <a:solidFill>
                  <a:srgbClr val="0B0A0A"/>
                </a:solidFill>
                <a:latin typeface="TT Firs Neue Bold"/>
                <a:ea typeface="TT Firs Neue Bold"/>
                <a:cs typeface="TT Firs Neue Bold"/>
                <a:sym typeface="TT Firs Neue Bold"/>
              </a:rPr>
              <a:t>r users may enjoy AR more</a:t>
            </a:r>
          </a:p>
          <a:p>
            <a:pPr algn="l" marL="431801" indent="-215900" lvl="1">
              <a:lnSpc>
                <a:spcPts val="2800"/>
              </a:lnSpc>
              <a:buFont typeface="Arial"/>
              <a:buChar char="•"/>
            </a:pPr>
            <a:r>
              <a:rPr lang="en-US" b="true" sz="2000">
                <a:solidFill>
                  <a:srgbClr val="0B0A0A"/>
                </a:solidFill>
                <a:latin typeface="TT Firs Neue Bold"/>
                <a:ea typeface="TT Firs Neue Bold"/>
                <a:cs typeface="TT Firs Neue Bold"/>
                <a:sym typeface="TT Firs Neue Bold"/>
              </a:rPr>
              <a:t>Older users may find it difficult</a:t>
            </a:r>
          </a:p>
          <a:p>
            <a:pPr algn="l">
              <a:lnSpc>
                <a:spcPts val="2800"/>
              </a:lnSpc>
            </a:pPr>
          </a:p>
        </p:txBody>
      </p:sp>
      <p:sp>
        <p:nvSpPr>
          <p:cNvPr name="TextBox 21" id="21"/>
          <p:cNvSpPr txBox="true"/>
          <p:nvPr/>
        </p:nvSpPr>
        <p:spPr>
          <a:xfrm rot="0">
            <a:off x="1721959" y="1801697"/>
            <a:ext cx="14805332" cy="1362710"/>
          </a:xfrm>
          <a:prstGeom prst="rect">
            <a:avLst/>
          </a:prstGeom>
        </p:spPr>
        <p:txBody>
          <a:bodyPr anchor="t" rtlCol="false" tIns="0" lIns="0" bIns="0" rIns="0">
            <a:spAutoFit/>
          </a:bodyPr>
          <a:lstStyle/>
          <a:p>
            <a:pPr algn="ctr" marL="0" indent="0" lvl="0">
              <a:lnSpc>
                <a:spcPts val="3639"/>
              </a:lnSpc>
            </a:pPr>
            <a:r>
              <a:rPr lang="en-US" b="true" sz="2599">
                <a:solidFill>
                  <a:srgbClr val="0B0A0A"/>
                </a:solidFill>
                <a:latin typeface="TT Firs Neue Bold"/>
                <a:ea typeface="TT Firs Neue Bold"/>
                <a:cs typeface="TT Firs Neue Bold"/>
                <a:sym typeface="TT Firs Neue Bold"/>
              </a:rPr>
              <a:t>To</a:t>
            </a:r>
            <a:r>
              <a:rPr lang="en-US" b="true" sz="2599">
                <a:solidFill>
                  <a:srgbClr val="0B0A0A"/>
                </a:solidFill>
                <a:latin typeface="TT Firs Neue Bold"/>
                <a:ea typeface="TT Firs Neue Bold"/>
                <a:cs typeface="TT Firs Neue Bold"/>
                <a:sym typeface="TT Firs Neue Bold"/>
              </a:rPr>
              <a:t> examine whether differe</a:t>
            </a:r>
            <a:r>
              <a:rPr lang="en-US" b="true" sz="2599">
                <a:solidFill>
                  <a:srgbClr val="0B0A0A"/>
                </a:solidFill>
                <a:latin typeface="TT Firs Neue Bold"/>
                <a:ea typeface="TT Firs Neue Bold"/>
                <a:cs typeface="TT Firs Neue Bold"/>
                <a:sym typeface="TT Firs Neue Bold"/>
              </a:rPr>
              <a:t>nt age groups show significant differences in their AR Try-On Experience.</a:t>
            </a:r>
          </a:p>
          <a:p>
            <a:pPr algn="l">
              <a:lnSpc>
                <a:spcPts val="3639"/>
              </a:lnSpc>
            </a:pPr>
          </a:p>
        </p:txBody>
      </p:sp>
      <p:sp>
        <p:nvSpPr>
          <p:cNvPr name="TextBox 22" id="22"/>
          <p:cNvSpPr txBox="true"/>
          <p:nvPr/>
        </p:nvSpPr>
        <p:spPr>
          <a:xfrm rot="0">
            <a:off x="11976596" y="9362522"/>
            <a:ext cx="4431804" cy="405765"/>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TT Firs Neue Bold"/>
                <a:ea typeface="TT Firs Neue Bold"/>
                <a:cs typeface="TT Firs Neue Bold"/>
                <a:sym typeface="TT Firs Neue Bold"/>
              </a:rPr>
              <a:t>Age Group vs AR Experience</a:t>
            </a:r>
          </a:p>
        </p:txBody>
      </p:sp>
      <p:sp>
        <p:nvSpPr>
          <p:cNvPr name="TextBox 23" id="23"/>
          <p:cNvSpPr txBox="true"/>
          <p:nvPr/>
        </p:nvSpPr>
        <p:spPr>
          <a:xfrm rot="0">
            <a:off x="616963" y="5095875"/>
            <a:ext cx="9323627" cy="3164203"/>
          </a:xfrm>
          <a:prstGeom prst="rect">
            <a:avLst/>
          </a:prstGeom>
        </p:spPr>
        <p:txBody>
          <a:bodyPr anchor="t" rtlCol="false" tIns="0" lIns="0" bIns="0" rIns="0">
            <a:spAutoFit/>
          </a:bodyPr>
          <a:lstStyle/>
          <a:p>
            <a:pPr algn="l" marL="554258" indent="-277129" lvl="1">
              <a:lnSpc>
                <a:spcPts val="3594"/>
              </a:lnSpc>
              <a:buFont typeface="Arial"/>
              <a:buChar char="•"/>
            </a:pPr>
            <a:r>
              <a:rPr lang="en-US" sz="2567">
                <a:solidFill>
                  <a:srgbClr val="0B0A0A"/>
                </a:solidFill>
                <a:latin typeface="TT Firs Neue"/>
                <a:ea typeface="TT Firs Neue"/>
                <a:cs typeface="TT Firs Neue"/>
                <a:sym typeface="TT Firs Neue"/>
              </a:rPr>
              <a:t> Young</a:t>
            </a:r>
            <a:r>
              <a:rPr lang="en-US" sz="2567">
                <a:solidFill>
                  <a:srgbClr val="0B0A0A"/>
                </a:solidFill>
                <a:latin typeface="TT Firs Neue"/>
                <a:ea typeface="TT Firs Neue"/>
                <a:cs typeface="TT Firs Neue"/>
                <a:sym typeface="TT Firs Neue"/>
              </a:rPr>
              <a:t>e</a:t>
            </a:r>
            <a:r>
              <a:rPr lang="en-US" sz="2567">
                <a:solidFill>
                  <a:srgbClr val="0B0A0A"/>
                </a:solidFill>
                <a:latin typeface="TT Firs Neue"/>
                <a:ea typeface="TT Firs Neue"/>
                <a:cs typeface="TT Firs Neue"/>
                <a:sym typeface="TT Firs Neue"/>
              </a:rPr>
              <a:t>r respondents reported higher AR experience scores compared to older age groups.</a:t>
            </a:r>
          </a:p>
          <a:p>
            <a:pPr algn="l" marL="554258" indent="-277129" lvl="1">
              <a:lnSpc>
                <a:spcPts val="3594"/>
              </a:lnSpc>
              <a:buFont typeface="Arial"/>
              <a:buChar char="•"/>
            </a:pPr>
            <a:r>
              <a:rPr lang="en-US" sz="2567">
                <a:solidFill>
                  <a:srgbClr val="0B0A0A"/>
                </a:solidFill>
                <a:latin typeface="TT Firs Neue"/>
                <a:ea typeface="TT Firs Neue"/>
                <a:cs typeface="TT Firs Neue"/>
                <a:sym typeface="TT Firs Neue"/>
              </a:rPr>
              <a:t>The ANOVA results showed a statistically significant difference (p &lt; 0.05).</a:t>
            </a:r>
          </a:p>
          <a:p>
            <a:pPr algn="l" marL="554258" indent="-277129" lvl="1">
              <a:lnSpc>
                <a:spcPts val="3594"/>
              </a:lnSpc>
              <a:buFont typeface="Arial"/>
              <a:buChar char="•"/>
            </a:pPr>
            <a:r>
              <a:rPr lang="en-US" sz="2567">
                <a:solidFill>
                  <a:srgbClr val="0B0A0A"/>
                </a:solidFill>
                <a:latin typeface="TT Firs Neue"/>
                <a:ea typeface="TT Firs Neue"/>
                <a:cs typeface="TT Firs Neue"/>
                <a:sym typeface="TT Firs Neue"/>
              </a:rPr>
              <a:t>This suggests that age influences consumer perception and adoption of AR technologies.</a:t>
            </a:r>
          </a:p>
          <a:p>
            <a:pPr algn="l">
              <a:lnSpc>
                <a:spcPts val="3594"/>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401498" y="1804823"/>
            <a:ext cx="4737762" cy="2474372"/>
            <a:chOff x="0" y="0"/>
            <a:chExt cx="948529" cy="495397"/>
          </a:xfrm>
        </p:grpSpPr>
        <p:sp>
          <p:nvSpPr>
            <p:cNvPr name="Freeform 4" id="4"/>
            <p:cNvSpPr/>
            <p:nvPr/>
          </p:nvSpPr>
          <p:spPr>
            <a:xfrm flipH="false" flipV="false" rot="0">
              <a:off x="0" y="0"/>
              <a:ext cx="948529" cy="495397"/>
            </a:xfrm>
            <a:custGeom>
              <a:avLst/>
              <a:gdLst/>
              <a:ahLst/>
              <a:cxnLst/>
              <a:rect r="r" b="b" t="t" l="l"/>
              <a:pathLst>
                <a:path h="495397" w="948529">
                  <a:moveTo>
                    <a:pt x="948529" y="49023"/>
                  </a:moveTo>
                  <a:lnTo>
                    <a:pt x="948529" y="446375"/>
                  </a:lnTo>
                  <a:cubicBezTo>
                    <a:pt x="948529" y="473449"/>
                    <a:pt x="926580" y="495397"/>
                    <a:pt x="899506" y="495397"/>
                  </a:cubicBezTo>
                  <a:lnTo>
                    <a:pt x="49023" y="495397"/>
                  </a:lnTo>
                  <a:cubicBezTo>
                    <a:pt x="21948" y="495397"/>
                    <a:pt x="0" y="473449"/>
                    <a:pt x="0" y="446375"/>
                  </a:cubicBezTo>
                  <a:lnTo>
                    <a:pt x="0" y="49023"/>
                  </a:lnTo>
                  <a:cubicBezTo>
                    <a:pt x="0" y="21948"/>
                    <a:pt x="21948" y="0"/>
                    <a:pt x="49023" y="0"/>
                  </a:cubicBezTo>
                  <a:lnTo>
                    <a:pt x="899506" y="0"/>
                  </a:lnTo>
                  <a:cubicBezTo>
                    <a:pt x="912507" y="0"/>
                    <a:pt x="924977" y="5165"/>
                    <a:pt x="934170" y="14358"/>
                  </a:cubicBezTo>
                  <a:cubicBezTo>
                    <a:pt x="943364" y="23552"/>
                    <a:pt x="948529" y="36021"/>
                    <a:pt x="948529" y="49023"/>
                  </a:cubicBezTo>
                  <a:close/>
                </a:path>
              </a:pathLst>
            </a:custGeom>
            <a:solidFill>
              <a:srgbClr val="F4CBC6"/>
            </a:solidFill>
          </p:spPr>
        </p:sp>
        <p:sp>
          <p:nvSpPr>
            <p:cNvPr name="TextBox 5" id="5"/>
            <p:cNvSpPr txBox="true"/>
            <p:nvPr/>
          </p:nvSpPr>
          <p:spPr>
            <a:xfrm>
              <a:off x="0" y="-57150"/>
              <a:ext cx="948529" cy="552547"/>
            </a:xfrm>
            <a:prstGeom prst="rect">
              <a:avLst/>
            </a:prstGeom>
          </p:spPr>
          <p:txBody>
            <a:bodyPr anchor="ctr" rtlCol="false" tIns="50800" lIns="50800" bIns="50800" rIns="50800"/>
            <a:lstStyle/>
            <a:p>
              <a:pPr algn="ctr">
                <a:lnSpc>
                  <a:spcPts val="3306"/>
                </a:lnSpc>
              </a:pPr>
            </a:p>
          </p:txBody>
        </p:sp>
      </p:grpSp>
      <p:grpSp>
        <p:nvGrpSpPr>
          <p:cNvPr name="Group 6" id="6"/>
          <p:cNvGrpSpPr/>
          <p:nvPr/>
        </p:nvGrpSpPr>
        <p:grpSpPr>
          <a:xfrm rot="0">
            <a:off x="2401498" y="4669720"/>
            <a:ext cx="4737762" cy="2245727"/>
            <a:chOff x="0" y="0"/>
            <a:chExt cx="1247836" cy="591497"/>
          </a:xfrm>
        </p:grpSpPr>
        <p:sp>
          <p:nvSpPr>
            <p:cNvPr name="Freeform 7" id="7"/>
            <p:cNvSpPr/>
            <p:nvPr/>
          </p:nvSpPr>
          <p:spPr>
            <a:xfrm flipH="false" flipV="false" rot="0">
              <a:off x="0" y="0"/>
              <a:ext cx="1247836" cy="591497"/>
            </a:xfrm>
            <a:custGeom>
              <a:avLst/>
              <a:gdLst/>
              <a:ahLst/>
              <a:cxnLst/>
              <a:rect r="r" b="b" t="t" l="l"/>
              <a:pathLst>
                <a:path h="591497" w="1247836">
                  <a:moveTo>
                    <a:pt x="1247836" y="49023"/>
                  </a:moveTo>
                  <a:lnTo>
                    <a:pt x="1247836" y="542475"/>
                  </a:lnTo>
                  <a:cubicBezTo>
                    <a:pt x="1247836" y="569549"/>
                    <a:pt x="1225888" y="591497"/>
                    <a:pt x="1198814" y="591497"/>
                  </a:cubicBezTo>
                  <a:lnTo>
                    <a:pt x="49023" y="591497"/>
                  </a:lnTo>
                  <a:cubicBezTo>
                    <a:pt x="21948" y="591497"/>
                    <a:pt x="0" y="569549"/>
                    <a:pt x="0" y="542475"/>
                  </a:cubicBezTo>
                  <a:lnTo>
                    <a:pt x="0" y="49023"/>
                  </a:lnTo>
                  <a:cubicBezTo>
                    <a:pt x="0" y="21948"/>
                    <a:pt x="21948" y="0"/>
                    <a:pt x="49023" y="0"/>
                  </a:cubicBezTo>
                  <a:lnTo>
                    <a:pt x="1198814" y="0"/>
                  </a:lnTo>
                  <a:cubicBezTo>
                    <a:pt x="1211815" y="0"/>
                    <a:pt x="1224284" y="5165"/>
                    <a:pt x="1233478" y="14358"/>
                  </a:cubicBezTo>
                  <a:cubicBezTo>
                    <a:pt x="1242671" y="23552"/>
                    <a:pt x="1247836" y="36021"/>
                    <a:pt x="1247836" y="49023"/>
                  </a:cubicBezTo>
                  <a:close/>
                </a:path>
              </a:pathLst>
            </a:custGeom>
            <a:solidFill>
              <a:srgbClr val="8BB4D9"/>
            </a:solidFill>
          </p:spPr>
        </p:sp>
        <p:sp>
          <p:nvSpPr>
            <p:cNvPr name="TextBox 8" id="8"/>
            <p:cNvSpPr txBox="true"/>
            <p:nvPr/>
          </p:nvSpPr>
          <p:spPr>
            <a:xfrm>
              <a:off x="0" y="-57150"/>
              <a:ext cx="1247836" cy="648647"/>
            </a:xfrm>
            <a:prstGeom prst="rect">
              <a:avLst/>
            </a:prstGeom>
          </p:spPr>
          <p:txBody>
            <a:bodyPr anchor="ctr" rtlCol="false" tIns="50800" lIns="50800" bIns="50800" rIns="50800"/>
            <a:lstStyle/>
            <a:p>
              <a:pPr algn="ctr">
                <a:lnSpc>
                  <a:spcPts val="3306"/>
                </a:lnSpc>
              </a:pPr>
            </a:p>
          </p:txBody>
        </p:sp>
      </p:grpSp>
      <p:grpSp>
        <p:nvGrpSpPr>
          <p:cNvPr name="Group 9" id="9"/>
          <p:cNvGrpSpPr/>
          <p:nvPr/>
        </p:nvGrpSpPr>
        <p:grpSpPr>
          <a:xfrm rot="0">
            <a:off x="2401498" y="7416915"/>
            <a:ext cx="4621138" cy="2387201"/>
            <a:chOff x="0" y="0"/>
            <a:chExt cx="1217120" cy="628760"/>
          </a:xfrm>
        </p:grpSpPr>
        <p:sp>
          <p:nvSpPr>
            <p:cNvPr name="Freeform 10" id="10"/>
            <p:cNvSpPr/>
            <p:nvPr/>
          </p:nvSpPr>
          <p:spPr>
            <a:xfrm flipH="false" flipV="false" rot="0">
              <a:off x="0" y="0"/>
              <a:ext cx="1217120" cy="628760"/>
            </a:xfrm>
            <a:custGeom>
              <a:avLst/>
              <a:gdLst/>
              <a:ahLst/>
              <a:cxnLst/>
              <a:rect r="r" b="b" t="t" l="l"/>
              <a:pathLst>
                <a:path h="628760" w="1217120">
                  <a:moveTo>
                    <a:pt x="1217120" y="50260"/>
                  </a:moveTo>
                  <a:lnTo>
                    <a:pt x="1217120" y="578500"/>
                  </a:lnTo>
                  <a:cubicBezTo>
                    <a:pt x="1217120" y="606258"/>
                    <a:pt x="1194617" y="628760"/>
                    <a:pt x="1166860" y="628760"/>
                  </a:cubicBezTo>
                  <a:lnTo>
                    <a:pt x="50260" y="628760"/>
                  </a:lnTo>
                  <a:cubicBezTo>
                    <a:pt x="36930" y="628760"/>
                    <a:pt x="24146" y="623465"/>
                    <a:pt x="14721" y="614039"/>
                  </a:cubicBezTo>
                  <a:cubicBezTo>
                    <a:pt x="5295" y="604614"/>
                    <a:pt x="0" y="591830"/>
                    <a:pt x="0" y="578500"/>
                  </a:cubicBezTo>
                  <a:lnTo>
                    <a:pt x="0" y="50260"/>
                  </a:lnTo>
                  <a:cubicBezTo>
                    <a:pt x="0" y="36930"/>
                    <a:pt x="5295" y="24146"/>
                    <a:pt x="14721" y="14721"/>
                  </a:cubicBezTo>
                  <a:cubicBezTo>
                    <a:pt x="24146" y="5295"/>
                    <a:pt x="36930" y="0"/>
                    <a:pt x="50260" y="0"/>
                  </a:cubicBezTo>
                  <a:lnTo>
                    <a:pt x="1166860" y="0"/>
                  </a:lnTo>
                  <a:cubicBezTo>
                    <a:pt x="1180189" y="0"/>
                    <a:pt x="1192973" y="5295"/>
                    <a:pt x="1202399" y="14721"/>
                  </a:cubicBezTo>
                  <a:cubicBezTo>
                    <a:pt x="1211824" y="24146"/>
                    <a:pt x="1217120" y="36930"/>
                    <a:pt x="1217120" y="50260"/>
                  </a:cubicBezTo>
                  <a:close/>
                </a:path>
              </a:pathLst>
            </a:custGeom>
            <a:solidFill>
              <a:srgbClr val="F4CBC6"/>
            </a:solidFill>
          </p:spPr>
        </p:sp>
        <p:sp>
          <p:nvSpPr>
            <p:cNvPr name="TextBox 11" id="11"/>
            <p:cNvSpPr txBox="true"/>
            <p:nvPr/>
          </p:nvSpPr>
          <p:spPr>
            <a:xfrm>
              <a:off x="0" y="-57150"/>
              <a:ext cx="1217120" cy="685910"/>
            </a:xfrm>
            <a:prstGeom prst="rect">
              <a:avLst/>
            </a:prstGeom>
          </p:spPr>
          <p:txBody>
            <a:bodyPr anchor="ctr" rtlCol="false" tIns="50800" lIns="50800" bIns="50800" rIns="50800"/>
            <a:lstStyle/>
            <a:p>
              <a:pPr algn="ctr">
                <a:lnSpc>
                  <a:spcPts val="3306"/>
                </a:lnSpc>
              </a:pPr>
            </a:p>
          </p:txBody>
        </p:sp>
      </p:grpSp>
      <p:sp>
        <p:nvSpPr>
          <p:cNvPr name="Freeform 12" id="12"/>
          <p:cNvSpPr/>
          <p:nvPr/>
        </p:nvSpPr>
        <p:spPr>
          <a:xfrm flipH="false" flipV="false" rot="0">
            <a:off x="1110720" y="1899523"/>
            <a:ext cx="476894" cy="476894"/>
          </a:xfrm>
          <a:custGeom>
            <a:avLst/>
            <a:gdLst/>
            <a:ahLst/>
            <a:cxnLst/>
            <a:rect r="r" b="b" t="t" l="l"/>
            <a:pathLst>
              <a:path h="476894" w="476894">
                <a:moveTo>
                  <a:pt x="0" y="0"/>
                </a:moveTo>
                <a:lnTo>
                  <a:pt x="476894" y="0"/>
                </a:lnTo>
                <a:lnTo>
                  <a:pt x="476894" y="476893"/>
                </a:lnTo>
                <a:lnTo>
                  <a:pt x="0" y="4768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110720" y="4838102"/>
            <a:ext cx="476894" cy="476894"/>
          </a:xfrm>
          <a:custGeom>
            <a:avLst/>
            <a:gdLst/>
            <a:ahLst/>
            <a:cxnLst/>
            <a:rect r="r" b="b" t="t" l="l"/>
            <a:pathLst>
              <a:path h="476894" w="476894">
                <a:moveTo>
                  <a:pt x="0" y="0"/>
                </a:moveTo>
                <a:lnTo>
                  <a:pt x="476894" y="0"/>
                </a:lnTo>
                <a:lnTo>
                  <a:pt x="476894" y="476894"/>
                </a:lnTo>
                <a:lnTo>
                  <a:pt x="0" y="4768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066910" y="7746991"/>
            <a:ext cx="476894" cy="476894"/>
          </a:xfrm>
          <a:custGeom>
            <a:avLst/>
            <a:gdLst/>
            <a:ahLst/>
            <a:cxnLst/>
            <a:rect r="r" b="b" t="t" l="l"/>
            <a:pathLst>
              <a:path h="476894" w="476894">
                <a:moveTo>
                  <a:pt x="0" y="0"/>
                </a:moveTo>
                <a:lnTo>
                  <a:pt x="476894" y="0"/>
                </a:lnTo>
                <a:lnTo>
                  <a:pt x="476894" y="476894"/>
                </a:lnTo>
                <a:lnTo>
                  <a:pt x="0" y="4768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437429" y="432588"/>
            <a:ext cx="11632590" cy="721996"/>
          </a:xfrm>
          <a:prstGeom prst="rect">
            <a:avLst/>
          </a:prstGeom>
        </p:spPr>
        <p:txBody>
          <a:bodyPr anchor="t" rtlCol="false" tIns="0" lIns="0" bIns="0" rIns="0">
            <a:spAutoFit/>
          </a:bodyPr>
          <a:lstStyle/>
          <a:p>
            <a:pPr algn="ctr" marL="0" indent="0" lvl="0">
              <a:lnSpc>
                <a:spcPts val="5610"/>
              </a:lnSpc>
              <a:spcBef>
                <a:spcPct val="0"/>
              </a:spcBef>
            </a:pPr>
            <a:r>
              <a:rPr lang="en-US" sz="5100">
                <a:solidFill>
                  <a:srgbClr val="8BB4D9"/>
                </a:solidFill>
                <a:latin typeface="Fredoka"/>
                <a:ea typeface="Fredoka"/>
                <a:cs typeface="Fredoka"/>
                <a:sym typeface="Fredoka"/>
              </a:rPr>
              <a:t>SEGMENTATION</a:t>
            </a:r>
          </a:p>
        </p:txBody>
      </p:sp>
      <p:grpSp>
        <p:nvGrpSpPr>
          <p:cNvPr name="Group 16" id="16"/>
          <p:cNvGrpSpPr/>
          <p:nvPr/>
        </p:nvGrpSpPr>
        <p:grpSpPr>
          <a:xfrm rot="0">
            <a:off x="-514350" y="10109941"/>
            <a:ext cx="20001260" cy="508552"/>
            <a:chOff x="0" y="0"/>
            <a:chExt cx="5267822" cy="133940"/>
          </a:xfrm>
        </p:grpSpPr>
        <p:sp>
          <p:nvSpPr>
            <p:cNvPr name="Freeform 17" id="17"/>
            <p:cNvSpPr/>
            <p:nvPr/>
          </p:nvSpPr>
          <p:spPr>
            <a:xfrm flipH="false" flipV="false" rot="0">
              <a:off x="0" y="0"/>
              <a:ext cx="5267821" cy="133940"/>
            </a:xfrm>
            <a:custGeom>
              <a:avLst/>
              <a:gdLst/>
              <a:ahLst/>
              <a:cxnLst/>
              <a:rect r="r" b="b" t="t" l="l"/>
              <a:pathLst>
                <a:path h="133940" w="5267821">
                  <a:moveTo>
                    <a:pt x="0" y="0"/>
                  </a:moveTo>
                  <a:lnTo>
                    <a:pt x="5267821" y="0"/>
                  </a:lnTo>
                  <a:lnTo>
                    <a:pt x="5267821" y="133940"/>
                  </a:lnTo>
                  <a:lnTo>
                    <a:pt x="0" y="133940"/>
                  </a:lnTo>
                  <a:close/>
                </a:path>
              </a:pathLst>
            </a:custGeom>
            <a:solidFill>
              <a:srgbClr val="8BB4D9"/>
            </a:solidFill>
          </p:spPr>
        </p:sp>
        <p:sp>
          <p:nvSpPr>
            <p:cNvPr name="TextBox 18" id="18"/>
            <p:cNvSpPr txBox="true"/>
            <p:nvPr/>
          </p:nvSpPr>
          <p:spPr>
            <a:xfrm>
              <a:off x="0" y="-47625"/>
              <a:ext cx="5267822" cy="181565"/>
            </a:xfrm>
            <a:prstGeom prst="rect">
              <a:avLst/>
            </a:prstGeom>
          </p:spPr>
          <p:txBody>
            <a:bodyPr anchor="ctr" rtlCol="false" tIns="50800" lIns="50800" bIns="50800" rIns="50800"/>
            <a:lstStyle/>
            <a:p>
              <a:pPr algn="ctr">
                <a:lnSpc>
                  <a:spcPts val="3359"/>
                </a:lnSpc>
              </a:pPr>
            </a:p>
          </p:txBody>
        </p:sp>
      </p:grpSp>
      <p:sp>
        <p:nvSpPr>
          <p:cNvPr name="Freeform 19" id="19"/>
          <p:cNvSpPr/>
          <p:nvPr/>
        </p:nvSpPr>
        <p:spPr>
          <a:xfrm flipH="false" flipV="false" rot="0">
            <a:off x="17066659" y="530116"/>
            <a:ext cx="1021139" cy="997168"/>
          </a:xfrm>
          <a:custGeom>
            <a:avLst/>
            <a:gdLst/>
            <a:ahLst/>
            <a:cxnLst/>
            <a:rect r="r" b="b" t="t" l="l"/>
            <a:pathLst>
              <a:path h="997168" w="1021139">
                <a:moveTo>
                  <a:pt x="0" y="0"/>
                </a:moveTo>
                <a:lnTo>
                  <a:pt x="1021139" y="0"/>
                </a:lnTo>
                <a:lnTo>
                  <a:pt x="1021139" y="997168"/>
                </a:lnTo>
                <a:lnTo>
                  <a:pt x="0" y="9971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016930" y="3654139"/>
            <a:ext cx="1543050" cy="1506828"/>
          </a:xfrm>
          <a:custGeom>
            <a:avLst/>
            <a:gdLst/>
            <a:ahLst/>
            <a:cxnLst/>
            <a:rect r="r" b="b" t="t" l="l"/>
            <a:pathLst>
              <a:path h="1506828" w="1543050">
                <a:moveTo>
                  <a:pt x="0" y="0"/>
                </a:moveTo>
                <a:lnTo>
                  <a:pt x="1543050" y="0"/>
                </a:lnTo>
                <a:lnTo>
                  <a:pt x="1543050" y="1506828"/>
                </a:lnTo>
                <a:lnTo>
                  <a:pt x="0" y="15068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p:cNvSpPr/>
          <p:nvPr/>
        </p:nvSpPr>
        <p:spPr>
          <a:xfrm flipH="false" flipV="false" rot="0">
            <a:off x="-1946749" y="533005"/>
            <a:ext cx="2247845" cy="1818711"/>
          </a:xfrm>
          <a:custGeom>
            <a:avLst/>
            <a:gdLst/>
            <a:ahLst/>
            <a:cxnLst/>
            <a:rect r="r" b="b" t="t" l="l"/>
            <a:pathLst>
              <a:path h="1818711" w="2247845">
                <a:moveTo>
                  <a:pt x="0" y="0"/>
                </a:moveTo>
                <a:lnTo>
                  <a:pt x="2247844" y="0"/>
                </a:lnTo>
                <a:lnTo>
                  <a:pt x="2247844" y="1818711"/>
                </a:lnTo>
                <a:lnTo>
                  <a:pt x="0" y="1818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22" id="22"/>
          <p:cNvSpPr/>
          <p:nvPr/>
        </p:nvSpPr>
        <p:spPr>
          <a:xfrm flipV="true">
            <a:off x="7999627" y="1420506"/>
            <a:ext cx="0" cy="7788980"/>
          </a:xfrm>
          <a:prstGeom prst="line">
            <a:avLst/>
          </a:prstGeom>
          <a:ln cap="flat" w="38100">
            <a:solidFill>
              <a:srgbClr val="000000"/>
            </a:solidFill>
            <a:prstDash val="solid"/>
            <a:headEnd type="none" len="sm" w="sm"/>
            <a:tailEnd type="none" len="sm" w="sm"/>
          </a:ln>
        </p:spPr>
      </p:sp>
      <p:sp>
        <p:nvSpPr>
          <p:cNvPr name="Freeform 23" id="23"/>
          <p:cNvSpPr/>
          <p:nvPr/>
        </p:nvSpPr>
        <p:spPr>
          <a:xfrm flipH="false" flipV="false" rot="0">
            <a:off x="8515477" y="1060604"/>
            <a:ext cx="661679" cy="744219"/>
          </a:xfrm>
          <a:custGeom>
            <a:avLst/>
            <a:gdLst/>
            <a:ahLst/>
            <a:cxnLst/>
            <a:rect r="r" b="b" t="t" l="l"/>
            <a:pathLst>
              <a:path h="744219" w="661679">
                <a:moveTo>
                  <a:pt x="0" y="0"/>
                </a:moveTo>
                <a:lnTo>
                  <a:pt x="661679" y="0"/>
                </a:lnTo>
                <a:lnTo>
                  <a:pt x="661679" y="744219"/>
                </a:lnTo>
                <a:lnTo>
                  <a:pt x="0" y="74421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p:cNvSpPr/>
          <p:nvPr/>
        </p:nvSpPr>
        <p:spPr>
          <a:xfrm flipH="false" flipV="false" rot="0">
            <a:off x="13167465" y="1060604"/>
            <a:ext cx="4091835" cy="4254392"/>
          </a:xfrm>
          <a:custGeom>
            <a:avLst/>
            <a:gdLst/>
            <a:ahLst/>
            <a:cxnLst/>
            <a:rect r="r" b="b" t="t" l="l"/>
            <a:pathLst>
              <a:path h="4254392" w="4091835">
                <a:moveTo>
                  <a:pt x="0" y="0"/>
                </a:moveTo>
                <a:lnTo>
                  <a:pt x="4091835" y="0"/>
                </a:lnTo>
                <a:lnTo>
                  <a:pt x="4091835" y="4254392"/>
                </a:lnTo>
                <a:lnTo>
                  <a:pt x="0" y="4254392"/>
                </a:lnTo>
                <a:lnTo>
                  <a:pt x="0" y="0"/>
                </a:lnTo>
                <a:close/>
              </a:path>
            </a:pathLst>
          </a:custGeom>
          <a:blipFill>
            <a:blip r:embed="rId13"/>
            <a:stretch>
              <a:fillRect l="-47" t="0" r="-2242" b="-802"/>
            </a:stretch>
          </a:blipFill>
          <a:ln w="38100" cap="sq">
            <a:solidFill>
              <a:srgbClr val="000000"/>
            </a:solidFill>
            <a:prstDash val="solid"/>
            <a:miter/>
          </a:ln>
        </p:spPr>
      </p:sp>
      <p:sp>
        <p:nvSpPr>
          <p:cNvPr name="Freeform 25" id="25"/>
          <p:cNvSpPr/>
          <p:nvPr/>
        </p:nvSpPr>
        <p:spPr>
          <a:xfrm flipH="false" flipV="false" rot="0">
            <a:off x="8161552" y="3267982"/>
            <a:ext cx="4859921" cy="772313"/>
          </a:xfrm>
          <a:custGeom>
            <a:avLst/>
            <a:gdLst/>
            <a:ahLst/>
            <a:cxnLst/>
            <a:rect r="r" b="b" t="t" l="l"/>
            <a:pathLst>
              <a:path h="772313" w="4859921">
                <a:moveTo>
                  <a:pt x="0" y="0"/>
                </a:moveTo>
                <a:lnTo>
                  <a:pt x="4859921" y="0"/>
                </a:lnTo>
                <a:lnTo>
                  <a:pt x="4859921" y="772313"/>
                </a:lnTo>
                <a:lnTo>
                  <a:pt x="0" y="772313"/>
                </a:lnTo>
                <a:lnTo>
                  <a:pt x="0" y="0"/>
                </a:lnTo>
                <a:close/>
              </a:path>
            </a:pathLst>
          </a:custGeom>
          <a:blipFill>
            <a:blip r:embed="rId14"/>
            <a:stretch>
              <a:fillRect l="0" t="0" r="0" b="0"/>
            </a:stretch>
          </a:blipFill>
          <a:ln w="38100" cap="sq">
            <a:solidFill>
              <a:srgbClr val="000000"/>
            </a:solidFill>
            <a:prstDash val="solid"/>
            <a:miter/>
          </a:ln>
        </p:spPr>
      </p:sp>
      <p:sp>
        <p:nvSpPr>
          <p:cNvPr name="Freeform 26" id="26"/>
          <p:cNvSpPr/>
          <p:nvPr/>
        </p:nvSpPr>
        <p:spPr>
          <a:xfrm flipH="false" flipV="false" rot="0">
            <a:off x="16735820" y="5721709"/>
            <a:ext cx="661679" cy="744219"/>
          </a:xfrm>
          <a:custGeom>
            <a:avLst/>
            <a:gdLst/>
            <a:ahLst/>
            <a:cxnLst/>
            <a:rect r="r" b="b" t="t" l="l"/>
            <a:pathLst>
              <a:path h="744219" w="661679">
                <a:moveTo>
                  <a:pt x="0" y="0"/>
                </a:moveTo>
                <a:lnTo>
                  <a:pt x="661678" y="0"/>
                </a:lnTo>
                <a:lnTo>
                  <a:pt x="661678" y="744220"/>
                </a:lnTo>
                <a:lnTo>
                  <a:pt x="0" y="74422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7" id="27"/>
          <p:cNvSpPr/>
          <p:nvPr/>
        </p:nvSpPr>
        <p:spPr>
          <a:xfrm flipH="false" flipV="false" rot="0">
            <a:off x="8409914" y="4669720"/>
            <a:ext cx="4366315" cy="5184999"/>
          </a:xfrm>
          <a:custGeom>
            <a:avLst/>
            <a:gdLst/>
            <a:ahLst/>
            <a:cxnLst/>
            <a:rect r="r" b="b" t="t" l="l"/>
            <a:pathLst>
              <a:path h="5184999" w="4366315">
                <a:moveTo>
                  <a:pt x="0" y="0"/>
                </a:moveTo>
                <a:lnTo>
                  <a:pt x="4366314" y="0"/>
                </a:lnTo>
                <a:lnTo>
                  <a:pt x="4366314" y="5184999"/>
                </a:lnTo>
                <a:lnTo>
                  <a:pt x="0" y="5184999"/>
                </a:lnTo>
                <a:lnTo>
                  <a:pt x="0" y="0"/>
                </a:lnTo>
                <a:close/>
              </a:path>
            </a:pathLst>
          </a:custGeom>
          <a:blipFill>
            <a:blip r:embed="rId15"/>
            <a:stretch>
              <a:fillRect l="0" t="0" r="0" b="0"/>
            </a:stretch>
          </a:blipFill>
          <a:ln w="38100" cap="sq">
            <a:solidFill>
              <a:srgbClr val="000000"/>
            </a:solidFill>
            <a:prstDash val="solid"/>
            <a:miter/>
          </a:ln>
        </p:spPr>
      </p:sp>
      <p:sp>
        <p:nvSpPr>
          <p:cNvPr name="Freeform 28" id="28"/>
          <p:cNvSpPr/>
          <p:nvPr/>
        </p:nvSpPr>
        <p:spPr>
          <a:xfrm flipH="false" flipV="false" rot="0">
            <a:off x="13298326" y="7848856"/>
            <a:ext cx="4278902" cy="1955260"/>
          </a:xfrm>
          <a:custGeom>
            <a:avLst/>
            <a:gdLst/>
            <a:ahLst/>
            <a:cxnLst/>
            <a:rect r="r" b="b" t="t" l="l"/>
            <a:pathLst>
              <a:path h="1955260" w="4278902">
                <a:moveTo>
                  <a:pt x="0" y="0"/>
                </a:moveTo>
                <a:lnTo>
                  <a:pt x="4278902" y="0"/>
                </a:lnTo>
                <a:lnTo>
                  <a:pt x="4278902" y="1955260"/>
                </a:lnTo>
                <a:lnTo>
                  <a:pt x="0" y="1955260"/>
                </a:lnTo>
                <a:lnTo>
                  <a:pt x="0" y="0"/>
                </a:lnTo>
                <a:close/>
              </a:path>
            </a:pathLst>
          </a:custGeom>
          <a:blipFill>
            <a:blip r:embed="rId16"/>
            <a:stretch>
              <a:fillRect l="0" t="0" r="0" b="0"/>
            </a:stretch>
          </a:blipFill>
          <a:ln w="38100" cap="sq">
            <a:solidFill>
              <a:srgbClr val="000000"/>
            </a:solidFill>
            <a:prstDash val="solid"/>
            <a:miter/>
          </a:ln>
        </p:spPr>
      </p:sp>
      <p:sp>
        <p:nvSpPr>
          <p:cNvPr name="TextBox 29" id="29"/>
          <p:cNvSpPr txBox="true"/>
          <p:nvPr/>
        </p:nvSpPr>
        <p:spPr>
          <a:xfrm rot="0">
            <a:off x="2401498" y="5009874"/>
            <a:ext cx="4621138" cy="2101215"/>
          </a:xfrm>
          <a:prstGeom prst="rect">
            <a:avLst/>
          </a:prstGeom>
        </p:spPr>
        <p:txBody>
          <a:bodyPr anchor="t" rtlCol="false" tIns="0" lIns="0" bIns="0" rIns="0">
            <a:spAutoFit/>
          </a:bodyPr>
          <a:lstStyle/>
          <a:p>
            <a:pPr algn="l" marL="518160" indent="-259080" lvl="1">
              <a:lnSpc>
                <a:spcPts val="3359"/>
              </a:lnSpc>
              <a:spcBef>
                <a:spcPct val="0"/>
              </a:spcBef>
              <a:buFont typeface="Arial"/>
              <a:buChar char="•"/>
            </a:pPr>
            <a:r>
              <a:rPr lang="en-US" sz="2400">
                <a:solidFill>
                  <a:srgbClr val="000000"/>
                </a:solidFill>
                <a:latin typeface="Poppins"/>
                <a:ea typeface="Poppins"/>
                <a:cs typeface="Poppins"/>
                <a:sym typeface="Poppins"/>
              </a:rPr>
              <a:t>Va</a:t>
            </a:r>
            <a:r>
              <a:rPr lang="en-US" sz="2400" strike="noStrike" u="none">
                <a:solidFill>
                  <a:srgbClr val="000000"/>
                </a:solidFill>
                <a:latin typeface="Poppins"/>
                <a:ea typeface="Poppins"/>
                <a:cs typeface="Poppins"/>
                <a:sym typeface="Poppins"/>
              </a:rPr>
              <a:t>lue fit accuracy</a:t>
            </a:r>
          </a:p>
          <a:p>
            <a:pPr algn="l" marL="518160" indent="-259080" lvl="1">
              <a:lnSpc>
                <a:spcPts val="3359"/>
              </a:lnSpc>
              <a:spcBef>
                <a:spcPct val="0"/>
              </a:spcBef>
              <a:buFont typeface="Arial"/>
              <a:buChar char="•"/>
            </a:pPr>
            <a:r>
              <a:rPr lang="en-US" sz="2400" strike="noStrike" u="none">
                <a:solidFill>
                  <a:srgbClr val="000000"/>
                </a:solidFill>
                <a:latin typeface="Poppins"/>
                <a:ea typeface="Poppins"/>
                <a:cs typeface="Poppins"/>
                <a:sym typeface="Poppins"/>
              </a:rPr>
              <a:t>Strong trust dep</a:t>
            </a:r>
            <a:r>
              <a:rPr lang="en-US" sz="2400" strike="noStrike" u="none">
                <a:solidFill>
                  <a:srgbClr val="000000"/>
                </a:solidFill>
                <a:latin typeface="Poppins"/>
                <a:ea typeface="Poppins"/>
                <a:cs typeface="Poppins"/>
                <a:sym typeface="Poppins"/>
              </a:rPr>
              <a:t>endence</a:t>
            </a:r>
          </a:p>
          <a:p>
            <a:pPr algn="l" marL="518160" indent="-259080" lvl="1">
              <a:lnSpc>
                <a:spcPts val="3359"/>
              </a:lnSpc>
              <a:spcBef>
                <a:spcPct val="0"/>
              </a:spcBef>
              <a:buFont typeface="Arial"/>
              <a:buChar char="•"/>
            </a:pPr>
            <a:r>
              <a:rPr lang="en-US" sz="2400" strike="noStrike" u="none">
                <a:solidFill>
                  <a:srgbClr val="000000"/>
                </a:solidFill>
                <a:latin typeface="Poppins"/>
                <a:ea typeface="Poppins"/>
                <a:cs typeface="Poppins"/>
                <a:sym typeface="Poppins"/>
              </a:rPr>
              <a:t>Use AR before </a:t>
            </a:r>
            <a:r>
              <a:rPr lang="en-US" sz="2400" strike="noStrike" u="none">
                <a:solidFill>
                  <a:srgbClr val="000000"/>
                </a:solidFill>
                <a:latin typeface="Poppins"/>
                <a:ea typeface="Poppins"/>
                <a:cs typeface="Poppins"/>
                <a:sym typeface="Poppins"/>
              </a:rPr>
              <a:t>p</a:t>
            </a:r>
            <a:r>
              <a:rPr lang="en-US" sz="2400" strike="noStrike" u="none">
                <a:solidFill>
                  <a:srgbClr val="000000"/>
                </a:solidFill>
                <a:latin typeface="Poppins"/>
                <a:ea typeface="Poppins"/>
                <a:cs typeface="Poppins"/>
                <a:sym typeface="Poppins"/>
              </a:rPr>
              <a:t>u</a:t>
            </a:r>
            <a:r>
              <a:rPr lang="en-US" sz="2400" strike="noStrike" u="none">
                <a:solidFill>
                  <a:srgbClr val="000000"/>
                </a:solidFill>
                <a:latin typeface="Poppins"/>
                <a:ea typeface="Poppins"/>
                <a:cs typeface="Poppins"/>
                <a:sym typeface="Poppins"/>
              </a:rPr>
              <a:t>rchase decisions</a:t>
            </a:r>
          </a:p>
          <a:p>
            <a:pPr algn="l" marL="0" indent="0" lvl="0">
              <a:lnSpc>
                <a:spcPts val="3359"/>
              </a:lnSpc>
              <a:spcBef>
                <a:spcPct val="0"/>
              </a:spcBef>
            </a:pPr>
          </a:p>
        </p:txBody>
      </p:sp>
      <p:sp>
        <p:nvSpPr>
          <p:cNvPr name="TextBox 30" id="30"/>
          <p:cNvSpPr txBox="true"/>
          <p:nvPr/>
        </p:nvSpPr>
        <p:spPr>
          <a:xfrm rot="0">
            <a:off x="301095" y="8157210"/>
            <a:ext cx="2122988" cy="1263015"/>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000000"/>
                </a:solidFill>
                <a:latin typeface="Poppins Bold"/>
                <a:ea typeface="Poppins Bold"/>
                <a:cs typeface="Poppins Bold"/>
                <a:sym typeface="Poppins Bold"/>
              </a:rPr>
              <a:t>Cautious Fun</a:t>
            </a:r>
            <a:r>
              <a:rPr lang="en-US" b="true" sz="2400">
                <a:solidFill>
                  <a:srgbClr val="000000"/>
                </a:solidFill>
                <a:latin typeface="Poppins Bold"/>
                <a:ea typeface="Poppins Bold"/>
                <a:cs typeface="Poppins Bold"/>
                <a:sym typeface="Poppins Bold"/>
              </a:rPr>
              <a:t>c</a:t>
            </a:r>
            <a:r>
              <a:rPr lang="en-US" b="true" sz="2400" strike="noStrike" u="none">
                <a:solidFill>
                  <a:srgbClr val="000000"/>
                </a:solidFill>
                <a:latin typeface="Poppins Bold"/>
                <a:ea typeface="Poppins Bold"/>
                <a:cs typeface="Poppins Bold"/>
                <a:sym typeface="Poppins Bold"/>
              </a:rPr>
              <a:t>tional</a:t>
            </a:r>
            <a:r>
              <a:rPr lang="en-US" b="true" sz="2400" strike="noStrike" u="none">
                <a:solidFill>
                  <a:srgbClr val="000000"/>
                </a:solidFill>
                <a:latin typeface="Poppins Bold"/>
                <a:ea typeface="Poppins Bold"/>
                <a:cs typeface="Poppins Bold"/>
                <a:sym typeface="Poppins Bold"/>
              </a:rPr>
              <a:t> Us</a:t>
            </a:r>
            <a:r>
              <a:rPr lang="en-US" b="true" sz="2400" strike="noStrike" u="none">
                <a:solidFill>
                  <a:srgbClr val="000000"/>
                </a:solidFill>
                <a:latin typeface="Poppins Bold"/>
                <a:ea typeface="Poppins Bold"/>
                <a:cs typeface="Poppins Bold"/>
                <a:sym typeface="Poppins Bold"/>
              </a:rPr>
              <a:t>ers</a:t>
            </a:r>
          </a:p>
        </p:txBody>
      </p:sp>
      <p:sp>
        <p:nvSpPr>
          <p:cNvPr name="TextBox 31" id="31"/>
          <p:cNvSpPr txBox="true"/>
          <p:nvPr/>
        </p:nvSpPr>
        <p:spPr>
          <a:xfrm rot="0">
            <a:off x="-43810" y="5428974"/>
            <a:ext cx="2698334" cy="1263015"/>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000000"/>
                </a:solidFill>
                <a:latin typeface="Poppins Bold"/>
                <a:ea typeface="Poppins Bold"/>
                <a:cs typeface="Poppins Bold"/>
                <a:sym typeface="Poppins Bold"/>
              </a:rPr>
              <a:t>Accu</a:t>
            </a:r>
            <a:r>
              <a:rPr lang="en-US" b="true" sz="2400" strike="noStrike" u="none">
                <a:solidFill>
                  <a:srgbClr val="000000"/>
                </a:solidFill>
                <a:latin typeface="Poppins Bold"/>
                <a:ea typeface="Poppins Bold"/>
                <a:cs typeface="Poppins Bold"/>
                <a:sym typeface="Poppins Bold"/>
              </a:rPr>
              <a:t>ra</a:t>
            </a:r>
            <a:r>
              <a:rPr lang="en-US" b="true" sz="2400" strike="noStrike" u="none">
                <a:solidFill>
                  <a:srgbClr val="000000"/>
                </a:solidFill>
                <a:latin typeface="Poppins Bold"/>
                <a:ea typeface="Poppins Bold"/>
                <a:cs typeface="Poppins Bold"/>
                <a:sym typeface="Poppins Bold"/>
              </a:rPr>
              <a:t>cy</a:t>
            </a:r>
          </a:p>
          <a:p>
            <a:pPr algn="ctr" marL="0" indent="0" lvl="0">
              <a:lnSpc>
                <a:spcPts val="3359"/>
              </a:lnSpc>
              <a:spcBef>
                <a:spcPct val="0"/>
              </a:spcBef>
            </a:pPr>
            <a:r>
              <a:rPr lang="en-US" b="true" sz="2400" strike="noStrike" u="none">
                <a:solidFill>
                  <a:srgbClr val="000000"/>
                </a:solidFill>
                <a:latin typeface="Poppins Bold"/>
                <a:ea typeface="Poppins Bold"/>
                <a:cs typeface="Poppins Bold"/>
                <a:sym typeface="Poppins Bold"/>
              </a:rPr>
              <a:t>Oriented </a:t>
            </a:r>
          </a:p>
          <a:p>
            <a:pPr algn="ctr" marL="0" indent="0" lvl="0">
              <a:lnSpc>
                <a:spcPts val="3359"/>
              </a:lnSpc>
              <a:spcBef>
                <a:spcPct val="0"/>
              </a:spcBef>
            </a:pPr>
            <a:r>
              <a:rPr lang="en-US" b="true" sz="2400" strike="noStrike" u="none">
                <a:solidFill>
                  <a:srgbClr val="000000"/>
                </a:solidFill>
                <a:latin typeface="Poppins Bold"/>
                <a:ea typeface="Poppins Bold"/>
                <a:cs typeface="Poppins Bold"/>
                <a:sym typeface="Poppins Bold"/>
              </a:rPr>
              <a:t>Buyers</a:t>
            </a:r>
          </a:p>
        </p:txBody>
      </p:sp>
      <p:sp>
        <p:nvSpPr>
          <p:cNvPr name="TextBox 32" id="32"/>
          <p:cNvSpPr txBox="true"/>
          <p:nvPr/>
        </p:nvSpPr>
        <p:spPr>
          <a:xfrm rot="0">
            <a:off x="0" y="2475541"/>
            <a:ext cx="2698334" cy="843915"/>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Poppins Bold"/>
                <a:ea typeface="Poppins Bold"/>
                <a:cs typeface="Poppins Bold"/>
                <a:sym typeface="Poppins Bold"/>
              </a:rPr>
              <a:t>Tech-Driven Explorers</a:t>
            </a:r>
          </a:p>
        </p:txBody>
      </p:sp>
      <p:sp>
        <p:nvSpPr>
          <p:cNvPr name="TextBox 33" id="33"/>
          <p:cNvSpPr txBox="true"/>
          <p:nvPr/>
        </p:nvSpPr>
        <p:spPr>
          <a:xfrm rot="0">
            <a:off x="2654524" y="2045011"/>
            <a:ext cx="4231711" cy="20821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TT Firs Neue"/>
                <a:ea typeface="TT Firs Neue"/>
                <a:cs typeface="TT Firs Neue"/>
                <a:sym typeface="TT Firs Neue"/>
              </a:rPr>
              <a:t>Younger consumers</a:t>
            </a:r>
          </a:p>
          <a:p>
            <a:pPr algn="l" marL="518160" indent="-259080" lvl="1">
              <a:lnSpc>
                <a:spcPts val="3359"/>
              </a:lnSpc>
              <a:buFont typeface="Arial"/>
              <a:buChar char="•"/>
            </a:pPr>
            <a:r>
              <a:rPr lang="en-US" sz="2400">
                <a:solidFill>
                  <a:srgbClr val="000000"/>
                </a:solidFill>
                <a:latin typeface="TT Firs Neue"/>
                <a:ea typeface="TT Firs Neue"/>
                <a:cs typeface="TT Firs Neue"/>
                <a:sym typeface="TT Firs Neue"/>
              </a:rPr>
              <a:t>Frequent online shoppers</a:t>
            </a:r>
          </a:p>
          <a:p>
            <a:pPr algn="l" marL="518160" indent="-259080" lvl="1">
              <a:lnSpc>
                <a:spcPts val="3359"/>
              </a:lnSpc>
              <a:buFont typeface="Arial"/>
              <a:buChar char="•"/>
            </a:pPr>
            <a:r>
              <a:rPr lang="en-US" sz="2400">
                <a:solidFill>
                  <a:srgbClr val="000000"/>
                </a:solidFill>
                <a:latin typeface="TT Firs Neue"/>
                <a:ea typeface="TT Firs Neue"/>
                <a:cs typeface="TT Firs Neue"/>
                <a:sym typeface="TT Firs Neue"/>
              </a:rPr>
              <a:t>High AR engagement</a:t>
            </a:r>
          </a:p>
          <a:p>
            <a:pPr algn="l" marL="518160" indent="-259080" lvl="1">
              <a:lnSpc>
                <a:spcPts val="3359"/>
              </a:lnSpc>
              <a:buFont typeface="Arial"/>
              <a:buChar char="•"/>
            </a:pPr>
            <a:r>
              <a:rPr lang="en-US" sz="2400">
                <a:solidFill>
                  <a:srgbClr val="000000"/>
                </a:solidFill>
                <a:latin typeface="TT Firs Neue"/>
                <a:ea typeface="TT Firs Neue"/>
                <a:cs typeface="TT Firs Neue"/>
                <a:sym typeface="TT Firs Neue"/>
              </a:rPr>
              <a:t>Positive ease of use perception</a:t>
            </a:r>
          </a:p>
        </p:txBody>
      </p:sp>
      <p:sp>
        <p:nvSpPr>
          <p:cNvPr name="TextBox 34" id="34"/>
          <p:cNvSpPr txBox="true"/>
          <p:nvPr/>
        </p:nvSpPr>
        <p:spPr>
          <a:xfrm rot="0">
            <a:off x="2424084" y="7587339"/>
            <a:ext cx="4621138" cy="2101215"/>
          </a:xfrm>
          <a:prstGeom prst="rect">
            <a:avLst/>
          </a:prstGeom>
        </p:spPr>
        <p:txBody>
          <a:bodyPr anchor="t" rtlCol="false" tIns="0" lIns="0" bIns="0" rIns="0">
            <a:spAutoFit/>
          </a:bodyPr>
          <a:lstStyle/>
          <a:p>
            <a:pPr algn="l" marL="518160" indent="-259080" lvl="1">
              <a:lnSpc>
                <a:spcPts val="3359"/>
              </a:lnSpc>
              <a:spcBef>
                <a:spcPct val="0"/>
              </a:spcBef>
              <a:buFont typeface="Arial"/>
              <a:buChar char="•"/>
            </a:pPr>
            <a:r>
              <a:rPr lang="en-US" sz="2400">
                <a:solidFill>
                  <a:srgbClr val="000000"/>
                </a:solidFill>
                <a:latin typeface="Poppins"/>
                <a:ea typeface="Poppins"/>
                <a:cs typeface="Poppins"/>
                <a:sym typeface="Poppins"/>
              </a:rPr>
              <a:t>Moderat</a:t>
            </a:r>
            <a:r>
              <a:rPr lang="en-US" sz="2400" strike="noStrike" u="none">
                <a:solidFill>
                  <a:srgbClr val="000000"/>
                </a:solidFill>
                <a:latin typeface="Poppins"/>
                <a:ea typeface="Poppins"/>
                <a:cs typeface="Poppins"/>
                <a:sym typeface="Poppins"/>
              </a:rPr>
              <a:t>e AR adoption</a:t>
            </a:r>
          </a:p>
          <a:p>
            <a:pPr algn="l" marL="518160" indent="-259080" lvl="1">
              <a:lnSpc>
                <a:spcPts val="3359"/>
              </a:lnSpc>
              <a:spcBef>
                <a:spcPct val="0"/>
              </a:spcBef>
              <a:buFont typeface="Arial"/>
              <a:buChar char="•"/>
            </a:pPr>
            <a:r>
              <a:rPr lang="en-US" sz="2400" strike="noStrike" u="none">
                <a:solidFill>
                  <a:srgbClr val="000000"/>
                </a:solidFill>
                <a:latin typeface="Poppins"/>
                <a:ea typeface="Poppins"/>
                <a:cs typeface="Poppins"/>
                <a:sym typeface="Poppins"/>
              </a:rPr>
              <a:t>Concerned about reliability</a:t>
            </a:r>
          </a:p>
          <a:p>
            <a:pPr algn="l" marL="518160" indent="-259080" lvl="1">
              <a:lnSpc>
                <a:spcPts val="3359"/>
              </a:lnSpc>
              <a:spcBef>
                <a:spcPct val="0"/>
              </a:spcBef>
              <a:buFont typeface="Arial"/>
              <a:buChar char="•"/>
            </a:pPr>
            <a:r>
              <a:rPr lang="en-US" sz="2400" strike="noStrike" u="none">
                <a:solidFill>
                  <a:srgbClr val="000000"/>
                </a:solidFill>
                <a:latin typeface="Poppins"/>
                <a:ea typeface="Poppins"/>
                <a:cs typeface="Poppins"/>
                <a:sym typeface="Poppins"/>
              </a:rPr>
              <a:t>Depend o</a:t>
            </a:r>
            <a:r>
              <a:rPr lang="en-US" sz="2400" strike="noStrike" u="none">
                <a:solidFill>
                  <a:srgbClr val="000000"/>
                </a:solidFill>
                <a:latin typeface="Poppins"/>
                <a:ea typeface="Poppins"/>
                <a:cs typeface="Poppins"/>
                <a:sym typeface="Poppins"/>
              </a:rPr>
              <a:t>n</a:t>
            </a:r>
            <a:r>
              <a:rPr lang="en-US" sz="2400" strike="noStrike" u="none">
                <a:solidFill>
                  <a:srgbClr val="000000"/>
                </a:solidFill>
                <a:latin typeface="Poppins"/>
                <a:ea typeface="Poppins"/>
                <a:cs typeface="Poppins"/>
                <a:sym typeface="Poppins"/>
              </a:rPr>
              <a:t> reviews</a:t>
            </a:r>
          </a:p>
          <a:p>
            <a:pPr algn="l" marL="0" indent="0" lvl="0">
              <a:lnSpc>
                <a:spcPts val="3359"/>
              </a:lnSpc>
              <a:spcBef>
                <a:spcPct val="0"/>
              </a:spcBef>
            </a:pPr>
          </a:p>
        </p:txBody>
      </p:sp>
      <p:sp>
        <p:nvSpPr>
          <p:cNvPr name="TextBox 35" id="35"/>
          <p:cNvSpPr txBox="true"/>
          <p:nvPr/>
        </p:nvSpPr>
        <p:spPr>
          <a:xfrm rot="0">
            <a:off x="6455208" y="318288"/>
            <a:ext cx="11632590" cy="742316"/>
          </a:xfrm>
          <a:prstGeom prst="rect">
            <a:avLst/>
          </a:prstGeom>
        </p:spPr>
        <p:txBody>
          <a:bodyPr anchor="t" rtlCol="false" tIns="0" lIns="0" bIns="0" rIns="0">
            <a:spAutoFit/>
          </a:bodyPr>
          <a:lstStyle/>
          <a:p>
            <a:pPr algn="ctr" marL="0" indent="0" lvl="0">
              <a:lnSpc>
                <a:spcPts val="5720"/>
              </a:lnSpc>
              <a:spcBef>
                <a:spcPct val="0"/>
              </a:spcBef>
            </a:pPr>
            <a:r>
              <a:rPr lang="en-US" sz="5200">
                <a:solidFill>
                  <a:srgbClr val="8BB4D9"/>
                </a:solidFill>
                <a:latin typeface="Fredoka"/>
                <a:ea typeface="Fredoka"/>
                <a:cs typeface="Fredoka"/>
                <a:sym typeface="Fredoka"/>
              </a:rPr>
              <a:t>PERSONAS</a:t>
            </a:r>
          </a:p>
        </p:txBody>
      </p:sp>
      <p:sp>
        <p:nvSpPr>
          <p:cNvPr name="TextBox 36" id="36"/>
          <p:cNvSpPr txBox="true"/>
          <p:nvPr/>
        </p:nvSpPr>
        <p:spPr>
          <a:xfrm rot="0">
            <a:off x="9291456" y="1206018"/>
            <a:ext cx="4231711" cy="405765"/>
          </a:xfrm>
          <a:prstGeom prst="rect">
            <a:avLst/>
          </a:prstGeom>
        </p:spPr>
        <p:txBody>
          <a:bodyPr anchor="t" rtlCol="false" tIns="0" lIns="0" bIns="0" rIns="0">
            <a:spAutoFit/>
          </a:bodyPr>
          <a:lstStyle/>
          <a:p>
            <a:pPr algn="l">
              <a:lnSpc>
                <a:spcPts val="3359"/>
              </a:lnSpc>
            </a:pPr>
            <a:r>
              <a:rPr lang="en-US" sz="2400" b="true">
                <a:solidFill>
                  <a:srgbClr val="000000"/>
                </a:solidFill>
                <a:latin typeface="TT Firs Neue Bold"/>
                <a:ea typeface="TT Firs Neue Bold"/>
                <a:cs typeface="TT Firs Neue Bold"/>
                <a:sym typeface="TT Firs Neue Bold"/>
              </a:rPr>
              <a:t>PERSONA 1</a:t>
            </a:r>
          </a:p>
        </p:txBody>
      </p:sp>
      <p:sp>
        <p:nvSpPr>
          <p:cNvPr name="TextBox 37" id="37"/>
          <p:cNvSpPr txBox="true"/>
          <p:nvPr/>
        </p:nvSpPr>
        <p:spPr>
          <a:xfrm rot="0">
            <a:off x="8755432" y="2045011"/>
            <a:ext cx="4380012" cy="824865"/>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TT Firs Neue Bold"/>
                <a:ea typeface="TT Firs Neue Bold"/>
                <a:cs typeface="TT Firs Neue Bold"/>
                <a:sym typeface="TT Firs Neue Bold"/>
              </a:rPr>
              <a:t>Riya Sharma: </a:t>
            </a:r>
          </a:p>
          <a:p>
            <a:pPr algn="ctr">
              <a:lnSpc>
                <a:spcPts val="3359"/>
              </a:lnSpc>
              <a:spcBef>
                <a:spcPct val="0"/>
              </a:spcBef>
            </a:pPr>
            <a:r>
              <a:rPr lang="en-US" b="true" sz="2400">
                <a:solidFill>
                  <a:srgbClr val="000000"/>
                </a:solidFill>
                <a:latin typeface="TT Firs Neue Bold"/>
                <a:ea typeface="TT Firs Neue Bold"/>
                <a:cs typeface="TT Firs Neue Bold"/>
                <a:sym typeface="TT Firs Neue Bold"/>
              </a:rPr>
              <a:t>The Digital Fashion Explorer</a:t>
            </a:r>
          </a:p>
        </p:txBody>
      </p:sp>
      <p:sp>
        <p:nvSpPr>
          <p:cNvPr name="TextBox 38" id="38"/>
          <p:cNvSpPr txBox="true"/>
          <p:nvPr/>
        </p:nvSpPr>
        <p:spPr>
          <a:xfrm rot="0">
            <a:off x="14056289" y="5867124"/>
            <a:ext cx="4231711" cy="405765"/>
          </a:xfrm>
          <a:prstGeom prst="rect">
            <a:avLst/>
          </a:prstGeom>
        </p:spPr>
        <p:txBody>
          <a:bodyPr anchor="t" rtlCol="false" tIns="0" lIns="0" bIns="0" rIns="0">
            <a:spAutoFit/>
          </a:bodyPr>
          <a:lstStyle/>
          <a:p>
            <a:pPr algn="l">
              <a:lnSpc>
                <a:spcPts val="3359"/>
              </a:lnSpc>
            </a:pPr>
            <a:r>
              <a:rPr lang="en-US" sz="2400" b="true">
                <a:solidFill>
                  <a:srgbClr val="000000"/>
                </a:solidFill>
                <a:latin typeface="TT Firs Neue Bold"/>
                <a:ea typeface="TT Firs Neue Bold"/>
                <a:cs typeface="TT Firs Neue Bold"/>
                <a:sym typeface="TT Firs Neue Bold"/>
              </a:rPr>
              <a:t>PERSONA 2</a:t>
            </a:r>
          </a:p>
        </p:txBody>
      </p:sp>
      <p:sp>
        <p:nvSpPr>
          <p:cNvPr name="TextBox 39" id="39"/>
          <p:cNvSpPr txBox="true"/>
          <p:nvPr/>
        </p:nvSpPr>
        <p:spPr>
          <a:xfrm rot="0">
            <a:off x="13579231" y="6827879"/>
            <a:ext cx="3518992" cy="824865"/>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TT Firs Neue Bold"/>
                <a:ea typeface="TT Firs Neue Bold"/>
                <a:cs typeface="TT Firs Neue Bold"/>
                <a:sym typeface="TT Firs Neue Bold"/>
              </a:rPr>
              <a:t>Neh</a:t>
            </a:r>
            <a:r>
              <a:rPr lang="en-US" b="true" sz="2400">
                <a:solidFill>
                  <a:srgbClr val="000000"/>
                </a:solidFill>
                <a:latin typeface="TT Firs Neue Bold"/>
                <a:ea typeface="TT Firs Neue Bold"/>
                <a:cs typeface="TT Firs Neue Bold"/>
                <a:sym typeface="TT Firs Neue Bold"/>
              </a:rPr>
              <a:t>a Kapoor: </a:t>
            </a:r>
          </a:p>
          <a:p>
            <a:pPr algn="ctr">
              <a:lnSpc>
                <a:spcPts val="3359"/>
              </a:lnSpc>
              <a:spcBef>
                <a:spcPct val="0"/>
              </a:spcBef>
            </a:pPr>
            <a:r>
              <a:rPr lang="en-US" b="true" sz="2400">
                <a:solidFill>
                  <a:srgbClr val="000000"/>
                </a:solidFill>
                <a:latin typeface="TT Firs Neue Bold"/>
                <a:ea typeface="TT Firs Neue Bold"/>
                <a:cs typeface="TT Firs Neue Bold"/>
                <a:sym typeface="TT Firs Neue Bold"/>
              </a:rPr>
              <a:t>The Skeptical Shopper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898419" y="1543368"/>
            <a:ext cx="16977850" cy="8242507"/>
            <a:chOff x="0" y="0"/>
            <a:chExt cx="1889939" cy="917539"/>
          </a:xfrm>
        </p:grpSpPr>
        <p:sp>
          <p:nvSpPr>
            <p:cNvPr name="Freeform 4" id="4"/>
            <p:cNvSpPr/>
            <p:nvPr/>
          </p:nvSpPr>
          <p:spPr>
            <a:xfrm flipH="false" flipV="false" rot="0">
              <a:off x="0" y="0"/>
              <a:ext cx="1889939" cy="917539"/>
            </a:xfrm>
            <a:custGeom>
              <a:avLst/>
              <a:gdLst/>
              <a:ahLst/>
              <a:cxnLst/>
              <a:rect r="r" b="b" t="t" l="l"/>
              <a:pathLst>
                <a:path h="917539" w="1889939">
                  <a:moveTo>
                    <a:pt x="27360" y="0"/>
                  </a:moveTo>
                  <a:lnTo>
                    <a:pt x="1862579" y="0"/>
                  </a:lnTo>
                  <a:cubicBezTo>
                    <a:pt x="1877689" y="0"/>
                    <a:pt x="1889939" y="12250"/>
                    <a:pt x="1889939" y="27360"/>
                  </a:cubicBezTo>
                  <a:lnTo>
                    <a:pt x="1889939" y="890179"/>
                  </a:lnTo>
                  <a:cubicBezTo>
                    <a:pt x="1889939" y="897435"/>
                    <a:pt x="1887056" y="904394"/>
                    <a:pt x="1881925" y="909525"/>
                  </a:cubicBezTo>
                  <a:cubicBezTo>
                    <a:pt x="1876794" y="914656"/>
                    <a:pt x="1869835" y="917539"/>
                    <a:pt x="1862579" y="917539"/>
                  </a:cubicBezTo>
                  <a:lnTo>
                    <a:pt x="27360" y="917539"/>
                  </a:lnTo>
                  <a:cubicBezTo>
                    <a:pt x="20104" y="917539"/>
                    <a:pt x="13145" y="914656"/>
                    <a:pt x="8014" y="909525"/>
                  </a:cubicBezTo>
                  <a:cubicBezTo>
                    <a:pt x="2883" y="904394"/>
                    <a:pt x="0" y="897435"/>
                    <a:pt x="0" y="890179"/>
                  </a:cubicBezTo>
                  <a:lnTo>
                    <a:pt x="0" y="27360"/>
                  </a:lnTo>
                  <a:cubicBezTo>
                    <a:pt x="0" y="20104"/>
                    <a:pt x="2883" y="13145"/>
                    <a:pt x="8014" y="8014"/>
                  </a:cubicBezTo>
                  <a:cubicBezTo>
                    <a:pt x="13145" y="2883"/>
                    <a:pt x="20104" y="0"/>
                    <a:pt x="27360" y="0"/>
                  </a:cubicBezTo>
                  <a:close/>
                </a:path>
              </a:pathLst>
            </a:custGeom>
            <a:solidFill>
              <a:srgbClr val="FCFCDD"/>
            </a:solidFill>
          </p:spPr>
        </p:sp>
      </p:grpSp>
      <p:sp>
        <p:nvSpPr>
          <p:cNvPr name="Freeform 5" id="5"/>
          <p:cNvSpPr/>
          <p:nvPr/>
        </p:nvSpPr>
        <p:spPr>
          <a:xfrm flipH="false" flipV="false" rot="-1747214">
            <a:off x="16416151" y="166745"/>
            <a:ext cx="1686298" cy="1723910"/>
          </a:xfrm>
          <a:custGeom>
            <a:avLst/>
            <a:gdLst/>
            <a:ahLst/>
            <a:cxnLst/>
            <a:rect r="r" b="b" t="t" l="l"/>
            <a:pathLst>
              <a:path h="1723910" w="1686298">
                <a:moveTo>
                  <a:pt x="0" y="0"/>
                </a:moveTo>
                <a:lnTo>
                  <a:pt x="1686298" y="0"/>
                </a:lnTo>
                <a:lnTo>
                  <a:pt x="1686298" y="1723910"/>
                </a:lnTo>
                <a:lnTo>
                  <a:pt x="0" y="17239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028700" y="590232"/>
            <a:ext cx="15887418" cy="953135"/>
          </a:xfrm>
          <a:prstGeom prst="rect">
            <a:avLst/>
          </a:prstGeom>
        </p:spPr>
        <p:txBody>
          <a:bodyPr anchor="t" rtlCol="false" tIns="0" lIns="0" bIns="0" rIns="0">
            <a:spAutoFit/>
          </a:bodyPr>
          <a:lstStyle/>
          <a:p>
            <a:pPr algn="ctr" marL="0" indent="0" lvl="0">
              <a:lnSpc>
                <a:spcPts val="7480"/>
              </a:lnSpc>
              <a:spcBef>
                <a:spcPct val="0"/>
              </a:spcBef>
            </a:pPr>
            <a:r>
              <a:rPr lang="en-US" sz="6800">
                <a:solidFill>
                  <a:srgbClr val="8BB4D9"/>
                </a:solidFill>
                <a:latin typeface="Fredoka"/>
                <a:ea typeface="Fredoka"/>
                <a:cs typeface="Fredoka"/>
                <a:sym typeface="Fredoka"/>
              </a:rPr>
              <a:t>FRAMEWORK</a:t>
            </a:r>
          </a:p>
        </p:txBody>
      </p:sp>
      <p:grpSp>
        <p:nvGrpSpPr>
          <p:cNvPr name="Group 7" id="7"/>
          <p:cNvGrpSpPr/>
          <p:nvPr/>
        </p:nvGrpSpPr>
        <p:grpSpPr>
          <a:xfrm rot="0">
            <a:off x="-2502119" y="-766435"/>
            <a:ext cx="3086100" cy="11601215"/>
            <a:chOff x="0" y="0"/>
            <a:chExt cx="812800" cy="3055464"/>
          </a:xfrm>
        </p:grpSpPr>
        <p:sp>
          <p:nvSpPr>
            <p:cNvPr name="Freeform 8" id="8"/>
            <p:cNvSpPr/>
            <p:nvPr/>
          </p:nvSpPr>
          <p:spPr>
            <a:xfrm flipH="false" flipV="false" rot="0">
              <a:off x="0" y="0"/>
              <a:ext cx="812800" cy="3055464"/>
            </a:xfrm>
            <a:custGeom>
              <a:avLst/>
              <a:gdLst/>
              <a:ahLst/>
              <a:cxnLst/>
              <a:rect r="r" b="b" t="t" l="l"/>
              <a:pathLst>
                <a:path h="3055464" w="812800">
                  <a:moveTo>
                    <a:pt x="127941" y="0"/>
                  </a:moveTo>
                  <a:lnTo>
                    <a:pt x="684859" y="0"/>
                  </a:lnTo>
                  <a:cubicBezTo>
                    <a:pt x="718791" y="0"/>
                    <a:pt x="751333" y="13479"/>
                    <a:pt x="775327" y="37473"/>
                  </a:cubicBezTo>
                  <a:cubicBezTo>
                    <a:pt x="799321" y="61467"/>
                    <a:pt x="812800" y="94009"/>
                    <a:pt x="812800" y="127941"/>
                  </a:cubicBezTo>
                  <a:lnTo>
                    <a:pt x="812800" y="2927523"/>
                  </a:lnTo>
                  <a:cubicBezTo>
                    <a:pt x="812800" y="2961455"/>
                    <a:pt x="799321" y="2993997"/>
                    <a:pt x="775327" y="3017991"/>
                  </a:cubicBezTo>
                  <a:cubicBezTo>
                    <a:pt x="751333" y="3041984"/>
                    <a:pt x="718791" y="3055464"/>
                    <a:pt x="684859" y="3055464"/>
                  </a:cubicBezTo>
                  <a:lnTo>
                    <a:pt x="127941" y="3055464"/>
                  </a:lnTo>
                  <a:cubicBezTo>
                    <a:pt x="94009" y="3055464"/>
                    <a:pt x="61467" y="3041984"/>
                    <a:pt x="37473" y="3017991"/>
                  </a:cubicBezTo>
                  <a:cubicBezTo>
                    <a:pt x="13479" y="2993997"/>
                    <a:pt x="0" y="2961455"/>
                    <a:pt x="0" y="2927523"/>
                  </a:cubicBezTo>
                  <a:lnTo>
                    <a:pt x="0" y="127941"/>
                  </a:lnTo>
                  <a:cubicBezTo>
                    <a:pt x="0" y="94009"/>
                    <a:pt x="13479" y="61467"/>
                    <a:pt x="37473" y="37473"/>
                  </a:cubicBezTo>
                  <a:cubicBezTo>
                    <a:pt x="61467" y="13479"/>
                    <a:pt x="94009" y="0"/>
                    <a:pt x="127941" y="0"/>
                  </a:cubicBezTo>
                  <a:close/>
                </a:path>
              </a:pathLst>
            </a:custGeom>
            <a:solidFill>
              <a:srgbClr val="8BB4D9"/>
            </a:solidFill>
          </p:spPr>
        </p:sp>
        <p:sp>
          <p:nvSpPr>
            <p:cNvPr name="TextBox 9" id="9"/>
            <p:cNvSpPr txBox="true"/>
            <p:nvPr/>
          </p:nvSpPr>
          <p:spPr>
            <a:xfrm>
              <a:off x="0" y="-47625"/>
              <a:ext cx="812800" cy="3103089"/>
            </a:xfrm>
            <a:prstGeom prst="rect">
              <a:avLst/>
            </a:prstGeom>
          </p:spPr>
          <p:txBody>
            <a:bodyPr anchor="ctr" rtlCol="false" tIns="50800" lIns="50800" bIns="50800" rIns="50800"/>
            <a:lstStyle/>
            <a:p>
              <a:pPr algn="ctr">
                <a:lnSpc>
                  <a:spcPts val="3359"/>
                </a:lnSpc>
              </a:pPr>
            </a:p>
          </p:txBody>
        </p:sp>
      </p:grpSp>
      <p:sp>
        <p:nvSpPr>
          <p:cNvPr name="Freeform 10" id="10"/>
          <p:cNvSpPr/>
          <p:nvPr/>
        </p:nvSpPr>
        <p:spPr>
          <a:xfrm flipH="false" flipV="false" rot="0">
            <a:off x="17464539" y="2715578"/>
            <a:ext cx="823461" cy="804131"/>
          </a:xfrm>
          <a:custGeom>
            <a:avLst/>
            <a:gdLst/>
            <a:ahLst/>
            <a:cxnLst/>
            <a:rect r="r" b="b" t="t" l="l"/>
            <a:pathLst>
              <a:path h="804131" w="823461">
                <a:moveTo>
                  <a:pt x="0" y="0"/>
                </a:moveTo>
                <a:lnTo>
                  <a:pt x="823461" y="0"/>
                </a:lnTo>
                <a:lnTo>
                  <a:pt x="823461" y="804131"/>
                </a:lnTo>
                <a:lnTo>
                  <a:pt x="0" y="804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968280" y="-752328"/>
            <a:ext cx="1543050" cy="1506828"/>
          </a:xfrm>
          <a:custGeom>
            <a:avLst/>
            <a:gdLst/>
            <a:ahLst/>
            <a:cxnLst/>
            <a:rect r="r" b="b" t="t" l="l"/>
            <a:pathLst>
              <a:path h="1506828" w="1543050">
                <a:moveTo>
                  <a:pt x="0" y="0"/>
                </a:moveTo>
                <a:lnTo>
                  <a:pt x="1543050" y="0"/>
                </a:lnTo>
                <a:lnTo>
                  <a:pt x="1543050" y="1506828"/>
                </a:lnTo>
                <a:lnTo>
                  <a:pt x="0" y="15068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1797797">
            <a:off x="14666584" y="-898008"/>
            <a:ext cx="2559508" cy="2070875"/>
          </a:xfrm>
          <a:custGeom>
            <a:avLst/>
            <a:gdLst/>
            <a:ahLst/>
            <a:cxnLst/>
            <a:rect r="r" b="b" t="t" l="l"/>
            <a:pathLst>
              <a:path h="2070875" w="2559508">
                <a:moveTo>
                  <a:pt x="0" y="0"/>
                </a:moveTo>
                <a:lnTo>
                  <a:pt x="2559508" y="0"/>
                </a:lnTo>
                <a:lnTo>
                  <a:pt x="2559508" y="2070875"/>
                </a:lnTo>
                <a:lnTo>
                  <a:pt x="0" y="20708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6512230" y="2192018"/>
            <a:ext cx="10952309" cy="6780842"/>
          </a:xfrm>
          <a:custGeom>
            <a:avLst/>
            <a:gdLst/>
            <a:ahLst/>
            <a:cxnLst/>
            <a:rect r="r" b="b" t="t" l="l"/>
            <a:pathLst>
              <a:path h="6780842" w="10952309">
                <a:moveTo>
                  <a:pt x="0" y="0"/>
                </a:moveTo>
                <a:lnTo>
                  <a:pt x="10952309" y="0"/>
                </a:lnTo>
                <a:lnTo>
                  <a:pt x="10952309" y="6780842"/>
                </a:lnTo>
                <a:lnTo>
                  <a:pt x="0" y="6780842"/>
                </a:lnTo>
                <a:lnTo>
                  <a:pt x="0" y="0"/>
                </a:lnTo>
                <a:close/>
              </a:path>
            </a:pathLst>
          </a:custGeom>
          <a:blipFill>
            <a:blip r:embed="rId11"/>
            <a:stretch>
              <a:fillRect l="0" t="-3805" r="0" b="-3805"/>
            </a:stretch>
          </a:blipFill>
          <a:ln w="95250" cap="sq">
            <a:solidFill>
              <a:srgbClr val="000000"/>
            </a:solidFill>
            <a:prstDash val="solid"/>
            <a:miter/>
          </a:ln>
        </p:spPr>
      </p:sp>
      <p:sp>
        <p:nvSpPr>
          <p:cNvPr name="TextBox 14" id="14"/>
          <p:cNvSpPr txBox="true"/>
          <p:nvPr/>
        </p:nvSpPr>
        <p:spPr>
          <a:xfrm rot="0">
            <a:off x="1150067" y="2125343"/>
            <a:ext cx="4796077" cy="6581141"/>
          </a:xfrm>
          <a:prstGeom prst="rect">
            <a:avLst/>
          </a:prstGeom>
        </p:spPr>
        <p:txBody>
          <a:bodyPr anchor="t" rtlCol="false" tIns="0" lIns="0" bIns="0" rIns="0">
            <a:spAutoFit/>
          </a:bodyPr>
          <a:lstStyle/>
          <a:p>
            <a:pPr algn="l" marL="734053" indent="-367026" lvl="1">
              <a:lnSpc>
                <a:spcPts val="4759"/>
              </a:lnSpc>
              <a:buFont typeface="Arial"/>
              <a:buChar char="•"/>
            </a:pPr>
            <a:r>
              <a:rPr lang="en-US" sz="3399">
                <a:solidFill>
                  <a:srgbClr val="0B0A0A"/>
                </a:solidFill>
                <a:latin typeface="TT Firs Neue"/>
                <a:ea typeface="TT Firs Neue"/>
                <a:cs typeface="TT Firs Neue"/>
                <a:sym typeface="TT Firs Neue"/>
              </a:rPr>
              <a:t>Th</a:t>
            </a:r>
            <a:r>
              <a:rPr lang="en-US" sz="3399">
                <a:solidFill>
                  <a:srgbClr val="0B0A0A"/>
                </a:solidFill>
                <a:latin typeface="TT Firs Neue"/>
                <a:ea typeface="TT Firs Neue"/>
                <a:cs typeface="TT Firs Neue"/>
                <a:sym typeface="TT Firs Neue"/>
              </a:rPr>
              <a:t>e responses validated and strengthened the framework.</a:t>
            </a:r>
          </a:p>
          <a:p>
            <a:pPr algn="l">
              <a:lnSpc>
                <a:spcPts val="4759"/>
              </a:lnSpc>
            </a:pPr>
          </a:p>
          <a:p>
            <a:pPr algn="l" marL="734053" indent="-367026" lvl="1">
              <a:lnSpc>
                <a:spcPts val="4759"/>
              </a:lnSpc>
              <a:buFont typeface="Arial"/>
              <a:buChar char="•"/>
            </a:pPr>
            <a:r>
              <a:rPr lang="en-US" sz="3399">
                <a:solidFill>
                  <a:srgbClr val="0B0A0A"/>
                </a:solidFill>
                <a:latin typeface="TT Firs Neue"/>
                <a:ea typeface="TT Firs Neue"/>
                <a:cs typeface="TT Firs Neue"/>
                <a:sym typeface="TT Firs Neue"/>
              </a:rPr>
              <a:t>Perceived Accuracy emerged as an important dimension within Perceived Usefulness.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999464" y="1860734"/>
            <a:ext cx="6894802" cy="8274419"/>
            <a:chOff x="0" y="0"/>
            <a:chExt cx="1183601" cy="1420434"/>
          </a:xfrm>
        </p:grpSpPr>
        <p:sp>
          <p:nvSpPr>
            <p:cNvPr name="Freeform 4" id="4"/>
            <p:cNvSpPr/>
            <p:nvPr/>
          </p:nvSpPr>
          <p:spPr>
            <a:xfrm flipH="false" flipV="false" rot="0">
              <a:off x="0" y="0"/>
              <a:ext cx="1183601" cy="1420434"/>
            </a:xfrm>
            <a:custGeom>
              <a:avLst/>
              <a:gdLst/>
              <a:ahLst/>
              <a:cxnLst/>
              <a:rect r="r" b="b" t="t" l="l"/>
              <a:pathLst>
                <a:path h="1420434" w="1183601">
                  <a:moveTo>
                    <a:pt x="39300" y="0"/>
                  </a:moveTo>
                  <a:lnTo>
                    <a:pt x="1144301" y="0"/>
                  </a:lnTo>
                  <a:cubicBezTo>
                    <a:pt x="1154724" y="0"/>
                    <a:pt x="1164720" y="4141"/>
                    <a:pt x="1172091" y="11511"/>
                  </a:cubicBezTo>
                  <a:cubicBezTo>
                    <a:pt x="1179461" y="18881"/>
                    <a:pt x="1183601" y="28877"/>
                    <a:pt x="1183601" y="39300"/>
                  </a:cubicBezTo>
                  <a:lnTo>
                    <a:pt x="1183601" y="1381134"/>
                  </a:lnTo>
                  <a:cubicBezTo>
                    <a:pt x="1183601" y="1402839"/>
                    <a:pt x="1166006" y="1420434"/>
                    <a:pt x="1144301" y="1420434"/>
                  </a:cubicBezTo>
                  <a:lnTo>
                    <a:pt x="39300" y="1420434"/>
                  </a:lnTo>
                  <a:cubicBezTo>
                    <a:pt x="28877" y="1420434"/>
                    <a:pt x="18881" y="1416294"/>
                    <a:pt x="11511" y="1408923"/>
                  </a:cubicBezTo>
                  <a:cubicBezTo>
                    <a:pt x="4141" y="1401553"/>
                    <a:pt x="0" y="1391557"/>
                    <a:pt x="0" y="1381134"/>
                  </a:cubicBezTo>
                  <a:lnTo>
                    <a:pt x="0" y="39300"/>
                  </a:lnTo>
                  <a:cubicBezTo>
                    <a:pt x="0" y="28877"/>
                    <a:pt x="4141" y="18881"/>
                    <a:pt x="11511" y="11511"/>
                  </a:cubicBezTo>
                  <a:cubicBezTo>
                    <a:pt x="18881" y="4141"/>
                    <a:pt x="28877" y="0"/>
                    <a:pt x="39300" y="0"/>
                  </a:cubicBezTo>
                  <a:close/>
                </a:path>
              </a:pathLst>
            </a:custGeom>
            <a:solidFill>
              <a:srgbClr val="FCFCDD"/>
            </a:solidFill>
          </p:spPr>
        </p:sp>
      </p:grpSp>
      <p:grpSp>
        <p:nvGrpSpPr>
          <p:cNvPr name="Group 5" id="5"/>
          <p:cNvGrpSpPr/>
          <p:nvPr/>
        </p:nvGrpSpPr>
        <p:grpSpPr>
          <a:xfrm rot="0">
            <a:off x="1356298" y="1860734"/>
            <a:ext cx="9335798" cy="8274419"/>
            <a:chOff x="0" y="0"/>
            <a:chExt cx="2317319" cy="2053865"/>
          </a:xfrm>
        </p:grpSpPr>
        <p:sp>
          <p:nvSpPr>
            <p:cNvPr name="Freeform 6" id="6"/>
            <p:cNvSpPr/>
            <p:nvPr/>
          </p:nvSpPr>
          <p:spPr>
            <a:xfrm flipH="false" flipV="false" rot="0">
              <a:off x="0" y="0"/>
              <a:ext cx="2317319" cy="2053865"/>
            </a:xfrm>
            <a:custGeom>
              <a:avLst/>
              <a:gdLst/>
              <a:ahLst/>
              <a:cxnLst/>
              <a:rect r="r" b="b" t="t" l="l"/>
              <a:pathLst>
                <a:path h="2053865" w="2317319">
                  <a:moveTo>
                    <a:pt x="29025" y="0"/>
                  </a:moveTo>
                  <a:lnTo>
                    <a:pt x="2288294" y="0"/>
                  </a:lnTo>
                  <a:cubicBezTo>
                    <a:pt x="2304324" y="0"/>
                    <a:pt x="2317319" y="12995"/>
                    <a:pt x="2317319" y="29025"/>
                  </a:cubicBezTo>
                  <a:lnTo>
                    <a:pt x="2317319" y="2024840"/>
                  </a:lnTo>
                  <a:cubicBezTo>
                    <a:pt x="2317319" y="2032538"/>
                    <a:pt x="2314261" y="2039921"/>
                    <a:pt x="2308818" y="2045364"/>
                  </a:cubicBezTo>
                  <a:cubicBezTo>
                    <a:pt x="2303375" y="2050807"/>
                    <a:pt x="2295992" y="2053865"/>
                    <a:pt x="2288294" y="2053865"/>
                  </a:cubicBezTo>
                  <a:lnTo>
                    <a:pt x="29025" y="2053865"/>
                  </a:lnTo>
                  <a:cubicBezTo>
                    <a:pt x="12995" y="2053865"/>
                    <a:pt x="0" y="2040870"/>
                    <a:pt x="0" y="2024840"/>
                  </a:cubicBezTo>
                  <a:lnTo>
                    <a:pt x="0" y="29025"/>
                  </a:lnTo>
                  <a:cubicBezTo>
                    <a:pt x="0" y="12995"/>
                    <a:pt x="12995" y="0"/>
                    <a:pt x="29025" y="0"/>
                  </a:cubicBezTo>
                  <a:close/>
                </a:path>
              </a:pathLst>
            </a:custGeom>
            <a:solidFill>
              <a:srgbClr val="F4CBC6"/>
            </a:solidFill>
            <a:ln cap="rnd">
              <a:noFill/>
              <a:prstDash val="solid"/>
              <a:round/>
            </a:ln>
          </p:spPr>
        </p:sp>
        <p:sp>
          <p:nvSpPr>
            <p:cNvPr name="TextBox 7" id="7"/>
            <p:cNvSpPr txBox="true"/>
            <p:nvPr/>
          </p:nvSpPr>
          <p:spPr>
            <a:xfrm>
              <a:off x="0" y="-47625"/>
              <a:ext cx="2317319" cy="2101490"/>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9257495" y="8142896"/>
            <a:ext cx="1434601" cy="2144104"/>
          </a:xfrm>
          <a:custGeom>
            <a:avLst/>
            <a:gdLst/>
            <a:ahLst/>
            <a:cxnLst/>
            <a:rect r="r" b="b" t="t" l="l"/>
            <a:pathLst>
              <a:path h="2144104" w="1434601">
                <a:moveTo>
                  <a:pt x="0" y="0"/>
                </a:moveTo>
                <a:lnTo>
                  <a:pt x="1434600" y="0"/>
                </a:lnTo>
                <a:lnTo>
                  <a:pt x="1434600" y="2144104"/>
                </a:lnTo>
                <a:lnTo>
                  <a:pt x="0" y="2144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6624333" y="1261963"/>
            <a:ext cx="1269933" cy="1548699"/>
          </a:xfrm>
          <a:custGeom>
            <a:avLst/>
            <a:gdLst/>
            <a:ahLst/>
            <a:cxnLst/>
            <a:rect r="r" b="b" t="t" l="l"/>
            <a:pathLst>
              <a:path h="1548699" w="1269933">
                <a:moveTo>
                  <a:pt x="0" y="0"/>
                </a:moveTo>
                <a:lnTo>
                  <a:pt x="1269934" y="0"/>
                </a:lnTo>
                <a:lnTo>
                  <a:pt x="1269934" y="1548699"/>
                </a:lnTo>
                <a:lnTo>
                  <a:pt x="0" y="15486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2769645" y="506914"/>
            <a:ext cx="15844900" cy="896620"/>
          </a:xfrm>
          <a:prstGeom prst="rect">
            <a:avLst/>
          </a:prstGeom>
        </p:spPr>
        <p:txBody>
          <a:bodyPr anchor="t" rtlCol="false" tIns="0" lIns="0" bIns="0" rIns="0">
            <a:spAutoFit/>
          </a:bodyPr>
          <a:lstStyle/>
          <a:p>
            <a:pPr algn="l">
              <a:lnSpc>
                <a:spcPts val="6800"/>
              </a:lnSpc>
            </a:pPr>
            <a:r>
              <a:rPr lang="en-US" sz="6800">
                <a:solidFill>
                  <a:srgbClr val="8BB4D9"/>
                </a:solidFill>
                <a:latin typeface="Fredoka"/>
                <a:ea typeface="Fredoka"/>
                <a:cs typeface="Fredoka"/>
                <a:sym typeface="Fredoka"/>
              </a:rPr>
              <a:t>KEY F</a:t>
            </a:r>
            <a:r>
              <a:rPr lang="en-US" sz="6800">
                <a:solidFill>
                  <a:srgbClr val="8BB4D9"/>
                </a:solidFill>
                <a:latin typeface="Fredoka"/>
                <a:ea typeface="Fredoka"/>
                <a:cs typeface="Fredoka"/>
                <a:sym typeface="Fredoka"/>
              </a:rPr>
              <a:t>INDINGS &amp; CONCLUSION</a:t>
            </a:r>
          </a:p>
        </p:txBody>
      </p:sp>
      <p:sp>
        <p:nvSpPr>
          <p:cNvPr name="TextBox 11" id="11"/>
          <p:cNvSpPr txBox="true"/>
          <p:nvPr/>
        </p:nvSpPr>
        <p:spPr>
          <a:xfrm rot="0">
            <a:off x="2292747" y="2763037"/>
            <a:ext cx="7462900" cy="7753723"/>
          </a:xfrm>
          <a:prstGeom prst="rect">
            <a:avLst/>
          </a:prstGeom>
        </p:spPr>
        <p:txBody>
          <a:bodyPr anchor="t" rtlCol="false" tIns="0" lIns="0" bIns="0" rIns="0">
            <a:spAutoFit/>
          </a:bodyPr>
          <a:lstStyle/>
          <a:p>
            <a:pPr algn="l" marL="597733" indent="-298867" lvl="1">
              <a:lnSpc>
                <a:spcPts val="3875"/>
              </a:lnSpc>
              <a:buFont typeface="Arial"/>
              <a:buChar char="•"/>
            </a:pPr>
            <a:r>
              <a:rPr lang="en-US" sz="2768">
                <a:solidFill>
                  <a:srgbClr val="0B0A0A"/>
                </a:solidFill>
                <a:latin typeface="TT Firs Neue"/>
                <a:ea typeface="TT Firs Neue"/>
                <a:cs typeface="TT Firs Neue"/>
                <a:sym typeface="TT Firs Neue"/>
              </a:rPr>
              <a:t>Perceived</a:t>
            </a:r>
            <a:r>
              <a:rPr lang="en-US" sz="2768">
                <a:solidFill>
                  <a:srgbClr val="0B0A0A"/>
                </a:solidFill>
                <a:latin typeface="TT Firs Neue"/>
                <a:ea typeface="TT Firs Neue"/>
                <a:cs typeface="TT Firs Neue"/>
                <a:sym typeface="TT Firs Neue"/>
              </a:rPr>
              <a:t> usefulness was the st</a:t>
            </a:r>
            <a:r>
              <a:rPr lang="en-US" sz="2768">
                <a:solidFill>
                  <a:srgbClr val="0B0A0A"/>
                </a:solidFill>
                <a:latin typeface="TT Firs Neue"/>
                <a:ea typeface="TT Firs Neue"/>
                <a:cs typeface="TT Firs Neue"/>
                <a:sym typeface="TT Firs Neue"/>
              </a:rPr>
              <a:t>rongest factor influencing AR adoption.</a:t>
            </a:r>
          </a:p>
          <a:p>
            <a:pPr algn="l">
              <a:lnSpc>
                <a:spcPts val="3875"/>
              </a:lnSpc>
            </a:pPr>
          </a:p>
          <a:p>
            <a:pPr algn="l" marL="597733" indent="-298867" lvl="1">
              <a:lnSpc>
                <a:spcPts val="3875"/>
              </a:lnSpc>
              <a:buFont typeface="Arial"/>
              <a:buChar char="•"/>
            </a:pPr>
            <a:r>
              <a:rPr lang="en-US" sz="2768">
                <a:solidFill>
                  <a:srgbClr val="0B0A0A"/>
                </a:solidFill>
                <a:latin typeface="TT Firs Neue"/>
                <a:ea typeface="TT Firs Neue"/>
                <a:cs typeface="TT Firs Neue"/>
                <a:sym typeface="TT Firs Neue"/>
              </a:rPr>
              <a:t>Customer trust significantly impacted AR experience and purchase behaviour.</a:t>
            </a:r>
          </a:p>
          <a:p>
            <a:pPr algn="l">
              <a:lnSpc>
                <a:spcPts val="3875"/>
              </a:lnSpc>
            </a:pPr>
          </a:p>
          <a:p>
            <a:pPr algn="l" marL="597733" indent="-298867" lvl="1">
              <a:lnSpc>
                <a:spcPts val="3875"/>
              </a:lnSpc>
              <a:buFont typeface="Arial"/>
              <a:buChar char="•"/>
            </a:pPr>
            <a:r>
              <a:rPr lang="en-US" sz="2768">
                <a:solidFill>
                  <a:srgbClr val="0B0A0A"/>
                </a:solidFill>
                <a:latin typeface="TT Firs Neue"/>
                <a:ea typeface="TT Firs Neue"/>
                <a:cs typeface="TT Firs Neue"/>
                <a:sym typeface="TT Firs Neue"/>
              </a:rPr>
              <a:t>Perceived accuracy emerged as an important factor affecting trust and confidence.</a:t>
            </a:r>
          </a:p>
          <a:p>
            <a:pPr algn="l">
              <a:lnSpc>
                <a:spcPts val="3875"/>
              </a:lnSpc>
            </a:pPr>
          </a:p>
          <a:p>
            <a:pPr algn="l" marL="597733" indent="-298867" lvl="1">
              <a:lnSpc>
                <a:spcPts val="3875"/>
              </a:lnSpc>
              <a:buFont typeface="Arial"/>
              <a:buChar char="•"/>
            </a:pPr>
            <a:r>
              <a:rPr lang="en-US" sz="2768">
                <a:solidFill>
                  <a:srgbClr val="0B0A0A"/>
                </a:solidFill>
                <a:latin typeface="TT Firs Neue"/>
                <a:ea typeface="TT Firs Neue"/>
                <a:cs typeface="TT Firs Neue"/>
                <a:sym typeface="TT Firs Neue"/>
              </a:rPr>
              <a:t>Regression analysis confirmed positive impact of AR on marketing outcomes.</a:t>
            </a:r>
          </a:p>
          <a:p>
            <a:pPr algn="l">
              <a:lnSpc>
                <a:spcPts val="3875"/>
              </a:lnSpc>
            </a:pPr>
          </a:p>
          <a:p>
            <a:pPr algn="l" marL="597733" indent="-298867" lvl="1">
              <a:lnSpc>
                <a:spcPts val="3875"/>
              </a:lnSpc>
              <a:buFont typeface="Arial"/>
              <a:buChar char="•"/>
            </a:pPr>
            <a:r>
              <a:rPr lang="en-US" sz="2768">
                <a:solidFill>
                  <a:srgbClr val="0B0A0A"/>
                </a:solidFill>
                <a:latin typeface="TT Firs Neue"/>
                <a:ea typeface="TT Firs Neue"/>
                <a:cs typeface="TT Firs Neue"/>
                <a:sym typeface="TT Firs Neue"/>
              </a:rPr>
              <a:t>Younger consumers showed higher engagement with AR technologies.</a:t>
            </a:r>
          </a:p>
          <a:p>
            <a:pPr algn="l">
              <a:lnSpc>
                <a:spcPts val="4198"/>
              </a:lnSpc>
            </a:pPr>
          </a:p>
        </p:txBody>
      </p:sp>
      <p:sp>
        <p:nvSpPr>
          <p:cNvPr name="TextBox 12" id="12"/>
          <p:cNvSpPr txBox="true"/>
          <p:nvPr/>
        </p:nvSpPr>
        <p:spPr>
          <a:xfrm rot="0">
            <a:off x="4101196" y="1969637"/>
            <a:ext cx="4502961" cy="653416"/>
          </a:xfrm>
          <a:prstGeom prst="rect">
            <a:avLst/>
          </a:prstGeom>
        </p:spPr>
        <p:txBody>
          <a:bodyPr anchor="t" rtlCol="false" tIns="0" lIns="0" bIns="0" rIns="0">
            <a:spAutoFit/>
          </a:bodyPr>
          <a:lstStyle/>
          <a:p>
            <a:pPr algn="l">
              <a:lnSpc>
                <a:spcPts val="5459"/>
              </a:lnSpc>
            </a:pPr>
            <a:r>
              <a:rPr lang="en-US" sz="3899" b="true">
                <a:solidFill>
                  <a:srgbClr val="0B0A0A"/>
                </a:solidFill>
                <a:latin typeface="TT Firs Neue Bold"/>
                <a:ea typeface="TT Firs Neue Bold"/>
                <a:cs typeface="TT Firs Neue Bold"/>
                <a:sym typeface="TT Firs Neue Bold"/>
              </a:rPr>
              <a:t>K</a:t>
            </a:r>
            <a:r>
              <a:rPr lang="en-US" sz="3899" b="true">
                <a:solidFill>
                  <a:srgbClr val="0B0A0A"/>
                </a:solidFill>
                <a:latin typeface="TT Firs Neue Bold"/>
                <a:ea typeface="TT Firs Neue Bold"/>
                <a:cs typeface="TT Firs Neue Bold"/>
                <a:sym typeface="TT Firs Neue Bold"/>
              </a:rPr>
              <a:t>ey Findi</a:t>
            </a:r>
            <a:r>
              <a:rPr lang="en-US" sz="3899" b="true">
                <a:solidFill>
                  <a:srgbClr val="0B0A0A"/>
                </a:solidFill>
                <a:latin typeface="TT Firs Neue Bold"/>
                <a:ea typeface="TT Firs Neue Bold"/>
                <a:cs typeface="TT Firs Neue Bold"/>
                <a:sym typeface="TT Firs Neue Bold"/>
              </a:rPr>
              <a:t>ngs</a:t>
            </a:r>
          </a:p>
        </p:txBody>
      </p:sp>
      <p:grpSp>
        <p:nvGrpSpPr>
          <p:cNvPr name="Group 13" id="13"/>
          <p:cNvGrpSpPr/>
          <p:nvPr/>
        </p:nvGrpSpPr>
        <p:grpSpPr>
          <a:xfrm rot="0">
            <a:off x="-2502119" y="-766435"/>
            <a:ext cx="3086100" cy="11601215"/>
            <a:chOff x="0" y="0"/>
            <a:chExt cx="812800" cy="3055464"/>
          </a:xfrm>
        </p:grpSpPr>
        <p:sp>
          <p:nvSpPr>
            <p:cNvPr name="Freeform 14" id="14"/>
            <p:cNvSpPr/>
            <p:nvPr/>
          </p:nvSpPr>
          <p:spPr>
            <a:xfrm flipH="false" flipV="false" rot="0">
              <a:off x="0" y="0"/>
              <a:ext cx="812800" cy="3055464"/>
            </a:xfrm>
            <a:custGeom>
              <a:avLst/>
              <a:gdLst/>
              <a:ahLst/>
              <a:cxnLst/>
              <a:rect r="r" b="b" t="t" l="l"/>
              <a:pathLst>
                <a:path h="3055464" w="812800">
                  <a:moveTo>
                    <a:pt x="127941" y="0"/>
                  </a:moveTo>
                  <a:lnTo>
                    <a:pt x="684859" y="0"/>
                  </a:lnTo>
                  <a:cubicBezTo>
                    <a:pt x="718791" y="0"/>
                    <a:pt x="751333" y="13479"/>
                    <a:pt x="775327" y="37473"/>
                  </a:cubicBezTo>
                  <a:cubicBezTo>
                    <a:pt x="799321" y="61467"/>
                    <a:pt x="812800" y="94009"/>
                    <a:pt x="812800" y="127941"/>
                  </a:cubicBezTo>
                  <a:lnTo>
                    <a:pt x="812800" y="2927523"/>
                  </a:lnTo>
                  <a:cubicBezTo>
                    <a:pt x="812800" y="2961455"/>
                    <a:pt x="799321" y="2993997"/>
                    <a:pt x="775327" y="3017991"/>
                  </a:cubicBezTo>
                  <a:cubicBezTo>
                    <a:pt x="751333" y="3041984"/>
                    <a:pt x="718791" y="3055464"/>
                    <a:pt x="684859" y="3055464"/>
                  </a:cubicBezTo>
                  <a:lnTo>
                    <a:pt x="127941" y="3055464"/>
                  </a:lnTo>
                  <a:cubicBezTo>
                    <a:pt x="94009" y="3055464"/>
                    <a:pt x="61467" y="3041984"/>
                    <a:pt x="37473" y="3017991"/>
                  </a:cubicBezTo>
                  <a:cubicBezTo>
                    <a:pt x="13479" y="2993997"/>
                    <a:pt x="0" y="2961455"/>
                    <a:pt x="0" y="2927523"/>
                  </a:cubicBezTo>
                  <a:lnTo>
                    <a:pt x="0" y="127941"/>
                  </a:lnTo>
                  <a:cubicBezTo>
                    <a:pt x="0" y="94009"/>
                    <a:pt x="13479" y="61467"/>
                    <a:pt x="37473" y="37473"/>
                  </a:cubicBezTo>
                  <a:cubicBezTo>
                    <a:pt x="61467" y="13479"/>
                    <a:pt x="94009" y="0"/>
                    <a:pt x="127941" y="0"/>
                  </a:cubicBezTo>
                  <a:close/>
                </a:path>
              </a:pathLst>
            </a:custGeom>
            <a:solidFill>
              <a:srgbClr val="8BB4D9"/>
            </a:solidFill>
          </p:spPr>
        </p:sp>
        <p:sp>
          <p:nvSpPr>
            <p:cNvPr name="TextBox 15" id="15"/>
            <p:cNvSpPr txBox="true"/>
            <p:nvPr/>
          </p:nvSpPr>
          <p:spPr>
            <a:xfrm>
              <a:off x="0" y="-47625"/>
              <a:ext cx="812800" cy="3103089"/>
            </a:xfrm>
            <a:prstGeom prst="rect">
              <a:avLst/>
            </a:prstGeom>
          </p:spPr>
          <p:txBody>
            <a:bodyPr anchor="ctr" rtlCol="false" tIns="50800" lIns="50800" bIns="50800" rIns="50800"/>
            <a:lstStyle/>
            <a:p>
              <a:pPr algn="ctr">
                <a:lnSpc>
                  <a:spcPts val="3359"/>
                </a:lnSpc>
              </a:pPr>
            </a:p>
          </p:txBody>
        </p:sp>
      </p:grpSp>
      <p:sp>
        <p:nvSpPr>
          <p:cNvPr name="Freeform 16" id="16"/>
          <p:cNvSpPr/>
          <p:nvPr/>
        </p:nvSpPr>
        <p:spPr>
          <a:xfrm flipH="false" flipV="false" rot="0">
            <a:off x="516469" y="9258300"/>
            <a:ext cx="897931" cy="876853"/>
          </a:xfrm>
          <a:custGeom>
            <a:avLst/>
            <a:gdLst/>
            <a:ahLst/>
            <a:cxnLst/>
            <a:rect r="r" b="b" t="t" l="l"/>
            <a:pathLst>
              <a:path h="876853" w="897931">
                <a:moveTo>
                  <a:pt x="0" y="0"/>
                </a:moveTo>
                <a:lnTo>
                  <a:pt x="897931" y="0"/>
                </a:lnTo>
                <a:lnTo>
                  <a:pt x="897931" y="876853"/>
                </a:lnTo>
                <a:lnTo>
                  <a:pt x="0" y="8768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15205681" y="-753414"/>
            <a:ext cx="1543050" cy="1506828"/>
          </a:xfrm>
          <a:custGeom>
            <a:avLst/>
            <a:gdLst/>
            <a:ahLst/>
            <a:cxnLst/>
            <a:rect r="r" b="b" t="t" l="l"/>
            <a:pathLst>
              <a:path h="1506828" w="1543050">
                <a:moveTo>
                  <a:pt x="0" y="0"/>
                </a:moveTo>
                <a:lnTo>
                  <a:pt x="1543050" y="0"/>
                </a:lnTo>
                <a:lnTo>
                  <a:pt x="1543050" y="1506828"/>
                </a:lnTo>
                <a:lnTo>
                  <a:pt x="0" y="15068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1869683">
            <a:off x="-1141824" y="3999645"/>
            <a:ext cx="2247845" cy="1818711"/>
          </a:xfrm>
          <a:custGeom>
            <a:avLst/>
            <a:gdLst/>
            <a:ahLst/>
            <a:cxnLst/>
            <a:rect r="r" b="b" t="t" l="l"/>
            <a:pathLst>
              <a:path h="1818711" w="2247845">
                <a:moveTo>
                  <a:pt x="0" y="0"/>
                </a:moveTo>
                <a:lnTo>
                  <a:pt x="2247845" y="0"/>
                </a:lnTo>
                <a:lnTo>
                  <a:pt x="2247845" y="1818710"/>
                </a:lnTo>
                <a:lnTo>
                  <a:pt x="0" y="18187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9" id="19"/>
          <p:cNvSpPr txBox="true"/>
          <p:nvPr/>
        </p:nvSpPr>
        <p:spPr>
          <a:xfrm rot="0">
            <a:off x="12954200" y="1950587"/>
            <a:ext cx="4502961" cy="705486"/>
          </a:xfrm>
          <a:prstGeom prst="rect">
            <a:avLst/>
          </a:prstGeom>
        </p:spPr>
        <p:txBody>
          <a:bodyPr anchor="t" rtlCol="false" tIns="0" lIns="0" bIns="0" rIns="0">
            <a:spAutoFit/>
          </a:bodyPr>
          <a:lstStyle/>
          <a:p>
            <a:pPr algn="l">
              <a:lnSpc>
                <a:spcPts val="5739"/>
              </a:lnSpc>
            </a:pPr>
            <a:r>
              <a:rPr lang="en-US" sz="4099" b="true">
                <a:solidFill>
                  <a:srgbClr val="0B0A0A"/>
                </a:solidFill>
                <a:latin typeface="TT Firs Neue Bold"/>
                <a:ea typeface="TT Firs Neue Bold"/>
                <a:cs typeface="TT Firs Neue Bold"/>
                <a:sym typeface="TT Firs Neue Bold"/>
              </a:rPr>
              <a:t>Co</a:t>
            </a:r>
            <a:r>
              <a:rPr lang="en-US" sz="4099" b="true">
                <a:solidFill>
                  <a:srgbClr val="0B0A0A"/>
                </a:solidFill>
                <a:latin typeface="TT Firs Neue Bold"/>
                <a:ea typeface="TT Firs Neue Bold"/>
                <a:cs typeface="TT Firs Neue Bold"/>
                <a:sym typeface="TT Firs Neue Bold"/>
              </a:rPr>
              <a:t>nclusio</a:t>
            </a:r>
            <a:r>
              <a:rPr lang="en-US" sz="4099" b="true">
                <a:solidFill>
                  <a:srgbClr val="0B0A0A"/>
                </a:solidFill>
                <a:latin typeface="TT Firs Neue Bold"/>
                <a:ea typeface="TT Firs Neue Bold"/>
                <a:cs typeface="TT Firs Neue Bold"/>
                <a:sym typeface="TT Firs Neue Bold"/>
              </a:rPr>
              <a:t>n</a:t>
            </a:r>
          </a:p>
        </p:txBody>
      </p:sp>
      <p:sp>
        <p:nvSpPr>
          <p:cNvPr name="TextBox 20" id="20"/>
          <p:cNvSpPr txBox="true"/>
          <p:nvPr/>
        </p:nvSpPr>
        <p:spPr>
          <a:xfrm rot="0">
            <a:off x="11174392" y="3064194"/>
            <a:ext cx="6544946" cy="5819873"/>
          </a:xfrm>
          <a:prstGeom prst="rect">
            <a:avLst/>
          </a:prstGeom>
        </p:spPr>
        <p:txBody>
          <a:bodyPr anchor="t" rtlCol="false" tIns="0" lIns="0" bIns="0" rIns="0">
            <a:spAutoFit/>
          </a:bodyPr>
          <a:lstStyle/>
          <a:p>
            <a:pPr algn="l" marL="597733" indent="-298867" lvl="1">
              <a:lnSpc>
                <a:spcPts val="3875"/>
              </a:lnSpc>
              <a:buFont typeface="Arial"/>
              <a:buChar char="•"/>
            </a:pPr>
            <a:r>
              <a:rPr lang="en-US" sz="2768">
                <a:solidFill>
                  <a:srgbClr val="0B0A0A"/>
                </a:solidFill>
                <a:latin typeface="TT Firs Neue"/>
                <a:ea typeface="TT Firs Neue"/>
                <a:cs typeface="TT Firs Neue"/>
                <a:sym typeface="TT Firs Neue"/>
              </a:rPr>
              <a:t>AR Try-On Experie</a:t>
            </a:r>
            <a:r>
              <a:rPr lang="en-US" sz="2768">
                <a:solidFill>
                  <a:srgbClr val="0B0A0A"/>
                </a:solidFill>
                <a:latin typeface="TT Firs Neue"/>
                <a:ea typeface="TT Firs Neue"/>
                <a:cs typeface="TT Firs Neue"/>
                <a:sym typeface="TT Firs Neue"/>
              </a:rPr>
              <a:t>nce p</a:t>
            </a:r>
            <a:r>
              <a:rPr lang="en-US" sz="2768">
                <a:solidFill>
                  <a:srgbClr val="0B0A0A"/>
                </a:solidFill>
                <a:latin typeface="TT Firs Neue"/>
                <a:ea typeface="TT Firs Neue"/>
                <a:cs typeface="TT Firs Neue"/>
                <a:sym typeface="TT Firs Neue"/>
              </a:rPr>
              <a:t>ositively influences customer engagement and purchase intention.</a:t>
            </a:r>
          </a:p>
          <a:p>
            <a:pPr algn="l">
              <a:lnSpc>
                <a:spcPts val="3875"/>
              </a:lnSpc>
            </a:pPr>
          </a:p>
          <a:p>
            <a:pPr algn="l" marL="597733" indent="-298867" lvl="1">
              <a:lnSpc>
                <a:spcPts val="3875"/>
              </a:lnSpc>
              <a:buFont typeface="Arial"/>
              <a:buChar char="•"/>
            </a:pPr>
            <a:r>
              <a:rPr lang="en-US" sz="2768">
                <a:solidFill>
                  <a:srgbClr val="0B0A0A"/>
                </a:solidFill>
                <a:latin typeface="TT Firs Neue"/>
                <a:ea typeface="TT Firs Neue"/>
                <a:cs typeface="TT Firs Neue"/>
                <a:sym typeface="TT Firs Neue"/>
              </a:rPr>
              <a:t>TAM</a:t>
            </a:r>
            <a:r>
              <a:rPr lang="en-US" sz="2768">
                <a:solidFill>
                  <a:srgbClr val="0B0A0A"/>
                </a:solidFill>
                <a:latin typeface="TT Firs Neue"/>
                <a:ea typeface="TT Firs Neue"/>
                <a:cs typeface="TT Firs Neue"/>
                <a:sym typeface="TT Firs Neue"/>
              </a:rPr>
              <a:t> constructs (usefulness &amp; ease of use) strongly support AR adoption.</a:t>
            </a:r>
          </a:p>
          <a:p>
            <a:pPr algn="l">
              <a:lnSpc>
                <a:spcPts val="3875"/>
              </a:lnSpc>
            </a:pPr>
          </a:p>
          <a:p>
            <a:pPr algn="l" marL="597733" indent="-298867" lvl="1">
              <a:lnSpc>
                <a:spcPts val="3875"/>
              </a:lnSpc>
              <a:buFont typeface="Arial"/>
              <a:buChar char="•"/>
            </a:pPr>
            <a:r>
              <a:rPr lang="en-US" sz="2768">
                <a:solidFill>
                  <a:srgbClr val="0B0A0A"/>
                </a:solidFill>
                <a:latin typeface="TT Firs Neue"/>
                <a:ea typeface="TT Firs Neue"/>
                <a:cs typeface="TT Firs Neue"/>
                <a:sym typeface="TT Firs Neue"/>
              </a:rPr>
              <a:t>Accu</a:t>
            </a:r>
            <a:r>
              <a:rPr lang="en-US" sz="2768">
                <a:solidFill>
                  <a:srgbClr val="0B0A0A"/>
                </a:solidFill>
                <a:latin typeface="TT Firs Neue"/>
                <a:ea typeface="TT Firs Neue"/>
                <a:cs typeface="TT Firs Neue"/>
                <a:sym typeface="TT Firs Neue"/>
              </a:rPr>
              <a:t>rate and realistic AR experiences improve consumer confidence and reduce uncertainty.</a:t>
            </a:r>
          </a:p>
          <a:p>
            <a:pPr algn="l">
              <a:lnSpc>
                <a:spcPts val="4198"/>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305357" y="2926220"/>
            <a:ext cx="7536798" cy="6930845"/>
            <a:chOff x="0" y="0"/>
            <a:chExt cx="1420397" cy="1306233"/>
          </a:xfrm>
        </p:grpSpPr>
        <p:sp>
          <p:nvSpPr>
            <p:cNvPr name="Freeform 4" id="4"/>
            <p:cNvSpPr/>
            <p:nvPr/>
          </p:nvSpPr>
          <p:spPr>
            <a:xfrm flipH="false" flipV="false" rot="0">
              <a:off x="0" y="0"/>
              <a:ext cx="1420397" cy="1306233"/>
            </a:xfrm>
            <a:custGeom>
              <a:avLst/>
              <a:gdLst/>
              <a:ahLst/>
              <a:cxnLst/>
              <a:rect r="r" b="b" t="t" l="l"/>
              <a:pathLst>
                <a:path h="1306233" w="1420397">
                  <a:moveTo>
                    <a:pt x="1420397" y="30816"/>
                  </a:moveTo>
                  <a:lnTo>
                    <a:pt x="1420397" y="1275416"/>
                  </a:lnTo>
                  <a:cubicBezTo>
                    <a:pt x="1420397" y="1283589"/>
                    <a:pt x="1417150" y="1291428"/>
                    <a:pt x="1411371" y="1297207"/>
                  </a:cubicBezTo>
                  <a:cubicBezTo>
                    <a:pt x="1405592" y="1302986"/>
                    <a:pt x="1397753" y="1306233"/>
                    <a:pt x="1389580" y="1306233"/>
                  </a:cubicBezTo>
                  <a:lnTo>
                    <a:pt x="30816" y="1306233"/>
                  </a:lnTo>
                  <a:cubicBezTo>
                    <a:pt x="13797" y="1306233"/>
                    <a:pt x="0" y="1292436"/>
                    <a:pt x="0" y="1275416"/>
                  </a:cubicBezTo>
                  <a:lnTo>
                    <a:pt x="0" y="30816"/>
                  </a:lnTo>
                  <a:cubicBezTo>
                    <a:pt x="0" y="22643"/>
                    <a:pt x="3247" y="14805"/>
                    <a:pt x="9026" y="9026"/>
                  </a:cubicBezTo>
                  <a:cubicBezTo>
                    <a:pt x="14805" y="3247"/>
                    <a:pt x="22643" y="0"/>
                    <a:pt x="30816" y="0"/>
                  </a:cubicBezTo>
                  <a:lnTo>
                    <a:pt x="1389580" y="0"/>
                  </a:lnTo>
                  <a:cubicBezTo>
                    <a:pt x="1397753" y="0"/>
                    <a:pt x="1405592" y="3247"/>
                    <a:pt x="1411371" y="9026"/>
                  </a:cubicBezTo>
                  <a:cubicBezTo>
                    <a:pt x="1417150" y="14805"/>
                    <a:pt x="1420397" y="22643"/>
                    <a:pt x="1420397" y="30816"/>
                  </a:cubicBezTo>
                  <a:close/>
                </a:path>
              </a:pathLst>
            </a:custGeom>
            <a:solidFill>
              <a:srgbClr val="8BB4D9"/>
            </a:solidFill>
          </p:spPr>
        </p:sp>
        <p:sp>
          <p:nvSpPr>
            <p:cNvPr name="TextBox 5" id="5"/>
            <p:cNvSpPr txBox="true"/>
            <p:nvPr/>
          </p:nvSpPr>
          <p:spPr>
            <a:xfrm>
              <a:off x="0" y="-57150"/>
              <a:ext cx="1420397" cy="1363383"/>
            </a:xfrm>
            <a:prstGeom prst="rect">
              <a:avLst/>
            </a:prstGeom>
          </p:spPr>
          <p:txBody>
            <a:bodyPr anchor="ctr" rtlCol="false" tIns="50800" lIns="50800" bIns="50800" rIns="50800"/>
            <a:lstStyle/>
            <a:p>
              <a:pPr algn="ctr">
                <a:lnSpc>
                  <a:spcPts val="3306"/>
                </a:lnSpc>
              </a:pPr>
            </a:p>
          </p:txBody>
        </p:sp>
      </p:grpSp>
      <p:grpSp>
        <p:nvGrpSpPr>
          <p:cNvPr name="Group 6" id="6"/>
          <p:cNvGrpSpPr/>
          <p:nvPr/>
        </p:nvGrpSpPr>
        <p:grpSpPr>
          <a:xfrm rot="0">
            <a:off x="9883090" y="2926220"/>
            <a:ext cx="7183569" cy="6930845"/>
            <a:chOff x="0" y="0"/>
            <a:chExt cx="1098987" cy="1060352"/>
          </a:xfrm>
        </p:grpSpPr>
        <p:sp>
          <p:nvSpPr>
            <p:cNvPr name="Freeform 7" id="7"/>
            <p:cNvSpPr/>
            <p:nvPr/>
          </p:nvSpPr>
          <p:spPr>
            <a:xfrm flipH="false" flipV="false" rot="0">
              <a:off x="0" y="0"/>
              <a:ext cx="1098987" cy="1060352"/>
            </a:xfrm>
            <a:custGeom>
              <a:avLst/>
              <a:gdLst/>
              <a:ahLst/>
              <a:cxnLst/>
              <a:rect r="r" b="b" t="t" l="l"/>
              <a:pathLst>
                <a:path h="1060352" w="1098987">
                  <a:moveTo>
                    <a:pt x="1098987" y="32332"/>
                  </a:moveTo>
                  <a:lnTo>
                    <a:pt x="1098987" y="1028020"/>
                  </a:lnTo>
                  <a:cubicBezTo>
                    <a:pt x="1098987" y="1045877"/>
                    <a:pt x="1084512" y="1060352"/>
                    <a:pt x="1066655" y="1060352"/>
                  </a:cubicBezTo>
                  <a:lnTo>
                    <a:pt x="32332" y="1060352"/>
                  </a:lnTo>
                  <a:cubicBezTo>
                    <a:pt x="23757" y="1060352"/>
                    <a:pt x="15533" y="1056946"/>
                    <a:pt x="9470" y="1050882"/>
                  </a:cubicBezTo>
                  <a:cubicBezTo>
                    <a:pt x="3406" y="1044819"/>
                    <a:pt x="0" y="1036595"/>
                    <a:pt x="0" y="1028020"/>
                  </a:cubicBezTo>
                  <a:lnTo>
                    <a:pt x="0" y="32332"/>
                  </a:lnTo>
                  <a:cubicBezTo>
                    <a:pt x="0" y="23757"/>
                    <a:pt x="3406" y="15533"/>
                    <a:pt x="9470" y="9470"/>
                  </a:cubicBezTo>
                  <a:cubicBezTo>
                    <a:pt x="15533" y="3406"/>
                    <a:pt x="23757" y="0"/>
                    <a:pt x="32332" y="0"/>
                  </a:cubicBezTo>
                  <a:lnTo>
                    <a:pt x="1066655" y="0"/>
                  </a:lnTo>
                  <a:cubicBezTo>
                    <a:pt x="1075230" y="0"/>
                    <a:pt x="1083454" y="3406"/>
                    <a:pt x="1089517" y="9470"/>
                  </a:cubicBezTo>
                  <a:cubicBezTo>
                    <a:pt x="1095581" y="15533"/>
                    <a:pt x="1098987" y="23757"/>
                    <a:pt x="1098987" y="32332"/>
                  </a:cubicBezTo>
                  <a:close/>
                </a:path>
              </a:pathLst>
            </a:custGeom>
            <a:solidFill>
              <a:srgbClr val="F4CBC6"/>
            </a:solidFill>
          </p:spPr>
        </p:sp>
        <p:sp>
          <p:nvSpPr>
            <p:cNvPr name="TextBox 8" id="8"/>
            <p:cNvSpPr txBox="true"/>
            <p:nvPr/>
          </p:nvSpPr>
          <p:spPr>
            <a:xfrm>
              <a:off x="0" y="-57150"/>
              <a:ext cx="1098987" cy="1117502"/>
            </a:xfrm>
            <a:prstGeom prst="rect">
              <a:avLst/>
            </a:prstGeom>
          </p:spPr>
          <p:txBody>
            <a:bodyPr anchor="ctr" rtlCol="false" tIns="50800" lIns="50800" bIns="50800" rIns="50800"/>
            <a:lstStyle/>
            <a:p>
              <a:pPr algn="ctr">
                <a:lnSpc>
                  <a:spcPts val="3306"/>
                </a:lnSpc>
              </a:pPr>
            </a:p>
          </p:txBody>
        </p:sp>
      </p:grpSp>
      <p:sp>
        <p:nvSpPr>
          <p:cNvPr name="TextBox 9" id="9"/>
          <p:cNvSpPr txBox="true"/>
          <p:nvPr/>
        </p:nvSpPr>
        <p:spPr>
          <a:xfrm rot="0">
            <a:off x="3805187" y="306704"/>
            <a:ext cx="11632590" cy="1426846"/>
          </a:xfrm>
          <a:prstGeom prst="rect">
            <a:avLst/>
          </a:prstGeom>
        </p:spPr>
        <p:txBody>
          <a:bodyPr anchor="t" rtlCol="false" tIns="0" lIns="0" bIns="0" rIns="0">
            <a:spAutoFit/>
          </a:bodyPr>
          <a:lstStyle/>
          <a:p>
            <a:pPr algn="ctr" marL="0" indent="0" lvl="0">
              <a:lnSpc>
                <a:spcPts val="5610"/>
              </a:lnSpc>
              <a:spcBef>
                <a:spcPct val="0"/>
              </a:spcBef>
            </a:pPr>
            <a:r>
              <a:rPr lang="en-US" sz="5100">
                <a:solidFill>
                  <a:srgbClr val="8BB4D9"/>
                </a:solidFill>
                <a:latin typeface="Fredoka"/>
                <a:ea typeface="Fredoka"/>
                <a:cs typeface="Fredoka"/>
                <a:sym typeface="Fredoka"/>
              </a:rPr>
              <a:t>MANAGERIAL IMPLICATIONS &amp; RECOMMENDATIONS</a:t>
            </a:r>
          </a:p>
        </p:txBody>
      </p:sp>
      <p:grpSp>
        <p:nvGrpSpPr>
          <p:cNvPr name="Group 10" id="10"/>
          <p:cNvGrpSpPr/>
          <p:nvPr/>
        </p:nvGrpSpPr>
        <p:grpSpPr>
          <a:xfrm rot="0">
            <a:off x="-514350" y="10109941"/>
            <a:ext cx="20001260" cy="508552"/>
            <a:chOff x="0" y="0"/>
            <a:chExt cx="5267822" cy="133940"/>
          </a:xfrm>
        </p:grpSpPr>
        <p:sp>
          <p:nvSpPr>
            <p:cNvPr name="Freeform 11" id="11"/>
            <p:cNvSpPr/>
            <p:nvPr/>
          </p:nvSpPr>
          <p:spPr>
            <a:xfrm flipH="false" flipV="false" rot="0">
              <a:off x="0" y="0"/>
              <a:ext cx="5267821" cy="133940"/>
            </a:xfrm>
            <a:custGeom>
              <a:avLst/>
              <a:gdLst/>
              <a:ahLst/>
              <a:cxnLst/>
              <a:rect r="r" b="b" t="t" l="l"/>
              <a:pathLst>
                <a:path h="133940" w="5267821">
                  <a:moveTo>
                    <a:pt x="0" y="0"/>
                  </a:moveTo>
                  <a:lnTo>
                    <a:pt x="5267821" y="0"/>
                  </a:lnTo>
                  <a:lnTo>
                    <a:pt x="5267821" y="133940"/>
                  </a:lnTo>
                  <a:lnTo>
                    <a:pt x="0" y="133940"/>
                  </a:lnTo>
                  <a:close/>
                </a:path>
              </a:pathLst>
            </a:custGeom>
            <a:solidFill>
              <a:srgbClr val="8BB4D9"/>
            </a:solidFill>
          </p:spPr>
        </p:sp>
        <p:sp>
          <p:nvSpPr>
            <p:cNvPr name="TextBox 12" id="12"/>
            <p:cNvSpPr txBox="true"/>
            <p:nvPr/>
          </p:nvSpPr>
          <p:spPr>
            <a:xfrm>
              <a:off x="0" y="-47625"/>
              <a:ext cx="5267822" cy="181565"/>
            </a:xfrm>
            <a:prstGeom prst="rect">
              <a:avLst/>
            </a:prstGeom>
          </p:spPr>
          <p:txBody>
            <a:bodyPr anchor="ctr" rtlCol="false" tIns="50800" lIns="50800" bIns="50800" rIns="50800"/>
            <a:lstStyle/>
            <a:p>
              <a:pPr algn="ctr">
                <a:lnSpc>
                  <a:spcPts val="3359"/>
                </a:lnSpc>
              </a:pPr>
            </a:p>
          </p:txBody>
        </p:sp>
      </p:grpSp>
      <p:sp>
        <p:nvSpPr>
          <p:cNvPr name="Freeform 13" id="13"/>
          <p:cNvSpPr/>
          <p:nvPr/>
        </p:nvSpPr>
        <p:spPr>
          <a:xfrm flipH="false" flipV="false" rot="0">
            <a:off x="17066659" y="530116"/>
            <a:ext cx="1021139" cy="997168"/>
          </a:xfrm>
          <a:custGeom>
            <a:avLst/>
            <a:gdLst/>
            <a:ahLst/>
            <a:cxnLst/>
            <a:rect r="r" b="b" t="t" l="l"/>
            <a:pathLst>
              <a:path h="997168" w="1021139">
                <a:moveTo>
                  <a:pt x="0" y="0"/>
                </a:moveTo>
                <a:lnTo>
                  <a:pt x="1021139" y="0"/>
                </a:lnTo>
                <a:lnTo>
                  <a:pt x="1021139" y="997168"/>
                </a:lnTo>
                <a:lnTo>
                  <a:pt x="0" y="9971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016930" y="3654139"/>
            <a:ext cx="1543050" cy="1506828"/>
          </a:xfrm>
          <a:custGeom>
            <a:avLst/>
            <a:gdLst/>
            <a:ahLst/>
            <a:cxnLst/>
            <a:rect r="r" b="b" t="t" l="l"/>
            <a:pathLst>
              <a:path h="1506828" w="1543050">
                <a:moveTo>
                  <a:pt x="0" y="0"/>
                </a:moveTo>
                <a:lnTo>
                  <a:pt x="1543050" y="0"/>
                </a:lnTo>
                <a:lnTo>
                  <a:pt x="1543050" y="1506828"/>
                </a:lnTo>
                <a:lnTo>
                  <a:pt x="0" y="15068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946749" y="533005"/>
            <a:ext cx="2247845" cy="1818711"/>
          </a:xfrm>
          <a:custGeom>
            <a:avLst/>
            <a:gdLst/>
            <a:ahLst/>
            <a:cxnLst/>
            <a:rect r="r" b="b" t="t" l="l"/>
            <a:pathLst>
              <a:path h="1818711" w="2247845">
                <a:moveTo>
                  <a:pt x="0" y="0"/>
                </a:moveTo>
                <a:lnTo>
                  <a:pt x="2247844" y="0"/>
                </a:lnTo>
                <a:lnTo>
                  <a:pt x="2247844" y="1818711"/>
                </a:lnTo>
                <a:lnTo>
                  <a:pt x="0" y="18187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1645290" y="3359257"/>
            <a:ext cx="7118630" cy="5899043"/>
          </a:xfrm>
          <a:prstGeom prst="rect">
            <a:avLst/>
          </a:prstGeom>
        </p:spPr>
        <p:txBody>
          <a:bodyPr anchor="t" rtlCol="false" tIns="0" lIns="0" bIns="0" rIns="0">
            <a:spAutoFit/>
          </a:bodyPr>
          <a:lstStyle/>
          <a:p>
            <a:pPr algn="l" marL="560963" indent="-280482" lvl="1">
              <a:lnSpc>
                <a:spcPts val="3637"/>
              </a:lnSpc>
              <a:spcBef>
                <a:spcPct val="0"/>
              </a:spcBef>
              <a:buFont typeface="Arial"/>
              <a:buChar char="•"/>
            </a:pPr>
            <a:r>
              <a:rPr lang="en-US" sz="2598">
                <a:solidFill>
                  <a:srgbClr val="000000"/>
                </a:solidFill>
                <a:latin typeface="Poppins"/>
                <a:ea typeface="Poppins"/>
                <a:cs typeface="Poppins"/>
                <a:sym typeface="Poppins"/>
              </a:rPr>
              <a:t>Retai</a:t>
            </a:r>
            <a:r>
              <a:rPr lang="en-US" sz="2598" strike="noStrike" u="none">
                <a:solidFill>
                  <a:srgbClr val="000000"/>
                </a:solidFill>
                <a:latin typeface="Poppins"/>
                <a:ea typeface="Poppins"/>
                <a:cs typeface="Poppins"/>
                <a:sym typeface="Poppins"/>
              </a:rPr>
              <a:t>lers can use AR to improve customer confidence and reduce uncertainty.</a:t>
            </a:r>
          </a:p>
          <a:p>
            <a:pPr algn="l">
              <a:lnSpc>
                <a:spcPts val="3637"/>
              </a:lnSpc>
              <a:spcBef>
                <a:spcPct val="0"/>
              </a:spcBef>
            </a:pPr>
          </a:p>
          <a:p>
            <a:pPr algn="l" marL="560963" indent="-280482" lvl="1">
              <a:lnSpc>
                <a:spcPts val="3637"/>
              </a:lnSpc>
              <a:spcBef>
                <a:spcPct val="0"/>
              </a:spcBef>
              <a:buFont typeface="Arial"/>
              <a:buChar char="•"/>
            </a:pPr>
            <a:r>
              <a:rPr lang="en-US" sz="2598" strike="noStrike" u="none">
                <a:solidFill>
                  <a:srgbClr val="000000"/>
                </a:solidFill>
                <a:latin typeface="Poppins"/>
                <a:ea typeface="Poppins"/>
                <a:cs typeface="Poppins"/>
                <a:sym typeface="Poppins"/>
              </a:rPr>
              <a:t>B</a:t>
            </a:r>
            <a:r>
              <a:rPr lang="en-US" sz="2598" strike="noStrike" u="none">
                <a:solidFill>
                  <a:srgbClr val="000000"/>
                </a:solidFill>
                <a:latin typeface="Poppins"/>
                <a:ea typeface="Poppins"/>
                <a:cs typeface="Poppins"/>
                <a:sym typeface="Poppins"/>
              </a:rPr>
              <a:t>rands should focus on realistic visualization and</a:t>
            </a:r>
            <a:r>
              <a:rPr lang="en-US" sz="2598" strike="noStrike" u="none">
                <a:solidFill>
                  <a:srgbClr val="000000"/>
                </a:solidFill>
                <a:latin typeface="Poppins"/>
                <a:ea typeface="Poppins"/>
                <a:cs typeface="Poppins"/>
                <a:sym typeface="Poppins"/>
              </a:rPr>
              <a:t> fit accuracy.</a:t>
            </a:r>
          </a:p>
          <a:p>
            <a:pPr algn="l">
              <a:lnSpc>
                <a:spcPts val="3637"/>
              </a:lnSpc>
              <a:spcBef>
                <a:spcPct val="0"/>
              </a:spcBef>
            </a:pPr>
          </a:p>
          <a:p>
            <a:pPr algn="l" marL="560963" indent="-280482" lvl="1">
              <a:lnSpc>
                <a:spcPts val="3637"/>
              </a:lnSpc>
              <a:spcBef>
                <a:spcPct val="0"/>
              </a:spcBef>
              <a:buFont typeface="Arial"/>
              <a:buChar char="•"/>
            </a:pPr>
            <a:r>
              <a:rPr lang="en-US" sz="2598" strike="noStrike" u="none">
                <a:solidFill>
                  <a:srgbClr val="000000"/>
                </a:solidFill>
                <a:latin typeface="Poppins"/>
                <a:ea typeface="Poppins"/>
                <a:cs typeface="Poppins"/>
                <a:sym typeface="Poppins"/>
              </a:rPr>
              <a:t>AR can i</a:t>
            </a:r>
            <a:r>
              <a:rPr lang="en-US" sz="2598" strike="noStrike" u="none">
                <a:solidFill>
                  <a:srgbClr val="000000"/>
                </a:solidFill>
                <a:latin typeface="Poppins"/>
                <a:ea typeface="Poppins"/>
                <a:cs typeface="Poppins"/>
                <a:sym typeface="Poppins"/>
              </a:rPr>
              <a:t>nc</a:t>
            </a:r>
            <a:r>
              <a:rPr lang="en-US" sz="2598" strike="noStrike" u="none">
                <a:solidFill>
                  <a:srgbClr val="000000"/>
                </a:solidFill>
                <a:latin typeface="Poppins"/>
                <a:ea typeface="Poppins"/>
                <a:cs typeface="Poppins"/>
                <a:sym typeface="Poppins"/>
              </a:rPr>
              <a:t>r</a:t>
            </a:r>
            <a:r>
              <a:rPr lang="en-US" sz="2598" strike="noStrike" u="none">
                <a:solidFill>
                  <a:srgbClr val="000000"/>
                </a:solidFill>
                <a:latin typeface="Poppins"/>
                <a:ea typeface="Poppins"/>
                <a:cs typeface="Poppins"/>
                <a:sym typeface="Poppins"/>
              </a:rPr>
              <a:t>e</a:t>
            </a:r>
            <a:r>
              <a:rPr lang="en-US" sz="2598" strike="noStrike" u="none">
                <a:solidFill>
                  <a:srgbClr val="000000"/>
                </a:solidFill>
                <a:latin typeface="Poppins"/>
                <a:ea typeface="Poppins"/>
                <a:cs typeface="Poppins"/>
                <a:sym typeface="Poppins"/>
              </a:rPr>
              <a:t>a</a:t>
            </a:r>
            <a:r>
              <a:rPr lang="en-US" sz="2598" strike="noStrike" u="none">
                <a:solidFill>
                  <a:srgbClr val="000000"/>
                </a:solidFill>
                <a:latin typeface="Poppins"/>
                <a:ea typeface="Poppins"/>
                <a:cs typeface="Poppins"/>
                <a:sym typeface="Poppins"/>
              </a:rPr>
              <a:t>se </a:t>
            </a:r>
            <a:r>
              <a:rPr lang="en-US" sz="2598" strike="noStrike" u="none">
                <a:solidFill>
                  <a:srgbClr val="000000"/>
                </a:solidFill>
                <a:latin typeface="Poppins"/>
                <a:ea typeface="Poppins"/>
                <a:cs typeface="Poppins"/>
                <a:sym typeface="Poppins"/>
              </a:rPr>
              <a:t>engagement,</a:t>
            </a:r>
            <a:r>
              <a:rPr lang="en-US" sz="2598" strike="noStrike" u="none">
                <a:solidFill>
                  <a:srgbClr val="000000"/>
                </a:solidFill>
                <a:latin typeface="Poppins"/>
                <a:ea typeface="Poppins"/>
                <a:cs typeface="Poppins"/>
                <a:sym typeface="Poppins"/>
              </a:rPr>
              <a:t> </a:t>
            </a:r>
            <a:r>
              <a:rPr lang="en-US" sz="2598" strike="noStrike" u="none">
                <a:solidFill>
                  <a:srgbClr val="000000"/>
                </a:solidFill>
                <a:latin typeface="Poppins"/>
                <a:ea typeface="Poppins"/>
                <a:cs typeface="Poppins"/>
                <a:sym typeface="Poppins"/>
              </a:rPr>
              <a:t>product </a:t>
            </a:r>
            <a:r>
              <a:rPr lang="en-US" sz="2598" strike="noStrike" u="none">
                <a:solidFill>
                  <a:srgbClr val="000000"/>
                </a:solidFill>
                <a:latin typeface="Poppins"/>
                <a:ea typeface="Poppins"/>
                <a:cs typeface="Poppins"/>
                <a:sym typeface="Poppins"/>
              </a:rPr>
              <a:t>e</a:t>
            </a:r>
            <a:r>
              <a:rPr lang="en-US" sz="2598" strike="noStrike" u="none">
                <a:solidFill>
                  <a:srgbClr val="000000"/>
                </a:solidFill>
                <a:latin typeface="Poppins"/>
                <a:ea typeface="Poppins"/>
                <a:cs typeface="Poppins"/>
                <a:sym typeface="Poppins"/>
              </a:rPr>
              <a:t>xpl</a:t>
            </a:r>
            <a:r>
              <a:rPr lang="en-US" sz="2598" strike="noStrike" u="none">
                <a:solidFill>
                  <a:srgbClr val="000000"/>
                </a:solidFill>
                <a:latin typeface="Poppins"/>
                <a:ea typeface="Poppins"/>
                <a:cs typeface="Poppins"/>
                <a:sym typeface="Poppins"/>
              </a:rPr>
              <a:t>or</a:t>
            </a:r>
            <a:r>
              <a:rPr lang="en-US" sz="2598" strike="noStrike" u="none">
                <a:solidFill>
                  <a:srgbClr val="000000"/>
                </a:solidFill>
                <a:latin typeface="Poppins"/>
                <a:ea typeface="Poppins"/>
                <a:cs typeface="Poppins"/>
                <a:sym typeface="Poppins"/>
              </a:rPr>
              <a:t>ation, and</a:t>
            </a:r>
            <a:r>
              <a:rPr lang="en-US" sz="2598" strike="noStrike" u="none">
                <a:solidFill>
                  <a:srgbClr val="000000"/>
                </a:solidFill>
                <a:latin typeface="Poppins"/>
                <a:ea typeface="Poppins"/>
                <a:cs typeface="Poppins"/>
                <a:sym typeface="Poppins"/>
              </a:rPr>
              <a:t> purchase intention.</a:t>
            </a:r>
          </a:p>
          <a:p>
            <a:pPr algn="l">
              <a:lnSpc>
                <a:spcPts val="3637"/>
              </a:lnSpc>
              <a:spcBef>
                <a:spcPct val="0"/>
              </a:spcBef>
            </a:pPr>
          </a:p>
          <a:p>
            <a:pPr algn="l" marL="560963" indent="-280482" lvl="1">
              <a:lnSpc>
                <a:spcPts val="3637"/>
              </a:lnSpc>
              <a:spcBef>
                <a:spcPct val="0"/>
              </a:spcBef>
              <a:buFont typeface="Arial"/>
              <a:buChar char="•"/>
            </a:pPr>
            <a:r>
              <a:rPr lang="en-US" sz="2598" strike="noStrike" u="none">
                <a:solidFill>
                  <a:srgbClr val="000000"/>
                </a:solidFill>
                <a:latin typeface="Poppins"/>
                <a:ea typeface="Poppins"/>
                <a:cs typeface="Poppins"/>
                <a:sym typeface="Poppins"/>
              </a:rPr>
              <a:t>Customer personas can help brands personalize AR experiences.</a:t>
            </a:r>
          </a:p>
          <a:p>
            <a:pPr algn="l" marL="0" indent="0" lvl="0">
              <a:lnSpc>
                <a:spcPts val="3637"/>
              </a:lnSpc>
              <a:spcBef>
                <a:spcPct val="0"/>
              </a:spcBef>
            </a:pPr>
          </a:p>
        </p:txBody>
      </p:sp>
      <p:sp>
        <p:nvSpPr>
          <p:cNvPr name="TextBox 17" id="17"/>
          <p:cNvSpPr txBox="true"/>
          <p:nvPr/>
        </p:nvSpPr>
        <p:spPr>
          <a:xfrm rot="0">
            <a:off x="1857163" y="2025643"/>
            <a:ext cx="5706820" cy="566421"/>
          </a:xfrm>
          <a:prstGeom prst="rect">
            <a:avLst/>
          </a:prstGeom>
        </p:spPr>
        <p:txBody>
          <a:bodyPr anchor="t" rtlCol="false" tIns="0" lIns="0" bIns="0" rIns="0">
            <a:spAutoFit/>
          </a:bodyPr>
          <a:lstStyle/>
          <a:p>
            <a:pPr algn="ctr" marL="0" indent="0" lvl="0">
              <a:lnSpc>
                <a:spcPts val="4479"/>
              </a:lnSpc>
              <a:spcBef>
                <a:spcPct val="0"/>
              </a:spcBef>
            </a:pPr>
            <a:r>
              <a:rPr lang="en-US" b="true" sz="3199">
                <a:solidFill>
                  <a:srgbClr val="000000"/>
                </a:solidFill>
                <a:latin typeface="Poppins Bold"/>
                <a:ea typeface="Poppins Bold"/>
                <a:cs typeface="Poppins Bold"/>
                <a:sym typeface="Poppins Bold"/>
              </a:rPr>
              <a:t>Manage</a:t>
            </a:r>
            <a:r>
              <a:rPr lang="en-US" b="true" sz="3199" strike="noStrike" u="none">
                <a:solidFill>
                  <a:srgbClr val="000000"/>
                </a:solidFill>
                <a:latin typeface="Poppins Bold"/>
                <a:ea typeface="Poppins Bold"/>
                <a:cs typeface="Poppins Bold"/>
                <a:sym typeface="Poppins Bold"/>
              </a:rPr>
              <a:t>rial Implic</a:t>
            </a:r>
            <a:r>
              <a:rPr lang="en-US" b="true" sz="3199" strike="noStrike" u="none">
                <a:solidFill>
                  <a:srgbClr val="000000"/>
                </a:solidFill>
                <a:latin typeface="Poppins Bold"/>
                <a:ea typeface="Poppins Bold"/>
                <a:cs typeface="Poppins Bold"/>
                <a:sym typeface="Poppins Bold"/>
              </a:rPr>
              <a:t>at</a:t>
            </a:r>
            <a:r>
              <a:rPr lang="en-US" b="true" sz="3199" strike="noStrike" u="none">
                <a:solidFill>
                  <a:srgbClr val="000000"/>
                </a:solidFill>
                <a:latin typeface="Poppins Bold"/>
                <a:ea typeface="Poppins Bold"/>
                <a:cs typeface="Poppins Bold"/>
                <a:sym typeface="Poppins Bold"/>
              </a:rPr>
              <a:t>ions</a:t>
            </a:r>
          </a:p>
        </p:txBody>
      </p:sp>
      <p:sp>
        <p:nvSpPr>
          <p:cNvPr name="TextBox 18" id="18"/>
          <p:cNvSpPr txBox="true"/>
          <p:nvPr/>
        </p:nvSpPr>
        <p:spPr>
          <a:xfrm rot="0">
            <a:off x="10339531" y="3250804"/>
            <a:ext cx="6270686" cy="6106424"/>
          </a:xfrm>
          <a:prstGeom prst="rect">
            <a:avLst/>
          </a:prstGeom>
        </p:spPr>
        <p:txBody>
          <a:bodyPr anchor="t" rtlCol="false" tIns="0" lIns="0" bIns="0" rIns="0">
            <a:spAutoFit/>
          </a:bodyPr>
          <a:lstStyle/>
          <a:p>
            <a:pPr algn="l" marL="579993" indent="-289997" lvl="1">
              <a:lnSpc>
                <a:spcPts val="3760"/>
              </a:lnSpc>
              <a:spcBef>
                <a:spcPct val="0"/>
              </a:spcBef>
              <a:buFont typeface="Arial"/>
              <a:buChar char="•"/>
            </a:pPr>
            <a:r>
              <a:rPr lang="en-US" sz="2686">
                <a:solidFill>
                  <a:srgbClr val="000000"/>
                </a:solidFill>
                <a:latin typeface="Poppins"/>
                <a:ea typeface="Poppins"/>
                <a:cs typeface="Poppins"/>
                <a:sym typeface="Poppins"/>
              </a:rPr>
              <a:t>Improve fit accuracy and r</a:t>
            </a:r>
            <a:r>
              <a:rPr lang="en-US" sz="2686" strike="noStrike" u="none">
                <a:solidFill>
                  <a:srgbClr val="000000"/>
                </a:solidFill>
                <a:latin typeface="Poppins"/>
                <a:ea typeface="Poppins"/>
                <a:cs typeface="Poppins"/>
                <a:sym typeface="Poppins"/>
              </a:rPr>
              <a:t>ealism of AR features.</a:t>
            </a:r>
          </a:p>
          <a:p>
            <a:pPr algn="l">
              <a:lnSpc>
                <a:spcPts val="3760"/>
              </a:lnSpc>
              <a:spcBef>
                <a:spcPct val="0"/>
              </a:spcBef>
            </a:pPr>
          </a:p>
          <a:p>
            <a:pPr algn="l" marL="579993" indent="-289997" lvl="1">
              <a:lnSpc>
                <a:spcPts val="3760"/>
              </a:lnSpc>
              <a:spcBef>
                <a:spcPct val="0"/>
              </a:spcBef>
              <a:buFont typeface="Arial"/>
              <a:buChar char="•"/>
            </a:pPr>
            <a:r>
              <a:rPr lang="en-US" sz="2686" strike="noStrike" u="none">
                <a:solidFill>
                  <a:srgbClr val="000000"/>
                </a:solidFill>
                <a:latin typeface="Poppins"/>
                <a:ea typeface="Poppins"/>
                <a:cs typeface="Poppins"/>
                <a:sym typeface="Poppins"/>
              </a:rPr>
              <a:t>Redu</a:t>
            </a:r>
            <a:r>
              <a:rPr lang="en-US" sz="2686" strike="noStrike" u="none">
                <a:solidFill>
                  <a:srgbClr val="000000"/>
                </a:solidFill>
                <a:latin typeface="Poppins"/>
                <a:ea typeface="Poppins"/>
                <a:cs typeface="Poppins"/>
                <a:sym typeface="Poppins"/>
              </a:rPr>
              <a:t>ce slow loading and usability barriers.</a:t>
            </a:r>
          </a:p>
          <a:p>
            <a:pPr algn="l">
              <a:lnSpc>
                <a:spcPts val="3760"/>
              </a:lnSpc>
              <a:spcBef>
                <a:spcPct val="0"/>
              </a:spcBef>
            </a:pPr>
          </a:p>
          <a:p>
            <a:pPr algn="l" marL="579993" indent="-289997" lvl="1">
              <a:lnSpc>
                <a:spcPts val="3760"/>
              </a:lnSpc>
              <a:spcBef>
                <a:spcPct val="0"/>
              </a:spcBef>
              <a:buFont typeface="Arial"/>
              <a:buChar char="•"/>
            </a:pPr>
            <a:r>
              <a:rPr lang="en-US" sz="2686" strike="noStrike" u="none">
                <a:solidFill>
                  <a:srgbClr val="000000"/>
                </a:solidFill>
                <a:latin typeface="Poppins"/>
                <a:ea typeface="Poppins"/>
                <a:cs typeface="Poppins"/>
                <a:sym typeface="Poppins"/>
              </a:rPr>
              <a:t>Expand AR availability across more product categories.</a:t>
            </a:r>
          </a:p>
          <a:p>
            <a:pPr algn="l">
              <a:lnSpc>
                <a:spcPts val="3760"/>
              </a:lnSpc>
              <a:spcBef>
                <a:spcPct val="0"/>
              </a:spcBef>
            </a:pPr>
          </a:p>
          <a:p>
            <a:pPr algn="l" marL="579993" indent="-289997" lvl="1">
              <a:lnSpc>
                <a:spcPts val="3760"/>
              </a:lnSpc>
              <a:spcBef>
                <a:spcPct val="0"/>
              </a:spcBef>
              <a:buFont typeface="Arial"/>
              <a:buChar char="•"/>
            </a:pPr>
            <a:r>
              <a:rPr lang="en-US" sz="2686" strike="noStrike" u="none">
                <a:solidFill>
                  <a:srgbClr val="000000"/>
                </a:solidFill>
                <a:latin typeface="Poppins"/>
                <a:ea typeface="Poppins"/>
                <a:cs typeface="Poppins"/>
                <a:sym typeface="Poppins"/>
              </a:rPr>
              <a:t>Integrat</a:t>
            </a:r>
            <a:r>
              <a:rPr lang="en-US" sz="2686" strike="noStrike" u="none">
                <a:solidFill>
                  <a:srgbClr val="000000"/>
                </a:solidFill>
                <a:latin typeface="Poppins"/>
                <a:ea typeface="Poppins"/>
                <a:cs typeface="Poppins"/>
                <a:sym typeface="Poppins"/>
              </a:rPr>
              <a:t>e AI with AR for personalized shoppin</a:t>
            </a:r>
            <a:r>
              <a:rPr lang="en-US" sz="2686" strike="noStrike" u="none">
                <a:solidFill>
                  <a:srgbClr val="000000"/>
                </a:solidFill>
                <a:latin typeface="Poppins"/>
                <a:ea typeface="Poppins"/>
                <a:cs typeface="Poppins"/>
                <a:sym typeface="Poppins"/>
              </a:rPr>
              <a:t>g</a:t>
            </a:r>
            <a:r>
              <a:rPr lang="en-US" sz="2686" strike="noStrike" u="none">
                <a:solidFill>
                  <a:srgbClr val="000000"/>
                </a:solidFill>
                <a:latin typeface="Poppins"/>
                <a:ea typeface="Poppins"/>
                <a:cs typeface="Poppins"/>
                <a:sym typeface="Poppins"/>
              </a:rPr>
              <a:t> experiences.</a:t>
            </a:r>
          </a:p>
          <a:p>
            <a:pPr algn="l" marL="0" indent="0" lvl="0">
              <a:lnSpc>
                <a:spcPts val="3760"/>
              </a:lnSpc>
              <a:spcBef>
                <a:spcPct val="0"/>
              </a:spcBef>
            </a:pPr>
          </a:p>
        </p:txBody>
      </p:sp>
      <p:sp>
        <p:nvSpPr>
          <p:cNvPr name="TextBox 19" id="19"/>
          <p:cNvSpPr txBox="true"/>
          <p:nvPr/>
        </p:nvSpPr>
        <p:spPr>
          <a:xfrm rot="0">
            <a:off x="11118887" y="2082305"/>
            <a:ext cx="4358878" cy="613411"/>
          </a:xfrm>
          <a:prstGeom prst="rect">
            <a:avLst/>
          </a:prstGeom>
        </p:spPr>
        <p:txBody>
          <a:bodyPr anchor="t" rtlCol="false" tIns="0" lIns="0" bIns="0" rIns="0">
            <a:spAutoFit/>
          </a:bodyPr>
          <a:lstStyle/>
          <a:p>
            <a:pPr algn="ctr">
              <a:lnSpc>
                <a:spcPts val="5039"/>
              </a:lnSpc>
              <a:spcBef>
                <a:spcPct val="0"/>
              </a:spcBef>
            </a:pPr>
            <a:r>
              <a:rPr lang="en-US" b="true" sz="3599">
                <a:solidFill>
                  <a:srgbClr val="000000"/>
                </a:solidFill>
                <a:latin typeface="TT Firs Neue Bold"/>
                <a:ea typeface="TT Firs Neue Bold"/>
                <a:cs typeface="TT Firs Neue Bold"/>
                <a:sym typeface="TT Firs Neue Bold"/>
              </a:rPr>
              <a:t>Rec</a:t>
            </a:r>
            <a:r>
              <a:rPr lang="en-US" b="true" sz="3599">
                <a:solidFill>
                  <a:srgbClr val="000000"/>
                </a:solidFill>
                <a:latin typeface="TT Firs Neue Bold"/>
                <a:ea typeface="TT Firs Neue Bold"/>
                <a:cs typeface="TT Firs Neue Bold"/>
                <a:sym typeface="TT Firs Neue Bold"/>
              </a:rPr>
              <a:t>ommendations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860734"/>
            <a:ext cx="16865567" cy="8274419"/>
            <a:chOff x="0" y="0"/>
            <a:chExt cx="2895240" cy="1420434"/>
          </a:xfrm>
        </p:grpSpPr>
        <p:sp>
          <p:nvSpPr>
            <p:cNvPr name="Freeform 4" id="4"/>
            <p:cNvSpPr/>
            <p:nvPr/>
          </p:nvSpPr>
          <p:spPr>
            <a:xfrm flipH="false" flipV="false" rot="0">
              <a:off x="0" y="0"/>
              <a:ext cx="2895240" cy="1420434"/>
            </a:xfrm>
            <a:custGeom>
              <a:avLst/>
              <a:gdLst/>
              <a:ahLst/>
              <a:cxnLst/>
              <a:rect r="r" b="b" t="t" l="l"/>
              <a:pathLst>
                <a:path h="1420434" w="2895240">
                  <a:moveTo>
                    <a:pt x="16066" y="0"/>
                  </a:moveTo>
                  <a:lnTo>
                    <a:pt x="2879174" y="0"/>
                  </a:lnTo>
                  <a:cubicBezTo>
                    <a:pt x="2883435" y="0"/>
                    <a:pt x="2887521" y="1693"/>
                    <a:pt x="2890534" y="4706"/>
                  </a:cubicBezTo>
                  <a:cubicBezTo>
                    <a:pt x="2893547" y="7719"/>
                    <a:pt x="2895240" y="11805"/>
                    <a:pt x="2895240" y="16066"/>
                  </a:cubicBezTo>
                  <a:lnTo>
                    <a:pt x="2895240" y="1404368"/>
                  </a:lnTo>
                  <a:cubicBezTo>
                    <a:pt x="2895240" y="1413241"/>
                    <a:pt x="2888047" y="1420434"/>
                    <a:pt x="2879174" y="1420434"/>
                  </a:cubicBezTo>
                  <a:lnTo>
                    <a:pt x="16066" y="1420434"/>
                  </a:lnTo>
                  <a:cubicBezTo>
                    <a:pt x="11805" y="1420434"/>
                    <a:pt x="7719" y="1418742"/>
                    <a:pt x="4706" y="1415729"/>
                  </a:cubicBezTo>
                  <a:cubicBezTo>
                    <a:pt x="1693" y="1412716"/>
                    <a:pt x="0" y="1408629"/>
                    <a:pt x="0" y="1404368"/>
                  </a:cubicBezTo>
                  <a:lnTo>
                    <a:pt x="0" y="16066"/>
                  </a:lnTo>
                  <a:cubicBezTo>
                    <a:pt x="0" y="11805"/>
                    <a:pt x="1693" y="7719"/>
                    <a:pt x="4706" y="4706"/>
                  </a:cubicBezTo>
                  <a:cubicBezTo>
                    <a:pt x="7719" y="1693"/>
                    <a:pt x="11805" y="0"/>
                    <a:pt x="16066" y="0"/>
                  </a:cubicBezTo>
                  <a:close/>
                </a:path>
              </a:pathLst>
            </a:custGeom>
            <a:solidFill>
              <a:srgbClr val="FCFCDD"/>
            </a:solidFill>
          </p:spPr>
        </p:sp>
      </p:grpSp>
      <p:sp>
        <p:nvSpPr>
          <p:cNvPr name="Freeform 5" id="5"/>
          <p:cNvSpPr/>
          <p:nvPr/>
        </p:nvSpPr>
        <p:spPr>
          <a:xfrm flipH="false" flipV="false" rot="0">
            <a:off x="15534683" y="1261963"/>
            <a:ext cx="2359584" cy="2877541"/>
          </a:xfrm>
          <a:custGeom>
            <a:avLst/>
            <a:gdLst/>
            <a:ahLst/>
            <a:cxnLst/>
            <a:rect r="r" b="b" t="t" l="l"/>
            <a:pathLst>
              <a:path h="2877541" w="2359584">
                <a:moveTo>
                  <a:pt x="0" y="0"/>
                </a:moveTo>
                <a:lnTo>
                  <a:pt x="2359584" y="0"/>
                </a:lnTo>
                <a:lnTo>
                  <a:pt x="2359584" y="2877541"/>
                </a:lnTo>
                <a:lnTo>
                  <a:pt x="0" y="28775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2769645" y="506914"/>
            <a:ext cx="15844900" cy="896620"/>
          </a:xfrm>
          <a:prstGeom prst="rect">
            <a:avLst/>
          </a:prstGeom>
        </p:spPr>
        <p:txBody>
          <a:bodyPr anchor="t" rtlCol="false" tIns="0" lIns="0" bIns="0" rIns="0">
            <a:spAutoFit/>
          </a:bodyPr>
          <a:lstStyle/>
          <a:p>
            <a:pPr algn="l">
              <a:lnSpc>
                <a:spcPts val="6800"/>
              </a:lnSpc>
            </a:pPr>
            <a:r>
              <a:rPr lang="en-US" sz="6800">
                <a:solidFill>
                  <a:srgbClr val="8BB4D9"/>
                </a:solidFill>
                <a:latin typeface="Fredoka"/>
                <a:ea typeface="Fredoka"/>
                <a:cs typeface="Fredoka"/>
                <a:sym typeface="Fredoka"/>
              </a:rPr>
              <a:t>LIM</a:t>
            </a:r>
            <a:r>
              <a:rPr lang="en-US" sz="6800">
                <a:solidFill>
                  <a:srgbClr val="8BB4D9"/>
                </a:solidFill>
                <a:latin typeface="Fredoka"/>
                <a:ea typeface="Fredoka"/>
                <a:cs typeface="Fredoka"/>
                <a:sym typeface="Fredoka"/>
              </a:rPr>
              <a:t>ITATIONS &amp; FUTURE SCOPE</a:t>
            </a:r>
          </a:p>
        </p:txBody>
      </p:sp>
      <p:sp>
        <p:nvSpPr>
          <p:cNvPr name="TextBox 7" id="7"/>
          <p:cNvSpPr txBox="true"/>
          <p:nvPr/>
        </p:nvSpPr>
        <p:spPr>
          <a:xfrm rot="0">
            <a:off x="1910233" y="1969637"/>
            <a:ext cx="4502961" cy="653416"/>
          </a:xfrm>
          <a:prstGeom prst="rect">
            <a:avLst/>
          </a:prstGeom>
        </p:spPr>
        <p:txBody>
          <a:bodyPr anchor="t" rtlCol="false" tIns="0" lIns="0" bIns="0" rIns="0">
            <a:spAutoFit/>
          </a:bodyPr>
          <a:lstStyle/>
          <a:p>
            <a:pPr algn="l">
              <a:lnSpc>
                <a:spcPts val="5459"/>
              </a:lnSpc>
            </a:pPr>
            <a:r>
              <a:rPr lang="en-US" sz="3899" b="true">
                <a:solidFill>
                  <a:srgbClr val="0B0A0A"/>
                </a:solidFill>
                <a:latin typeface="TT Firs Neue Bold"/>
                <a:ea typeface="TT Firs Neue Bold"/>
                <a:cs typeface="TT Firs Neue Bold"/>
                <a:sym typeface="TT Firs Neue Bold"/>
              </a:rPr>
              <a:t>Lim</a:t>
            </a:r>
            <a:r>
              <a:rPr lang="en-US" sz="3899" b="true">
                <a:solidFill>
                  <a:srgbClr val="0B0A0A"/>
                </a:solidFill>
                <a:latin typeface="TT Firs Neue Bold"/>
                <a:ea typeface="TT Firs Neue Bold"/>
                <a:cs typeface="TT Firs Neue Bold"/>
                <a:sym typeface="TT Firs Neue Bold"/>
              </a:rPr>
              <a:t>itatio</a:t>
            </a:r>
            <a:r>
              <a:rPr lang="en-US" sz="3899" b="true">
                <a:solidFill>
                  <a:srgbClr val="0B0A0A"/>
                </a:solidFill>
                <a:latin typeface="TT Firs Neue Bold"/>
                <a:ea typeface="TT Firs Neue Bold"/>
                <a:cs typeface="TT Firs Neue Bold"/>
                <a:sym typeface="TT Firs Neue Bold"/>
              </a:rPr>
              <a:t>ns</a:t>
            </a:r>
          </a:p>
        </p:txBody>
      </p:sp>
      <p:grpSp>
        <p:nvGrpSpPr>
          <p:cNvPr name="Group 8" id="8"/>
          <p:cNvGrpSpPr/>
          <p:nvPr/>
        </p:nvGrpSpPr>
        <p:grpSpPr>
          <a:xfrm rot="0">
            <a:off x="-2502119" y="-766435"/>
            <a:ext cx="3086100" cy="11601215"/>
            <a:chOff x="0" y="0"/>
            <a:chExt cx="812800" cy="3055464"/>
          </a:xfrm>
        </p:grpSpPr>
        <p:sp>
          <p:nvSpPr>
            <p:cNvPr name="Freeform 9" id="9"/>
            <p:cNvSpPr/>
            <p:nvPr/>
          </p:nvSpPr>
          <p:spPr>
            <a:xfrm flipH="false" flipV="false" rot="0">
              <a:off x="0" y="0"/>
              <a:ext cx="812800" cy="3055464"/>
            </a:xfrm>
            <a:custGeom>
              <a:avLst/>
              <a:gdLst/>
              <a:ahLst/>
              <a:cxnLst/>
              <a:rect r="r" b="b" t="t" l="l"/>
              <a:pathLst>
                <a:path h="3055464" w="812800">
                  <a:moveTo>
                    <a:pt x="127941" y="0"/>
                  </a:moveTo>
                  <a:lnTo>
                    <a:pt x="684859" y="0"/>
                  </a:lnTo>
                  <a:cubicBezTo>
                    <a:pt x="718791" y="0"/>
                    <a:pt x="751333" y="13479"/>
                    <a:pt x="775327" y="37473"/>
                  </a:cubicBezTo>
                  <a:cubicBezTo>
                    <a:pt x="799321" y="61467"/>
                    <a:pt x="812800" y="94009"/>
                    <a:pt x="812800" y="127941"/>
                  </a:cubicBezTo>
                  <a:lnTo>
                    <a:pt x="812800" y="2927523"/>
                  </a:lnTo>
                  <a:cubicBezTo>
                    <a:pt x="812800" y="2961455"/>
                    <a:pt x="799321" y="2993997"/>
                    <a:pt x="775327" y="3017991"/>
                  </a:cubicBezTo>
                  <a:cubicBezTo>
                    <a:pt x="751333" y="3041984"/>
                    <a:pt x="718791" y="3055464"/>
                    <a:pt x="684859" y="3055464"/>
                  </a:cubicBezTo>
                  <a:lnTo>
                    <a:pt x="127941" y="3055464"/>
                  </a:lnTo>
                  <a:cubicBezTo>
                    <a:pt x="94009" y="3055464"/>
                    <a:pt x="61467" y="3041984"/>
                    <a:pt x="37473" y="3017991"/>
                  </a:cubicBezTo>
                  <a:cubicBezTo>
                    <a:pt x="13479" y="2993997"/>
                    <a:pt x="0" y="2961455"/>
                    <a:pt x="0" y="2927523"/>
                  </a:cubicBezTo>
                  <a:lnTo>
                    <a:pt x="0" y="127941"/>
                  </a:lnTo>
                  <a:cubicBezTo>
                    <a:pt x="0" y="94009"/>
                    <a:pt x="13479" y="61467"/>
                    <a:pt x="37473" y="37473"/>
                  </a:cubicBezTo>
                  <a:cubicBezTo>
                    <a:pt x="61467" y="13479"/>
                    <a:pt x="94009" y="0"/>
                    <a:pt x="127941" y="0"/>
                  </a:cubicBezTo>
                  <a:close/>
                </a:path>
              </a:pathLst>
            </a:custGeom>
            <a:solidFill>
              <a:srgbClr val="8BB4D9"/>
            </a:solidFill>
          </p:spPr>
        </p:sp>
        <p:sp>
          <p:nvSpPr>
            <p:cNvPr name="TextBox 10" id="10"/>
            <p:cNvSpPr txBox="true"/>
            <p:nvPr/>
          </p:nvSpPr>
          <p:spPr>
            <a:xfrm>
              <a:off x="0" y="-47625"/>
              <a:ext cx="812800" cy="3103089"/>
            </a:xfrm>
            <a:prstGeom prst="rect">
              <a:avLst/>
            </a:prstGeom>
          </p:spPr>
          <p:txBody>
            <a:bodyPr anchor="ctr" rtlCol="false" tIns="50800" lIns="50800" bIns="50800" rIns="50800"/>
            <a:lstStyle/>
            <a:p>
              <a:pPr algn="ctr">
                <a:lnSpc>
                  <a:spcPts val="3359"/>
                </a:lnSpc>
              </a:pPr>
            </a:p>
          </p:txBody>
        </p:sp>
      </p:grpSp>
      <p:sp>
        <p:nvSpPr>
          <p:cNvPr name="Freeform 11" id="11"/>
          <p:cNvSpPr/>
          <p:nvPr/>
        </p:nvSpPr>
        <p:spPr>
          <a:xfrm flipH="false" flipV="false" rot="0">
            <a:off x="516469" y="9258300"/>
            <a:ext cx="897931" cy="876853"/>
          </a:xfrm>
          <a:custGeom>
            <a:avLst/>
            <a:gdLst/>
            <a:ahLst/>
            <a:cxnLst/>
            <a:rect r="r" b="b" t="t" l="l"/>
            <a:pathLst>
              <a:path h="876853" w="897931">
                <a:moveTo>
                  <a:pt x="0" y="0"/>
                </a:moveTo>
                <a:lnTo>
                  <a:pt x="897931" y="0"/>
                </a:lnTo>
                <a:lnTo>
                  <a:pt x="897931" y="876853"/>
                </a:lnTo>
                <a:lnTo>
                  <a:pt x="0" y="8768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5205681" y="-753414"/>
            <a:ext cx="1543050" cy="1506828"/>
          </a:xfrm>
          <a:custGeom>
            <a:avLst/>
            <a:gdLst/>
            <a:ahLst/>
            <a:cxnLst/>
            <a:rect r="r" b="b" t="t" l="l"/>
            <a:pathLst>
              <a:path h="1506828" w="1543050">
                <a:moveTo>
                  <a:pt x="0" y="0"/>
                </a:moveTo>
                <a:lnTo>
                  <a:pt x="1543050" y="0"/>
                </a:lnTo>
                <a:lnTo>
                  <a:pt x="1543050" y="1506828"/>
                </a:lnTo>
                <a:lnTo>
                  <a:pt x="0" y="15068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1869683">
            <a:off x="-1141824" y="3999645"/>
            <a:ext cx="2247845" cy="1818711"/>
          </a:xfrm>
          <a:custGeom>
            <a:avLst/>
            <a:gdLst/>
            <a:ahLst/>
            <a:cxnLst/>
            <a:rect r="r" b="b" t="t" l="l"/>
            <a:pathLst>
              <a:path h="1818711" w="2247845">
                <a:moveTo>
                  <a:pt x="0" y="0"/>
                </a:moveTo>
                <a:lnTo>
                  <a:pt x="2247845" y="0"/>
                </a:lnTo>
                <a:lnTo>
                  <a:pt x="2247845" y="1818710"/>
                </a:lnTo>
                <a:lnTo>
                  <a:pt x="0" y="18187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1648265" y="5873116"/>
            <a:ext cx="4502961" cy="705486"/>
          </a:xfrm>
          <a:prstGeom prst="rect">
            <a:avLst/>
          </a:prstGeom>
        </p:spPr>
        <p:txBody>
          <a:bodyPr anchor="t" rtlCol="false" tIns="0" lIns="0" bIns="0" rIns="0">
            <a:spAutoFit/>
          </a:bodyPr>
          <a:lstStyle/>
          <a:p>
            <a:pPr algn="l">
              <a:lnSpc>
                <a:spcPts val="5739"/>
              </a:lnSpc>
            </a:pPr>
            <a:r>
              <a:rPr lang="en-US" sz="4099" b="true">
                <a:solidFill>
                  <a:srgbClr val="0B0A0A"/>
                </a:solidFill>
                <a:latin typeface="TT Firs Neue Bold"/>
                <a:ea typeface="TT Firs Neue Bold"/>
                <a:cs typeface="TT Firs Neue Bold"/>
                <a:sym typeface="TT Firs Neue Bold"/>
              </a:rPr>
              <a:t>F</a:t>
            </a:r>
            <a:r>
              <a:rPr lang="en-US" sz="4099" b="true">
                <a:solidFill>
                  <a:srgbClr val="0B0A0A"/>
                </a:solidFill>
                <a:latin typeface="TT Firs Neue Bold"/>
                <a:ea typeface="TT Firs Neue Bold"/>
                <a:cs typeface="TT Firs Neue Bold"/>
                <a:sym typeface="TT Firs Neue Bold"/>
              </a:rPr>
              <a:t>uture Scope</a:t>
            </a:r>
          </a:p>
        </p:txBody>
      </p:sp>
      <p:sp>
        <p:nvSpPr>
          <p:cNvPr name="TextBox 15" id="15"/>
          <p:cNvSpPr txBox="true"/>
          <p:nvPr/>
        </p:nvSpPr>
        <p:spPr>
          <a:xfrm rot="0">
            <a:off x="1648265" y="3064194"/>
            <a:ext cx="14752882" cy="2626769"/>
          </a:xfrm>
          <a:prstGeom prst="rect">
            <a:avLst/>
          </a:prstGeom>
        </p:spPr>
        <p:txBody>
          <a:bodyPr anchor="t" rtlCol="false" tIns="0" lIns="0" bIns="0" rIns="0">
            <a:spAutoFit/>
          </a:bodyPr>
          <a:lstStyle/>
          <a:p>
            <a:pPr algn="l" marL="640912" indent="-320456" lvl="1">
              <a:lnSpc>
                <a:spcPts val="4155"/>
              </a:lnSpc>
              <a:buFont typeface="Arial"/>
              <a:buChar char="•"/>
            </a:pPr>
            <a:r>
              <a:rPr lang="en-US" sz="2968">
                <a:solidFill>
                  <a:srgbClr val="0B0A0A"/>
                </a:solidFill>
                <a:latin typeface="TT Firs Neue"/>
                <a:ea typeface="TT Firs Neue"/>
                <a:cs typeface="TT Firs Neue"/>
                <a:sym typeface="TT Firs Neue"/>
              </a:rPr>
              <a:t>Study fo</a:t>
            </a:r>
            <a:r>
              <a:rPr lang="en-US" sz="2968">
                <a:solidFill>
                  <a:srgbClr val="0B0A0A"/>
                </a:solidFill>
                <a:latin typeface="TT Firs Neue"/>
                <a:ea typeface="TT Firs Neue"/>
                <a:cs typeface="TT Firs Neue"/>
                <a:sym typeface="TT Firs Neue"/>
              </a:rPr>
              <a:t>cu</a:t>
            </a:r>
            <a:r>
              <a:rPr lang="en-US" sz="2968">
                <a:solidFill>
                  <a:srgbClr val="0B0A0A"/>
                </a:solidFill>
                <a:latin typeface="TT Firs Neue"/>
                <a:ea typeface="TT Firs Neue"/>
                <a:cs typeface="TT Firs Neue"/>
                <a:sym typeface="TT Firs Neue"/>
              </a:rPr>
              <a:t>sed mainly on Indian consumers with prior </a:t>
            </a:r>
            <a:r>
              <a:rPr lang="en-US" sz="2968">
                <a:solidFill>
                  <a:srgbClr val="0B0A0A"/>
                </a:solidFill>
                <a:latin typeface="TT Firs Neue"/>
                <a:ea typeface="TT Firs Neue"/>
                <a:cs typeface="TT Firs Neue"/>
                <a:sym typeface="TT Firs Neue"/>
              </a:rPr>
              <a:t>AR</a:t>
            </a:r>
            <a:r>
              <a:rPr lang="en-US" sz="2968">
                <a:solidFill>
                  <a:srgbClr val="0B0A0A"/>
                </a:solidFill>
                <a:latin typeface="TT Firs Neue"/>
                <a:ea typeface="TT Firs Neue"/>
                <a:cs typeface="TT Firs Neue"/>
                <a:sym typeface="TT Firs Neue"/>
              </a:rPr>
              <a:t> exposure.</a:t>
            </a:r>
          </a:p>
          <a:p>
            <a:pPr algn="l" marL="640912" indent="-320456" lvl="1">
              <a:lnSpc>
                <a:spcPts val="4155"/>
              </a:lnSpc>
              <a:buFont typeface="Arial"/>
              <a:buChar char="•"/>
            </a:pPr>
            <a:r>
              <a:rPr lang="en-US" sz="2968">
                <a:solidFill>
                  <a:srgbClr val="0B0A0A"/>
                </a:solidFill>
                <a:latin typeface="TT Firs Neue"/>
                <a:ea typeface="TT Firs Neue"/>
                <a:cs typeface="TT Firs Neue"/>
                <a:sym typeface="TT Firs Neue"/>
              </a:rPr>
              <a:t>Sample was concentrated among younger online shoppers.</a:t>
            </a:r>
          </a:p>
          <a:p>
            <a:pPr algn="l" marL="640912" indent="-320456" lvl="1">
              <a:lnSpc>
                <a:spcPts val="4155"/>
              </a:lnSpc>
              <a:buFont typeface="Arial"/>
              <a:buChar char="•"/>
            </a:pPr>
            <a:r>
              <a:rPr lang="en-US" sz="2968">
                <a:solidFill>
                  <a:srgbClr val="0B0A0A"/>
                </a:solidFill>
                <a:latin typeface="TT Firs Neue"/>
                <a:ea typeface="TT Firs Neue"/>
                <a:cs typeface="TT Firs Neue"/>
                <a:sym typeface="TT Firs Neue"/>
              </a:rPr>
              <a:t>Responses were perception-based and may include subjective bias.</a:t>
            </a:r>
          </a:p>
          <a:p>
            <a:pPr algn="l" marL="640912" indent="-320456" lvl="1">
              <a:lnSpc>
                <a:spcPts val="4155"/>
              </a:lnSpc>
              <a:buFont typeface="Arial"/>
              <a:buChar char="•"/>
            </a:pPr>
            <a:r>
              <a:rPr lang="en-US" sz="2968">
                <a:solidFill>
                  <a:srgbClr val="0B0A0A"/>
                </a:solidFill>
                <a:latin typeface="TT Firs Neue"/>
                <a:ea typeface="TT Firs Neue"/>
                <a:cs typeface="TT Firs Neue"/>
                <a:sym typeface="TT Firs Neue"/>
              </a:rPr>
              <a:t>Research focused primarily on online fashion retail.</a:t>
            </a:r>
          </a:p>
          <a:p>
            <a:pPr algn="l">
              <a:lnSpc>
                <a:spcPts val="4478"/>
              </a:lnSpc>
            </a:pPr>
          </a:p>
        </p:txBody>
      </p:sp>
      <p:sp>
        <p:nvSpPr>
          <p:cNvPr name="TextBox 16" id="16"/>
          <p:cNvSpPr txBox="true"/>
          <p:nvPr/>
        </p:nvSpPr>
        <p:spPr>
          <a:xfrm rot="0">
            <a:off x="1648265" y="7016752"/>
            <a:ext cx="14752882" cy="3150644"/>
          </a:xfrm>
          <a:prstGeom prst="rect">
            <a:avLst/>
          </a:prstGeom>
        </p:spPr>
        <p:txBody>
          <a:bodyPr anchor="t" rtlCol="false" tIns="0" lIns="0" bIns="0" rIns="0">
            <a:spAutoFit/>
          </a:bodyPr>
          <a:lstStyle/>
          <a:p>
            <a:pPr algn="l" marL="640912" indent="-320456" lvl="1">
              <a:lnSpc>
                <a:spcPts val="4155"/>
              </a:lnSpc>
              <a:buFont typeface="Arial"/>
              <a:buChar char="•"/>
            </a:pPr>
            <a:r>
              <a:rPr lang="en-US" sz="2968">
                <a:solidFill>
                  <a:srgbClr val="0B0A0A"/>
                </a:solidFill>
                <a:latin typeface="TT Firs Neue"/>
                <a:ea typeface="TT Firs Neue"/>
                <a:cs typeface="TT Firs Neue"/>
                <a:sym typeface="TT Firs Neue"/>
              </a:rPr>
              <a:t>Explor</a:t>
            </a:r>
            <a:r>
              <a:rPr lang="en-US" sz="2968">
                <a:solidFill>
                  <a:srgbClr val="0B0A0A"/>
                </a:solidFill>
                <a:latin typeface="TT Firs Neue"/>
                <a:ea typeface="TT Firs Neue"/>
                <a:cs typeface="TT Firs Neue"/>
                <a:sym typeface="TT Firs Neue"/>
              </a:rPr>
              <a:t>e AR adoption in beauty, furniture, and luxury retail.</a:t>
            </a:r>
          </a:p>
          <a:p>
            <a:pPr algn="l" marL="640912" indent="-320456" lvl="1">
              <a:lnSpc>
                <a:spcPts val="4155"/>
              </a:lnSpc>
              <a:buFont typeface="Arial"/>
              <a:buChar char="•"/>
            </a:pPr>
            <a:r>
              <a:rPr lang="en-US" sz="2968">
                <a:solidFill>
                  <a:srgbClr val="0B0A0A"/>
                </a:solidFill>
                <a:latin typeface="TT Firs Neue"/>
                <a:ea typeface="TT Firs Neue"/>
                <a:cs typeface="TT Firs Neue"/>
                <a:sym typeface="TT Firs Neue"/>
              </a:rPr>
              <a:t>Conduct</a:t>
            </a:r>
            <a:r>
              <a:rPr lang="en-US" sz="2968">
                <a:solidFill>
                  <a:srgbClr val="0B0A0A"/>
                </a:solidFill>
                <a:latin typeface="TT Firs Neue"/>
                <a:ea typeface="TT Firs Neue"/>
                <a:cs typeface="TT Firs Neue"/>
                <a:sym typeface="TT Firs Neue"/>
              </a:rPr>
              <a:t> cross-cultural or international comparative studies.</a:t>
            </a:r>
          </a:p>
          <a:p>
            <a:pPr algn="l" marL="640912" indent="-320456" lvl="1">
              <a:lnSpc>
                <a:spcPts val="4155"/>
              </a:lnSpc>
              <a:buFont typeface="Arial"/>
              <a:buChar char="•"/>
            </a:pPr>
            <a:r>
              <a:rPr lang="en-US" sz="2968">
                <a:solidFill>
                  <a:srgbClr val="0B0A0A"/>
                </a:solidFill>
                <a:latin typeface="TT Firs Neue"/>
                <a:ea typeface="TT Firs Neue"/>
                <a:cs typeface="TT Firs Neue"/>
                <a:sym typeface="TT Firs Neue"/>
              </a:rPr>
              <a:t>Study</a:t>
            </a:r>
            <a:r>
              <a:rPr lang="en-US" sz="2968">
                <a:solidFill>
                  <a:srgbClr val="0B0A0A"/>
                </a:solidFill>
                <a:latin typeface="TT Firs Neue"/>
                <a:ea typeface="TT Firs Neue"/>
                <a:cs typeface="TT Firs Neue"/>
                <a:sym typeface="TT Firs Neue"/>
              </a:rPr>
              <a:t> AI personalization and metaverse-based shopping experiences.</a:t>
            </a:r>
          </a:p>
          <a:p>
            <a:pPr algn="l" marL="640912" indent="-320456" lvl="1">
              <a:lnSpc>
                <a:spcPts val="4155"/>
              </a:lnSpc>
              <a:buFont typeface="Arial"/>
              <a:buChar char="•"/>
            </a:pPr>
            <a:r>
              <a:rPr lang="en-US" sz="2968">
                <a:solidFill>
                  <a:srgbClr val="0B0A0A"/>
                </a:solidFill>
                <a:latin typeface="TT Firs Neue"/>
                <a:ea typeface="TT Firs Neue"/>
                <a:cs typeface="TT Firs Neue"/>
                <a:sym typeface="TT Firs Neue"/>
              </a:rPr>
              <a:t>Include additional variables such as perceived enjoyment and satisfaction.</a:t>
            </a:r>
          </a:p>
          <a:p>
            <a:pPr algn="l">
              <a:lnSpc>
                <a:spcPts val="4155"/>
              </a:lnSpc>
            </a:pPr>
          </a:p>
          <a:p>
            <a:pPr algn="l">
              <a:lnSpc>
                <a:spcPts val="4478"/>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03103" y="799184"/>
            <a:ext cx="2296135" cy="2686966"/>
          </a:xfrm>
          <a:custGeom>
            <a:avLst/>
            <a:gdLst/>
            <a:ahLst/>
            <a:cxnLst/>
            <a:rect r="r" b="b" t="t" l="l"/>
            <a:pathLst>
              <a:path h="2686966" w="2296135">
                <a:moveTo>
                  <a:pt x="0" y="0"/>
                </a:moveTo>
                <a:lnTo>
                  <a:pt x="2296135" y="0"/>
                </a:lnTo>
                <a:lnTo>
                  <a:pt x="2296135" y="2686966"/>
                </a:lnTo>
                <a:lnTo>
                  <a:pt x="0" y="26869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413905" y="3070563"/>
            <a:ext cx="12143681" cy="2695575"/>
          </a:xfrm>
          <a:prstGeom prst="rect">
            <a:avLst/>
          </a:prstGeom>
        </p:spPr>
        <p:txBody>
          <a:bodyPr anchor="t" rtlCol="false" tIns="0" lIns="0" bIns="0" rIns="0">
            <a:spAutoFit/>
          </a:bodyPr>
          <a:lstStyle/>
          <a:p>
            <a:pPr algn="ctr">
              <a:lnSpc>
                <a:spcPts val="10679"/>
              </a:lnSpc>
            </a:pPr>
            <a:r>
              <a:rPr lang="en-US" sz="8899">
                <a:solidFill>
                  <a:srgbClr val="8BB4D9"/>
                </a:solidFill>
                <a:latin typeface="Fredoka"/>
                <a:ea typeface="Fredoka"/>
                <a:cs typeface="Fredoka"/>
                <a:sym typeface="Fredoka"/>
              </a:rPr>
              <a:t>THANK YOU</a:t>
            </a:r>
          </a:p>
          <a:p>
            <a:pPr algn="ctr">
              <a:lnSpc>
                <a:spcPts val="10679"/>
              </a:lnSpc>
            </a:pPr>
            <a:r>
              <a:rPr lang="en-US" sz="8899">
                <a:solidFill>
                  <a:srgbClr val="8BB4D9"/>
                </a:solidFill>
                <a:latin typeface="Fredoka"/>
                <a:ea typeface="Fredoka"/>
                <a:cs typeface="Fredoka"/>
                <a:sym typeface="Fredoka"/>
              </a:rPr>
              <a:t>VERY MUCH !</a:t>
            </a:r>
          </a:p>
        </p:txBody>
      </p:sp>
      <p:grpSp>
        <p:nvGrpSpPr>
          <p:cNvPr name="Group 5" id="5"/>
          <p:cNvGrpSpPr/>
          <p:nvPr/>
        </p:nvGrpSpPr>
        <p:grpSpPr>
          <a:xfrm rot="0">
            <a:off x="17773060" y="-657107"/>
            <a:ext cx="3086100" cy="11601215"/>
            <a:chOff x="0" y="0"/>
            <a:chExt cx="812800" cy="3055464"/>
          </a:xfrm>
        </p:grpSpPr>
        <p:sp>
          <p:nvSpPr>
            <p:cNvPr name="Freeform 6" id="6"/>
            <p:cNvSpPr/>
            <p:nvPr/>
          </p:nvSpPr>
          <p:spPr>
            <a:xfrm flipH="false" flipV="false" rot="0">
              <a:off x="0" y="0"/>
              <a:ext cx="812800" cy="3055464"/>
            </a:xfrm>
            <a:custGeom>
              <a:avLst/>
              <a:gdLst/>
              <a:ahLst/>
              <a:cxnLst/>
              <a:rect r="r" b="b" t="t" l="l"/>
              <a:pathLst>
                <a:path h="3055464" w="812800">
                  <a:moveTo>
                    <a:pt x="127941" y="0"/>
                  </a:moveTo>
                  <a:lnTo>
                    <a:pt x="684859" y="0"/>
                  </a:lnTo>
                  <a:cubicBezTo>
                    <a:pt x="718791" y="0"/>
                    <a:pt x="751333" y="13479"/>
                    <a:pt x="775327" y="37473"/>
                  </a:cubicBezTo>
                  <a:cubicBezTo>
                    <a:pt x="799321" y="61467"/>
                    <a:pt x="812800" y="94009"/>
                    <a:pt x="812800" y="127941"/>
                  </a:cubicBezTo>
                  <a:lnTo>
                    <a:pt x="812800" y="2927523"/>
                  </a:lnTo>
                  <a:cubicBezTo>
                    <a:pt x="812800" y="2961455"/>
                    <a:pt x="799321" y="2993997"/>
                    <a:pt x="775327" y="3017991"/>
                  </a:cubicBezTo>
                  <a:cubicBezTo>
                    <a:pt x="751333" y="3041984"/>
                    <a:pt x="718791" y="3055464"/>
                    <a:pt x="684859" y="3055464"/>
                  </a:cubicBezTo>
                  <a:lnTo>
                    <a:pt x="127941" y="3055464"/>
                  </a:lnTo>
                  <a:cubicBezTo>
                    <a:pt x="94009" y="3055464"/>
                    <a:pt x="61467" y="3041984"/>
                    <a:pt x="37473" y="3017991"/>
                  </a:cubicBezTo>
                  <a:cubicBezTo>
                    <a:pt x="13479" y="2993997"/>
                    <a:pt x="0" y="2961455"/>
                    <a:pt x="0" y="2927523"/>
                  </a:cubicBezTo>
                  <a:lnTo>
                    <a:pt x="0" y="127941"/>
                  </a:lnTo>
                  <a:cubicBezTo>
                    <a:pt x="0" y="94009"/>
                    <a:pt x="13479" y="61467"/>
                    <a:pt x="37473" y="37473"/>
                  </a:cubicBezTo>
                  <a:cubicBezTo>
                    <a:pt x="61467" y="13479"/>
                    <a:pt x="94009" y="0"/>
                    <a:pt x="127941" y="0"/>
                  </a:cubicBezTo>
                  <a:close/>
                </a:path>
              </a:pathLst>
            </a:custGeom>
            <a:solidFill>
              <a:srgbClr val="8BB4D9"/>
            </a:solidFill>
          </p:spPr>
        </p:sp>
        <p:sp>
          <p:nvSpPr>
            <p:cNvPr name="TextBox 7" id="7"/>
            <p:cNvSpPr txBox="true"/>
            <p:nvPr/>
          </p:nvSpPr>
          <p:spPr>
            <a:xfrm>
              <a:off x="0" y="-47625"/>
              <a:ext cx="812800" cy="3103089"/>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0">
            <a:off x="15805164" y="1028700"/>
            <a:ext cx="1021139" cy="997168"/>
          </a:xfrm>
          <a:custGeom>
            <a:avLst/>
            <a:gdLst/>
            <a:ahLst/>
            <a:cxnLst/>
            <a:rect r="r" b="b" t="t" l="l"/>
            <a:pathLst>
              <a:path h="997168" w="1021139">
                <a:moveTo>
                  <a:pt x="0" y="0"/>
                </a:moveTo>
                <a:lnTo>
                  <a:pt x="1021139" y="0"/>
                </a:lnTo>
                <a:lnTo>
                  <a:pt x="1021139" y="997168"/>
                </a:lnTo>
                <a:lnTo>
                  <a:pt x="0" y="9971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0187078" y="9437279"/>
            <a:ext cx="1543050" cy="1506828"/>
          </a:xfrm>
          <a:custGeom>
            <a:avLst/>
            <a:gdLst/>
            <a:ahLst/>
            <a:cxnLst/>
            <a:rect r="r" b="b" t="t" l="l"/>
            <a:pathLst>
              <a:path h="1506828" w="1543050">
                <a:moveTo>
                  <a:pt x="0" y="0"/>
                </a:moveTo>
                <a:lnTo>
                  <a:pt x="1543050" y="0"/>
                </a:lnTo>
                <a:lnTo>
                  <a:pt x="1543050" y="1506828"/>
                </a:lnTo>
                <a:lnTo>
                  <a:pt x="0" y="15068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3219399">
            <a:off x="-108547" y="7837136"/>
            <a:ext cx="2247845" cy="1818711"/>
          </a:xfrm>
          <a:custGeom>
            <a:avLst/>
            <a:gdLst/>
            <a:ahLst/>
            <a:cxnLst/>
            <a:rect r="r" b="b" t="t" l="l"/>
            <a:pathLst>
              <a:path h="1818711" w="2247845">
                <a:moveTo>
                  <a:pt x="0" y="0"/>
                </a:moveTo>
                <a:lnTo>
                  <a:pt x="2247845" y="0"/>
                </a:lnTo>
                <a:lnTo>
                  <a:pt x="2247845" y="1818711"/>
                </a:lnTo>
                <a:lnTo>
                  <a:pt x="0" y="1818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DAHKa8NpAzY</dc:identifier>
  <dcterms:modified xsi:type="dcterms:W3CDTF">2011-08-01T06:04:30Z</dcterms:modified>
  <cp:revision>1</cp:revision>
  <dc:title>Research Project</dc:title>
</cp:coreProperties>
</file>